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ab51a29b564494" /><Relationship Type="http://schemas.openxmlformats.org/officeDocument/2006/relationships/extended-properties" Target="/docProps/app.xml" Id="R4119ff7a65014ca9" /><Relationship Type="http://schemas.openxmlformats.org/officeDocument/2006/relationships/officeDocument" Target="/ppt/presentation.xml" Id="R0bceecbaa9fb48de" /></Relationships>
</file>

<file path=ppt/presentation.xml><?xml version="1.0" encoding="utf-8"?>
<p:presentation xmlns:p="http://schemas.openxmlformats.org/presentationml/2006/main">
  <p:sldMasterIdLst>
    <p:sldMasterId xmlns:r="http://schemas.openxmlformats.org/officeDocument/2006/relationships" id="2147483648" r:id="R2fb406c3dd774dad"/>
  </p:sldMasterIdLst>
  <p:notesMasterIdLst>
    <p:notesMasterId xmlns:r="http://schemas.openxmlformats.org/officeDocument/2006/relationships" r:id="Rb2139143f0194a21"/>
  </p:notesMasterIdLst>
  <p:sldIdLst>
    <p:sldId xmlns:r="http://schemas.openxmlformats.org/officeDocument/2006/relationships" id="256" r:id="Ra2596fd80e044b72"/>
    <p:sldId xmlns:r="http://schemas.openxmlformats.org/officeDocument/2006/relationships" id="257" r:id="R7b850924869042f2"/>
    <p:sldId xmlns:r="http://schemas.openxmlformats.org/officeDocument/2006/relationships" id="258" r:id="R3ee006d2241948a6"/>
    <p:sldId xmlns:r="http://schemas.openxmlformats.org/officeDocument/2006/relationships" id="259" r:id="R3e41e04876124ebe"/>
    <p:sldId xmlns:r="http://schemas.openxmlformats.org/officeDocument/2006/relationships" id="260" r:id="R871e5b22132f4cd4"/>
    <p:sldId xmlns:r="http://schemas.openxmlformats.org/officeDocument/2006/relationships" id="261" r:id="R88949257ebd24e6f"/>
    <p:sldId xmlns:r="http://schemas.openxmlformats.org/officeDocument/2006/relationships" id="262" r:id="R3d990072b9f940b7"/>
    <p:sldId xmlns:r="http://schemas.openxmlformats.org/officeDocument/2006/relationships" id="263" r:id="Rc27bd35129d1406f"/>
    <p:sldId xmlns:r="http://schemas.openxmlformats.org/officeDocument/2006/relationships" id="264" r:id="R99b8bc0a76024100"/>
    <p:sldId xmlns:r="http://schemas.openxmlformats.org/officeDocument/2006/relationships" id="265" r:id="Rbe6064e0a6cf47ef"/>
    <p:sldId xmlns:r="http://schemas.openxmlformats.org/officeDocument/2006/relationships" id="266" r:id="R64f0a8d80ed04a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9dfbed9f14aba" /><Relationship Type="http://schemas.openxmlformats.org/officeDocument/2006/relationships/slideMaster" Target="/ppt/slideMasters/slideMaster1.xml" Id="R2fb406c3dd774dad" /><Relationship Type="http://schemas.openxmlformats.org/officeDocument/2006/relationships/notesMaster" Target="/ppt/notesMasters/notesMaster1.xml" Id="Rb2139143f0194a21" /><Relationship Type="http://schemas.openxmlformats.org/officeDocument/2006/relationships/presProps" Target="/ppt/presProps.xml" Id="Rd802887b0635494a" /><Relationship Type="http://schemas.openxmlformats.org/officeDocument/2006/relationships/tableStyles" Target="/ppt/tableStyles.xml" Id="Raacb1e62f5034710" /><Relationship Type="http://schemas.openxmlformats.org/officeDocument/2006/relationships/slide" Target="/ppt/slides/slide1.xml" Id="Ra2596fd80e044b72" /><Relationship Type="http://schemas.openxmlformats.org/officeDocument/2006/relationships/slide" Target="/ppt/slides/slide2.xml" Id="R7b850924869042f2" /><Relationship Type="http://schemas.openxmlformats.org/officeDocument/2006/relationships/slide" Target="/ppt/slides/slide3.xml" Id="R3ee006d2241948a6" /><Relationship Type="http://schemas.openxmlformats.org/officeDocument/2006/relationships/slide" Target="/ppt/slides/slide4.xml" Id="R3e41e04876124ebe" /><Relationship Type="http://schemas.openxmlformats.org/officeDocument/2006/relationships/slide" Target="/ppt/slides/slide5.xml" Id="R871e5b22132f4cd4" /><Relationship Type="http://schemas.openxmlformats.org/officeDocument/2006/relationships/slide" Target="/ppt/slides/slide6.xml" Id="R88949257ebd24e6f" /><Relationship Type="http://schemas.openxmlformats.org/officeDocument/2006/relationships/slide" Target="/ppt/slides/slide7.xml" Id="R3d990072b9f940b7" /><Relationship Type="http://schemas.openxmlformats.org/officeDocument/2006/relationships/slide" Target="/ppt/slides/slide8.xml" Id="Rc27bd35129d1406f" /><Relationship Type="http://schemas.openxmlformats.org/officeDocument/2006/relationships/slide" Target="/ppt/slides/slide9.xml" Id="R99b8bc0a76024100" /><Relationship Type="http://schemas.openxmlformats.org/officeDocument/2006/relationships/slide" Target="/ppt/slides/slide10.xml" Id="Rbe6064e0a6cf47ef" /><Relationship Type="http://schemas.openxmlformats.org/officeDocument/2006/relationships/slide" Target="/ppt/slides/slide11.xml" Id="R64f0a8d80ed04a4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e8c1a9216449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b2467a2c284717" /><Relationship Type="http://schemas.openxmlformats.org/officeDocument/2006/relationships/notesMaster" Target="/ppt/notesMasters/notesMaster1.xml" Id="R8fb46298fc3a4fb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3712eb933c4722" /><Relationship Type="http://schemas.openxmlformats.org/officeDocument/2006/relationships/notesMaster" Target="/ppt/notesMasters/notesMaster1.xml" Id="R6834a27dcc9d49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bbc53ba52248fa" /><Relationship Type="http://schemas.openxmlformats.org/officeDocument/2006/relationships/notesMaster" Target="/ppt/notesMasters/notesMaster1.xml" Id="R1be0b4a68db14467"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4028dc29754343" /><Relationship Type="http://schemas.openxmlformats.org/officeDocument/2006/relationships/notesMaster" Target="/ppt/notesMasters/notesMaster1.xml" Id="R06271ceb336a4a3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94b240771e4c6b" /><Relationship Type="http://schemas.openxmlformats.org/officeDocument/2006/relationships/notesMaster" Target="/ppt/notesMasters/notesMaster1.xml" Id="R8d725016ffed4bb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6aaea01e8c14365" /><Relationship Type="http://schemas.openxmlformats.org/officeDocument/2006/relationships/notesMaster" Target="/ppt/notesMasters/notesMaster1.xml" Id="R7ae0e2ec03e443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1667a070c84ca1" /><Relationship Type="http://schemas.openxmlformats.org/officeDocument/2006/relationships/notesMaster" Target="/ppt/notesMasters/notesMaster1.xml" Id="Rbc14b2ee53bb46a2" /></Relationships>
</file>

<file path=ppt/notesSlides/_rels/notesSlide8.xml.rels>&#65279;<?xml version="1.0" encoding="utf-8"?><Relationships xmlns="http://schemas.openxmlformats.org/package/2006/relationships"><Relationship Type="http://schemas.openxmlformats.org/officeDocument/2006/relationships/slide" Target="/ppt/slides/slide8.xml" Id="R85031c8fe32d4c36" /><Relationship Type="http://schemas.openxmlformats.org/officeDocument/2006/relationships/notesMaster" Target="/ppt/notesMasters/notesMaster1.xml" Id="Rbe3dfe35ccb4430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bb3987baacd4f44" /><Relationship Type="http://schemas.openxmlformats.org/officeDocument/2006/relationships/notesMaster" Target="/ppt/notesMasters/notesMaster1.xml" Id="R52dd8fe404124c6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3631660e39477a" /><Relationship Type="http://schemas.openxmlformats.org/officeDocument/2006/relationships/notesMaster" Target="/ppt/notesMasters/notesMaster1.xml" Id="Rd10194fc8b1e42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e20feef0bda4558" /><Relationship Type="http://schemas.openxmlformats.org/officeDocument/2006/relationships/notesMaster" Target="/ppt/notesMasters/notesMaster1.xml" Id="R181d6462a11b41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DG32-LITE as recorded in its tape-in block diagram: the die as built, block by block. It covers the clock and reset, the lockstep pair, memory and fetch, the bus and the eighteen blocks around it, the pad plan, production test, and the four sign-off gates the die must pass. It is a design record, not a measurement of silicon.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short version. One fifty megahertz clock domain, with the lockstep core measured at fifty-five to sixty-two megahertz after place-and-route. A checker that runs two cycles behind and sees the main core's bus responses. Forty-four wrapper pads, every one of them allocated. And four sign-off gates that must all pass on the final die.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clock and one reset drive the whole block. The clock arrives from a pad at fifty megahertz. Eight software clock gates switch off idle peripherals: both UARTs, SPI, I squared C, PWM, the timers, the DMA and the CORDIC. Test mode forces every gate open. Reset is asynchronous, the supervisor deglitches the supply-good inputs, and the checker leaves reset two cycles after the main core.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lockstep pair is built to survive real firmware. The main core runs the code and owns the bus. The checker replays the same work two cycles later, with its inputs and bus responses mirrored, and the comparator checks every committed store. So interrupts are safe, firmware may branch on a peripheral read, and the pair has been verified under interrupts in simulation. A mismatch drives the fault pad.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runs from SRAM through a dedicated fetch port. The fetch decoder sends boot fetches to the ROM and application fetches to the SRAM's second port. Anything else is a bus error and an instruction fault. The ROM is sixteen thousand words of mask-programmed logic that prints the banner, checks the flash header, copies the application and jumps. Blank flash opens a UART monitor.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 serves one requester at a time. The CPU has priority over the DMA, and each read or write target is latched at the request and held until the response. Every peripheral is a thirty-two-bit register slave. A clock-gated or undecoded slot answers with an error instead of hanging, and the QSPI window serves data, not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Eighteen blocks sit around that bus. Six handle connectivity: the UARTs, SPI, I squared C, the QSPI window, GPIO and the timers. Six serve the motor: PWM, DShot, encoder and Hall, CORDIC, the ADC and interrupts. And six handle system, safety and test: system control, the watchdog, the fault register, the error slave, scan, and the JTAG port.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one of the forty-four wrapper pads has a job. Seven carry the QSPI flash, seven the PWM outputs and trigger, and six the encoder and Hall inputs. Four each go to the UARTs, SPI and JTAG. Three are GPIO. Two each carry I squared C, supply-good and the analog ADC inputs, and one each carry the clock, the reset and the fault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test reaches the logic through JTAG. A tester drives the four JTAG pins into a test access port in the wrapper, which selects scan enable, scan mode, a chain, or bypass, and reaches thirteen scan chains inside the hardened block. Test mode forces every clock gate open, so scan reaches every block. Interactive CPU debug over JTAG is a roadmap item.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gates must all pass before tape-in. The layout must be design-rule clean. Layout versus schematic must match uniquely, pins included. A connectivity check on the final layout must show every pad reaching logic, with no floating net. And a gate-level simulation of the routed netlist must boot and print the banner. The connectivity gate exists because the first two can pass while a pad pin floats.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things to take away. One clock and one reset, with eight clock gates and a checker released two cycles late. Nothing hangs and nothing floats: bad accesses return errors, and all forty-four pads are allocated. And four gates stand between the design and tape-in. The next milestone is first silicon, on the September twenty twenty-six shuttle.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0ff1abec1e948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8aabcf0e3342c0" /><Relationship Type="http://schemas.openxmlformats.org/officeDocument/2006/relationships/slideLayout" Target="/ppt/slideLayouts/slideLayout1.xml" Id="R2c8ba604eaf440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8ba604eaf440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33269a788d544b6" /><Relationship Type="http://schemas.openxmlformats.org/officeDocument/2006/relationships/notesSlide" Target="/ppt/notesSlides/notesSlide1.xml" Id="R8af597a4ec794e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f885e56dba4217" /><Relationship Type="http://schemas.openxmlformats.org/officeDocument/2006/relationships/notesSlide" Target="/ppt/notesSlides/notesSlide2.xml" Id="R8db3537314224a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18ff4ee4a0b49bc" /><Relationship Type="http://schemas.openxmlformats.org/officeDocument/2006/relationships/notesSlide" Target="/ppt/notesSlides/notesSlide3.xml" Id="R9c4617bc381d41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7b5fb141e3442c2" /><Relationship Type="http://schemas.openxmlformats.org/officeDocument/2006/relationships/notesSlide" Target="/ppt/notesSlides/notesSlide4.xml" Id="Rf8b4ec049c114c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5167a4c1edf49aa" /><Relationship Type="http://schemas.openxmlformats.org/officeDocument/2006/relationships/notesSlide" Target="/ppt/notesSlides/notesSlide5.xml" Id="Re0d1aa71fa424eb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13f911dc85a4e1d" /><Relationship Type="http://schemas.openxmlformats.org/officeDocument/2006/relationships/notesSlide" Target="/ppt/notesSlides/notesSlide6.xml" Id="R227c9c393bda490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41652dc3e804e38" /><Relationship Type="http://schemas.openxmlformats.org/officeDocument/2006/relationships/notesSlide" Target="/ppt/notesSlides/notesSlide7.xml" Id="R6f50fdab76b649b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585b9194bb4e19" /><Relationship Type="http://schemas.openxmlformats.org/officeDocument/2006/relationships/notesSlide" Target="/ppt/notesSlides/notesSlide8.xml" Id="R4bae829db9bf4f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ecaffce41541c8" /><Relationship Type="http://schemas.openxmlformats.org/officeDocument/2006/relationships/notesSlide" Target="/ppt/notesSlides/notesSlide9.xml" Id="R6b82c5b9f31c471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0e7223326fb4ec9" /><Relationship Type="http://schemas.openxmlformats.org/officeDocument/2006/relationships/notesSlide" Target="/ppt/notesSlides/notesSlide10.xml" Id="R42dfabcb0a02496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8818e2ac0c44597" /><Relationship Type="http://schemas.openxmlformats.org/officeDocument/2006/relationships/notesSlide" Target="/ppt/notesSlides/notesSlide11.xml" Id="R65740626a3ed4545"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07" name="">
            <a:extLst xmlns:a="http://schemas.openxmlformats.org/drawingml/2006/main">
              <a:ext uri="{FF2B5EF4-FFF2-40B4-BE49-F238E27FC236}">
                <a16:creationId xmlns:a16="http://schemas.microsoft.com/office/drawing/2014/main" id="{101141DE-FBC0-41EF-8062-2761206A021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B1601A0-B2FA-4A7F-8C2E-C96B316110EF}"/>
              </a:ext>
            </a:extLst>
          </p:cNvPr>
          <p:cNvSpPr>
            <a:spLocks xmlns:a="http://schemas.openxmlformats.org/drawingml/2006/main" noGrp="1"/>
          </p:cNvSpPr>
          <p:nvPr/>
        </p:nvSpPr>
        <p:spPr>
          <a:xfrm xmlns:a="http://schemas.openxmlformats.org/drawingml/2006/main">
            <a:off x="457200" y="666750"/>
            <a:ext cx="7239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DEEPGRID SEMI  ·  DG32-LITE  ·  TAPE-IN BLOCK DIAGRAM</a:t>
            </a:r>
          </a:p>
        </p:txBody>
      </p:sp>
      <p:sp>
        <p:nvSpPr>
          <p:cNvPr id="3" name="">
            <a:extLst xmlns:a="http://schemas.openxmlformats.org/drawingml/2006/main">
              <a:ext uri="{FF2B5EF4-FFF2-40B4-BE49-F238E27FC236}">
                <a16:creationId xmlns:a16="http://schemas.microsoft.com/office/drawing/2014/main" id="{F342E3B4-723B-4CA3-B862-5B1D7BE9DA6C}"/>
              </a:ext>
            </a:extLst>
          </p:cNvPr>
          <p:cNvSpPr>
            <a:spLocks xmlns:a="http://schemas.openxmlformats.org/drawingml/2006/main" noGrp="1"/>
          </p:cNvSpPr>
          <p:nvPr/>
        </p:nvSpPr>
        <p:spPr>
          <a:xfrm xmlns:a="http://schemas.openxmlformats.org/drawingml/2006/main">
            <a:off x="457200" y="1066800"/>
            <a:ext cx="7239000" cy="16192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975" b="1">
                <a:solidFill>
                  <a:srgbClr val="FFFFFF"/>
                </a:solidFill>
                <a:latin typeface="Georgia"/>
                <a:ea typeface="Georgia"/>
                <a:cs typeface="Georgia"/>
              </a:defRPr>
            </a:pPr>
            <a:r>
              <a:t>DG32-LITE as built for tape-in</a:t>
            </a:r>
          </a:p>
        </p:txBody>
      </p:sp>
      <p:sp>
        <p:nvSpPr>
          <p:cNvPr id="4" name="">
            <a:extLst xmlns:a="http://schemas.openxmlformats.org/drawingml/2006/main">
              <a:ext uri="{FF2B5EF4-FFF2-40B4-BE49-F238E27FC236}">
                <a16:creationId xmlns:a16="http://schemas.microsoft.com/office/drawing/2014/main" id="{7BB61671-F75C-4880-9384-71970836B1EE}"/>
              </a:ext>
            </a:extLst>
          </p:cNvPr>
          <p:cNvSpPr>
            <a:spLocks xmlns:a="http://schemas.openxmlformats.org/drawingml/2006/main" noGrp="1"/>
          </p:cNvSpPr>
          <p:nvPr/>
        </p:nvSpPr>
        <p:spPr>
          <a:xfrm xmlns:a="http://schemas.openxmlformats.org/drawingml/2006/main">
            <a:off x="457200" y="278130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96D3B15-F4E5-4BF3-9471-8789436991A7}"/>
              </a:ext>
            </a:extLst>
          </p:cNvPr>
          <p:cNvSpPr>
            <a:spLocks xmlns:a="http://schemas.openxmlformats.org/drawingml/2006/main" noGrp="1"/>
          </p:cNvSpPr>
          <p:nvPr/>
        </p:nvSpPr>
        <p:spPr>
          <a:xfrm xmlns:a="http://schemas.openxmlformats.org/drawingml/2006/main">
            <a:off x="457200" y="2990850"/>
            <a:ext cx="6667500" cy="609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The die as recorded in its tape-in block diagram · one clock domain, 130 nm CMOS · a design record, not a measurement of silicon</a:t>
            </a:r>
          </a:p>
        </p:txBody>
      </p:sp>
      <p:sp>
        <p:nvSpPr>
          <p:cNvPr id="6" name="">
            <a:extLst xmlns:a="http://schemas.openxmlformats.org/drawingml/2006/main">
              <a:ext uri="{FF2B5EF4-FFF2-40B4-BE49-F238E27FC236}">
                <a16:creationId xmlns:a16="http://schemas.microsoft.com/office/drawing/2014/main" id="{750AA672-0D5E-4A47-8121-8B33AFFDCADE}"/>
              </a:ext>
            </a:extLst>
          </p:cNvPr>
          <p:cNvSpPr>
            <a:spLocks xmlns:a="http://schemas.openxmlformats.org/drawingml/2006/main" noGrp="1"/>
          </p:cNvSpPr>
          <p:nvPr/>
        </p:nvSpPr>
        <p:spPr>
          <a:xfrm xmlns:a="http://schemas.openxmlformats.org/drawingml/2006/main">
            <a:off x="8096250" y="1123950"/>
            <a:ext cx="3048000" cy="3048000"/>
          </a:xfrm>
          <a:prstGeom xmlns:a="http://schemas.openxmlformats.org/drawingml/2006/main" prst="rect">
            <a:avLst/>
          </a:prstGeom>
          <a:solidFill xmlns:a="http://schemas.openxmlformats.org/drawingml/2006/main">
            <a:srgbClr val="12243A"/>
          </a:solidFill>
          <a:ln xmlns:a="http://schemas.openxmlformats.org/drawingml/2006/main" w="19050">
            <a:solidFill>
              <a:srgbClr val="00B4D8"/>
            </a:solidFill>
            <a:prstDash val="solid"/>
          </a:ln>
        </p:spPr>
      </p:sp>
      <p:sp>
        <p:nvSpPr>
          <p:cNvPr id="7" name="">
            <a:extLst xmlns:a="http://schemas.openxmlformats.org/drawingml/2006/main">
              <a:ext uri="{FF2B5EF4-FFF2-40B4-BE49-F238E27FC236}">
                <a16:creationId xmlns:a16="http://schemas.microsoft.com/office/drawing/2014/main" id="{47A8104A-65F0-4720-BD9D-1722D5BE661A}"/>
              </a:ext>
            </a:extLst>
          </p:cNvPr>
          <p:cNvSpPr>
            <a:spLocks xmlns:a="http://schemas.openxmlformats.org/drawingml/2006/main" noGrp="1"/>
          </p:cNvSpPr>
          <p:nvPr/>
        </p:nvSpPr>
        <p:spPr>
          <a:xfrm xmlns:a="http://schemas.openxmlformats.org/drawingml/2006/main">
            <a:off x="794385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ADC6890-2319-48D2-AAFB-33A75B3F8EFE}"/>
              </a:ext>
            </a:extLst>
          </p:cNvPr>
          <p:cNvSpPr>
            <a:spLocks xmlns:a="http://schemas.openxmlformats.org/drawingml/2006/main" noGrp="1"/>
          </p:cNvSpPr>
          <p:nvPr/>
        </p:nvSpPr>
        <p:spPr>
          <a:xfrm xmlns:a="http://schemas.openxmlformats.org/drawingml/2006/main">
            <a:off x="11163300" y="13049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BEBFB2-1981-4D91-8D4A-D46C085A9C67}"/>
              </a:ext>
            </a:extLst>
          </p:cNvPr>
          <p:cNvSpPr>
            <a:spLocks xmlns:a="http://schemas.openxmlformats.org/drawingml/2006/main" noGrp="1"/>
          </p:cNvSpPr>
          <p:nvPr/>
        </p:nvSpPr>
        <p:spPr>
          <a:xfrm xmlns:a="http://schemas.openxmlformats.org/drawingml/2006/main">
            <a:off x="82772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D887AF8-95CB-4614-94C1-5D54DD6B3E26}"/>
              </a:ext>
            </a:extLst>
          </p:cNvPr>
          <p:cNvSpPr>
            <a:spLocks xmlns:a="http://schemas.openxmlformats.org/drawingml/2006/main" noGrp="1"/>
          </p:cNvSpPr>
          <p:nvPr/>
        </p:nvSpPr>
        <p:spPr>
          <a:xfrm xmlns:a="http://schemas.openxmlformats.org/drawingml/2006/main">
            <a:off x="82772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6840BAC-02E5-4DDA-BC07-FF72C9948F00}"/>
              </a:ext>
            </a:extLst>
          </p:cNvPr>
          <p:cNvSpPr>
            <a:spLocks xmlns:a="http://schemas.openxmlformats.org/drawingml/2006/main" noGrp="1"/>
          </p:cNvSpPr>
          <p:nvPr/>
        </p:nvSpPr>
        <p:spPr>
          <a:xfrm xmlns:a="http://schemas.openxmlformats.org/drawingml/2006/main">
            <a:off x="794385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0B1F0E5-887A-4FB8-A536-4BEB9CA72DAF}"/>
              </a:ext>
            </a:extLst>
          </p:cNvPr>
          <p:cNvSpPr>
            <a:spLocks xmlns:a="http://schemas.openxmlformats.org/drawingml/2006/main" noGrp="1"/>
          </p:cNvSpPr>
          <p:nvPr/>
        </p:nvSpPr>
        <p:spPr>
          <a:xfrm xmlns:a="http://schemas.openxmlformats.org/drawingml/2006/main">
            <a:off x="11163300" y="14776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140BF75-065B-473B-89BE-DEC641D625E2}"/>
              </a:ext>
            </a:extLst>
          </p:cNvPr>
          <p:cNvSpPr>
            <a:spLocks xmlns:a="http://schemas.openxmlformats.org/drawingml/2006/main" noGrp="1"/>
          </p:cNvSpPr>
          <p:nvPr/>
        </p:nvSpPr>
        <p:spPr>
          <a:xfrm xmlns:a="http://schemas.openxmlformats.org/drawingml/2006/main">
            <a:off x="84499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6E768E5-49E2-466F-B5AF-FC299242C61A}"/>
              </a:ext>
            </a:extLst>
          </p:cNvPr>
          <p:cNvSpPr>
            <a:spLocks xmlns:a="http://schemas.openxmlformats.org/drawingml/2006/main" noGrp="1"/>
          </p:cNvSpPr>
          <p:nvPr/>
        </p:nvSpPr>
        <p:spPr>
          <a:xfrm xmlns:a="http://schemas.openxmlformats.org/drawingml/2006/main">
            <a:off x="84499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827CBC-DB84-467A-8B7E-14008306977E}"/>
              </a:ext>
            </a:extLst>
          </p:cNvPr>
          <p:cNvSpPr>
            <a:spLocks xmlns:a="http://schemas.openxmlformats.org/drawingml/2006/main" noGrp="1"/>
          </p:cNvSpPr>
          <p:nvPr/>
        </p:nvSpPr>
        <p:spPr>
          <a:xfrm xmlns:a="http://schemas.openxmlformats.org/drawingml/2006/main">
            <a:off x="794385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33E9568-E884-4F67-86CA-2550C648771E}"/>
              </a:ext>
            </a:extLst>
          </p:cNvPr>
          <p:cNvSpPr>
            <a:spLocks xmlns:a="http://schemas.openxmlformats.org/drawingml/2006/main" noGrp="1"/>
          </p:cNvSpPr>
          <p:nvPr/>
        </p:nvSpPr>
        <p:spPr>
          <a:xfrm xmlns:a="http://schemas.openxmlformats.org/drawingml/2006/main">
            <a:off x="11163300" y="16503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FD0C94E-C3B2-452C-895A-DB7377A48C44}"/>
              </a:ext>
            </a:extLst>
          </p:cNvPr>
          <p:cNvSpPr>
            <a:spLocks xmlns:a="http://schemas.openxmlformats.org/drawingml/2006/main" noGrp="1"/>
          </p:cNvSpPr>
          <p:nvPr/>
        </p:nvSpPr>
        <p:spPr>
          <a:xfrm xmlns:a="http://schemas.openxmlformats.org/drawingml/2006/main">
            <a:off x="86226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F9EA539-8E77-42AE-AAD9-BA34E42070E3}"/>
              </a:ext>
            </a:extLst>
          </p:cNvPr>
          <p:cNvSpPr>
            <a:spLocks xmlns:a="http://schemas.openxmlformats.org/drawingml/2006/main" noGrp="1"/>
          </p:cNvSpPr>
          <p:nvPr/>
        </p:nvSpPr>
        <p:spPr>
          <a:xfrm xmlns:a="http://schemas.openxmlformats.org/drawingml/2006/main">
            <a:off x="86226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F2B5BE3-5F03-4A1B-B534-209D6C2715AC}"/>
              </a:ext>
            </a:extLst>
          </p:cNvPr>
          <p:cNvSpPr>
            <a:spLocks xmlns:a="http://schemas.openxmlformats.org/drawingml/2006/main" noGrp="1"/>
          </p:cNvSpPr>
          <p:nvPr/>
        </p:nvSpPr>
        <p:spPr>
          <a:xfrm xmlns:a="http://schemas.openxmlformats.org/drawingml/2006/main">
            <a:off x="794385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2975674-68DE-4319-96E2-B702D6587AD0}"/>
              </a:ext>
            </a:extLst>
          </p:cNvPr>
          <p:cNvSpPr>
            <a:spLocks xmlns:a="http://schemas.openxmlformats.org/drawingml/2006/main" noGrp="1"/>
          </p:cNvSpPr>
          <p:nvPr/>
        </p:nvSpPr>
        <p:spPr>
          <a:xfrm xmlns:a="http://schemas.openxmlformats.org/drawingml/2006/main">
            <a:off x="11163300" y="18230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ADE6C4A-B2AC-45B8-8A2C-869652B65F3F}"/>
              </a:ext>
            </a:extLst>
          </p:cNvPr>
          <p:cNvSpPr>
            <a:spLocks xmlns:a="http://schemas.openxmlformats.org/drawingml/2006/main" noGrp="1"/>
          </p:cNvSpPr>
          <p:nvPr/>
        </p:nvSpPr>
        <p:spPr>
          <a:xfrm xmlns:a="http://schemas.openxmlformats.org/drawingml/2006/main">
            <a:off x="87953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53CE243-95EE-4D30-A6A6-521D458579DC}"/>
              </a:ext>
            </a:extLst>
          </p:cNvPr>
          <p:cNvSpPr>
            <a:spLocks xmlns:a="http://schemas.openxmlformats.org/drawingml/2006/main" noGrp="1"/>
          </p:cNvSpPr>
          <p:nvPr/>
        </p:nvSpPr>
        <p:spPr>
          <a:xfrm xmlns:a="http://schemas.openxmlformats.org/drawingml/2006/main">
            <a:off x="87953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F59B13E-4077-4A85-8D4B-081A31422C75}"/>
              </a:ext>
            </a:extLst>
          </p:cNvPr>
          <p:cNvSpPr>
            <a:spLocks xmlns:a="http://schemas.openxmlformats.org/drawingml/2006/main" noGrp="1"/>
          </p:cNvSpPr>
          <p:nvPr/>
        </p:nvSpPr>
        <p:spPr>
          <a:xfrm xmlns:a="http://schemas.openxmlformats.org/drawingml/2006/main">
            <a:off x="794385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BD4FB50-29DE-462E-AF18-9887B189D769}"/>
              </a:ext>
            </a:extLst>
          </p:cNvPr>
          <p:cNvSpPr>
            <a:spLocks xmlns:a="http://schemas.openxmlformats.org/drawingml/2006/main" noGrp="1"/>
          </p:cNvSpPr>
          <p:nvPr/>
        </p:nvSpPr>
        <p:spPr>
          <a:xfrm xmlns:a="http://schemas.openxmlformats.org/drawingml/2006/main">
            <a:off x="11163300" y="19958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44D0EFB-B543-4ED7-AD6A-DDA3379D08CD}"/>
              </a:ext>
            </a:extLst>
          </p:cNvPr>
          <p:cNvSpPr>
            <a:spLocks xmlns:a="http://schemas.openxmlformats.org/drawingml/2006/main" noGrp="1"/>
          </p:cNvSpPr>
          <p:nvPr/>
        </p:nvSpPr>
        <p:spPr>
          <a:xfrm xmlns:a="http://schemas.openxmlformats.org/drawingml/2006/main">
            <a:off x="89681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6CA96D2-69A2-4142-B339-C2B6EDF7C6DB}"/>
              </a:ext>
            </a:extLst>
          </p:cNvPr>
          <p:cNvSpPr>
            <a:spLocks xmlns:a="http://schemas.openxmlformats.org/drawingml/2006/main" noGrp="1"/>
          </p:cNvSpPr>
          <p:nvPr/>
        </p:nvSpPr>
        <p:spPr>
          <a:xfrm xmlns:a="http://schemas.openxmlformats.org/drawingml/2006/main">
            <a:off x="89681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B9372E0-31BE-406F-A973-B5887402368E}"/>
              </a:ext>
            </a:extLst>
          </p:cNvPr>
          <p:cNvSpPr>
            <a:spLocks xmlns:a="http://schemas.openxmlformats.org/drawingml/2006/main" noGrp="1"/>
          </p:cNvSpPr>
          <p:nvPr/>
        </p:nvSpPr>
        <p:spPr>
          <a:xfrm xmlns:a="http://schemas.openxmlformats.org/drawingml/2006/main">
            <a:off x="794385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5407FCE-1212-486F-A8BB-6013E4C75A48}"/>
              </a:ext>
            </a:extLst>
          </p:cNvPr>
          <p:cNvSpPr>
            <a:spLocks xmlns:a="http://schemas.openxmlformats.org/drawingml/2006/main" noGrp="1"/>
          </p:cNvSpPr>
          <p:nvPr/>
        </p:nvSpPr>
        <p:spPr>
          <a:xfrm xmlns:a="http://schemas.openxmlformats.org/drawingml/2006/main">
            <a:off x="11163300" y="21685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67C9788-96C1-4260-93DF-40791E753201}"/>
              </a:ext>
            </a:extLst>
          </p:cNvPr>
          <p:cNvSpPr>
            <a:spLocks xmlns:a="http://schemas.openxmlformats.org/drawingml/2006/main" noGrp="1"/>
          </p:cNvSpPr>
          <p:nvPr/>
        </p:nvSpPr>
        <p:spPr>
          <a:xfrm xmlns:a="http://schemas.openxmlformats.org/drawingml/2006/main">
            <a:off x="91408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D7917802-06FC-440E-853D-399B68D8DFEB}"/>
              </a:ext>
            </a:extLst>
          </p:cNvPr>
          <p:cNvSpPr>
            <a:spLocks xmlns:a="http://schemas.openxmlformats.org/drawingml/2006/main" noGrp="1"/>
          </p:cNvSpPr>
          <p:nvPr/>
        </p:nvSpPr>
        <p:spPr>
          <a:xfrm xmlns:a="http://schemas.openxmlformats.org/drawingml/2006/main">
            <a:off x="91408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5BF69E0-551B-4C52-AC68-A7399AAF5BE3}"/>
              </a:ext>
            </a:extLst>
          </p:cNvPr>
          <p:cNvSpPr>
            <a:spLocks xmlns:a="http://schemas.openxmlformats.org/drawingml/2006/main" noGrp="1"/>
          </p:cNvSpPr>
          <p:nvPr/>
        </p:nvSpPr>
        <p:spPr>
          <a:xfrm xmlns:a="http://schemas.openxmlformats.org/drawingml/2006/main">
            <a:off x="794385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887DB1A-F777-4A20-8D67-90E7B7152E51}"/>
              </a:ext>
            </a:extLst>
          </p:cNvPr>
          <p:cNvSpPr>
            <a:spLocks xmlns:a="http://schemas.openxmlformats.org/drawingml/2006/main" noGrp="1"/>
          </p:cNvSpPr>
          <p:nvPr/>
        </p:nvSpPr>
        <p:spPr>
          <a:xfrm xmlns:a="http://schemas.openxmlformats.org/drawingml/2006/main">
            <a:off x="11163300" y="23412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EC058A81-863F-4646-9263-A41E06271281}"/>
              </a:ext>
            </a:extLst>
          </p:cNvPr>
          <p:cNvSpPr>
            <a:spLocks xmlns:a="http://schemas.openxmlformats.org/drawingml/2006/main" noGrp="1"/>
          </p:cNvSpPr>
          <p:nvPr/>
        </p:nvSpPr>
        <p:spPr>
          <a:xfrm xmlns:a="http://schemas.openxmlformats.org/drawingml/2006/main">
            <a:off x="93135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4962197-A33D-4E72-8576-3C0465BB9D43}"/>
              </a:ext>
            </a:extLst>
          </p:cNvPr>
          <p:cNvSpPr>
            <a:spLocks xmlns:a="http://schemas.openxmlformats.org/drawingml/2006/main" noGrp="1"/>
          </p:cNvSpPr>
          <p:nvPr/>
        </p:nvSpPr>
        <p:spPr>
          <a:xfrm xmlns:a="http://schemas.openxmlformats.org/drawingml/2006/main">
            <a:off x="93135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39C51E08-0C11-4726-A9B6-7AB954D67722}"/>
              </a:ext>
            </a:extLst>
          </p:cNvPr>
          <p:cNvSpPr>
            <a:spLocks xmlns:a="http://schemas.openxmlformats.org/drawingml/2006/main" noGrp="1"/>
          </p:cNvSpPr>
          <p:nvPr/>
        </p:nvSpPr>
        <p:spPr>
          <a:xfrm xmlns:a="http://schemas.openxmlformats.org/drawingml/2006/main">
            <a:off x="794385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5C7E4002-EDE3-4F29-B390-48F951943764}"/>
              </a:ext>
            </a:extLst>
          </p:cNvPr>
          <p:cNvSpPr>
            <a:spLocks xmlns:a="http://schemas.openxmlformats.org/drawingml/2006/main" noGrp="1"/>
          </p:cNvSpPr>
          <p:nvPr/>
        </p:nvSpPr>
        <p:spPr>
          <a:xfrm xmlns:a="http://schemas.openxmlformats.org/drawingml/2006/main">
            <a:off x="11163300" y="25139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0846A00D-2DE0-4E1E-ABB3-F40F92D3F76D}"/>
              </a:ext>
            </a:extLst>
          </p:cNvPr>
          <p:cNvSpPr>
            <a:spLocks xmlns:a="http://schemas.openxmlformats.org/drawingml/2006/main" noGrp="1"/>
          </p:cNvSpPr>
          <p:nvPr/>
        </p:nvSpPr>
        <p:spPr>
          <a:xfrm xmlns:a="http://schemas.openxmlformats.org/drawingml/2006/main">
            <a:off x="94862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E399F4C-914F-4A2D-A00A-4B8A54289DDD}"/>
              </a:ext>
            </a:extLst>
          </p:cNvPr>
          <p:cNvSpPr>
            <a:spLocks xmlns:a="http://schemas.openxmlformats.org/drawingml/2006/main" noGrp="1"/>
          </p:cNvSpPr>
          <p:nvPr/>
        </p:nvSpPr>
        <p:spPr>
          <a:xfrm xmlns:a="http://schemas.openxmlformats.org/drawingml/2006/main">
            <a:off x="94862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84FB020D-A21E-4387-9760-81CF7B451567}"/>
              </a:ext>
            </a:extLst>
          </p:cNvPr>
          <p:cNvSpPr>
            <a:spLocks xmlns:a="http://schemas.openxmlformats.org/drawingml/2006/main" noGrp="1"/>
          </p:cNvSpPr>
          <p:nvPr/>
        </p:nvSpPr>
        <p:spPr>
          <a:xfrm xmlns:a="http://schemas.openxmlformats.org/drawingml/2006/main">
            <a:off x="794385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191EF2DC-520B-424C-BB1A-73FF7C5F46E2}"/>
              </a:ext>
            </a:extLst>
          </p:cNvPr>
          <p:cNvSpPr>
            <a:spLocks xmlns:a="http://schemas.openxmlformats.org/drawingml/2006/main" noGrp="1"/>
          </p:cNvSpPr>
          <p:nvPr/>
        </p:nvSpPr>
        <p:spPr>
          <a:xfrm xmlns:a="http://schemas.openxmlformats.org/drawingml/2006/main">
            <a:off x="11163300" y="26866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8B8E74E9-FDF1-4F5F-B344-DE3B84177F2C}"/>
              </a:ext>
            </a:extLst>
          </p:cNvPr>
          <p:cNvSpPr>
            <a:spLocks xmlns:a="http://schemas.openxmlformats.org/drawingml/2006/main" noGrp="1"/>
          </p:cNvSpPr>
          <p:nvPr/>
        </p:nvSpPr>
        <p:spPr>
          <a:xfrm xmlns:a="http://schemas.openxmlformats.org/drawingml/2006/main">
            <a:off x="96589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9DA4327B-306E-4E9A-A7AB-457A067C8BA7}"/>
              </a:ext>
            </a:extLst>
          </p:cNvPr>
          <p:cNvSpPr>
            <a:spLocks xmlns:a="http://schemas.openxmlformats.org/drawingml/2006/main" noGrp="1"/>
          </p:cNvSpPr>
          <p:nvPr/>
        </p:nvSpPr>
        <p:spPr>
          <a:xfrm xmlns:a="http://schemas.openxmlformats.org/drawingml/2006/main">
            <a:off x="96589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8D3C30E-3855-4B88-BD14-AB9DEEA846EA}"/>
              </a:ext>
            </a:extLst>
          </p:cNvPr>
          <p:cNvSpPr>
            <a:spLocks xmlns:a="http://schemas.openxmlformats.org/drawingml/2006/main" noGrp="1"/>
          </p:cNvSpPr>
          <p:nvPr/>
        </p:nvSpPr>
        <p:spPr>
          <a:xfrm xmlns:a="http://schemas.openxmlformats.org/drawingml/2006/main">
            <a:off x="794385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328A90CC-28B4-4B1B-B826-401111CE07F3}"/>
              </a:ext>
            </a:extLst>
          </p:cNvPr>
          <p:cNvSpPr>
            <a:spLocks xmlns:a="http://schemas.openxmlformats.org/drawingml/2006/main" noGrp="1"/>
          </p:cNvSpPr>
          <p:nvPr/>
        </p:nvSpPr>
        <p:spPr>
          <a:xfrm xmlns:a="http://schemas.openxmlformats.org/drawingml/2006/main">
            <a:off x="11163300" y="28594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18BC54B3-A67D-478A-A38F-DA2DAC33FE18}"/>
              </a:ext>
            </a:extLst>
          </p:cNvPr>
          <p:cNvSpPr>
            <a:spLocks xmlns:a="http://schemas.openxmlformats.org/drawingml/2006/main" noGrp="1"/>
          </p:cNvSpPr>
          <p:nvPr/>
        </p:nvSpPr>
        <p:spPr>
          <a:xfrm xmlns:a="http://schemas.openxmlformats.org/drawingml/2006/main">
            <a:off x="98317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20393F22-98A1-48BF-9E90-92BD4249D7CD}"/>
              </a:ext>
            </a:extLst>
          </p:cNvPr>
          <p:cNvSpPr>
            <a:spLocks xmlns:a="http://schemas.openxmlformats.org/drawingml/2006/main" noGrp="1"/>
          </p:cNvSpPr>
          <p:nvPr/>
        </p:nvSpPr>
        <p:spPr>
          <a:xfrm xmlns:a="http://schemas.openxmlformats.org/drawingml/2006/main">
            <a:off x="98317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336B0453-543E-4067-91D6-31847FA6BF9F}"/>
              </a:ext>
            </a:extLst>
          </p:cNvPr>
          <p:cNvSpPr>
            <a:spLocks xmlns:a="http://schemas.openxmlformats.org/drawingml/2006/main" noGrp="1"/>
          </p:cNvSpPr>
          <p:nvPr/>
        </p:nvSpPr>
        <p:spPr>
          <a:xfrm xmlns:a="http://schemas.openxmlformats.org/drawingml/2006/main">
            <a:off x="794385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2D2CB3C4-ABB1-4B79-AE69-87F267C631F6}"/>
              </a:ext>
            </a:extLst>
          </p:cNvPr>
          <p:cNvSpPr>
            <a:spLocks xmlns:a="http://schemas.openxmlformats.org/drawingml/2006/main" noGrp="1"/>
          </p:cNvSpPr>
          <p:nvPr/>
        </p:nvSpPr>
        <p:spPr>
          <a:xfrm xmlns:a="http://schemas.openxmlformats.org/drawingml/2006/main">
            <a:off x="11163300" y="30321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A9A04E0E-CB13-4C9F-9F7E-AD0BB61F3224}"/>
              </a:ext>
            </a:extLst>
          </p:cNvPr>
          <p:cNvSpPr>
            <a:spLocks xmlns:a="http://schemas.openxmlformats.org/drawingml/2006/main" noGrp="1"/>
          </p:cNvSpPr>
          <p:nvPr/>
        </p:nvSpPr>
        <p:spPr>
          <a:xfrm xmlns:a="http://schemas.openxmlformats.org/drawingml/2006/main">
            <a:off x="100044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68493EFE-89FD-48F7-8827-FEB57A29543B}"/>
              </a:ext>
            </a:extLst>
          </p:cNvPr>
          <p:cNvSpPr>
            <a:spLocks xmlns:a="http://schemas.openxmlformats.org/drawingml/2006/main" noGrp="1"/>
          </p:cNvSpPr>
          <p:nvPr/>
        </p:nvSpPr>
        <p:spPr>
          <a:xfrm xmlns:a="http://schemas.openxmlformats.org/drawingml/2006/main">
            <a:off x="100044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47917940-6EB2-4965-936B-1B9A64E13D86}"/>
              </a:ext>
            </a:extLst>
          </p:cNvPr>
          <p:cNvSpPr>
            <a:spLocks xmlns:a="http://schemas.openxmlformats.org/drawingml/2006/main" noGrp="1"/>
          </p:cNvSpPr>
          <p:nvPr/>
        </p:nvSpPr>
        <p:spPr>
          <a:xfrm xmlns:a="http://schemas.openxmlformats.org/drawingml/2006/main">
            <a:off x="794385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2" name="">
            <a:extLst xmlns:a="http://schemas.openxmlformats.org/drawingml/2006/main">
              <a:ext uri="{FF2B5EF4-FFF2-40B4-BE49-F238E27FC236}">
                <a16:creationId xmlns:a16="http://schemas.microsoft.com/office/drawing/2014/main" id="{AF8BDC93-C56C-47F5-AAB5-BD8EACC4CE74}"/>
              </a:ext>
            </a:extLst>
          </p:cNvPr>
          <p:cNvSpPr>
            <a:spLocks xmlns:a="http://schemas.openxmlformats.org/drawingml/2006/main" noGrp="1"/>
          </p:cNvSpPr>
          <p:nvPr/>
        </p:nvSpPr>
        <p:spPr>
          <a:xfrm xmlns:a="http://schemas.openxmlformats.org/drawingml/2006/main">
            <a:off x="11163300" y="320484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7C9C09F1-6810-4BC0-89A1-23AA1E35D445}"/>
              </a:ext>
            </a:extLst>
          </p:cNvPr>
          <p:cNvSpPr>
            <a:spLocks xmlns:a="http://schemas.openxmlformats.org/drawingml/2006/main" noGrp="1"/>
          </p:cNvSpPr>
          <p:nvPr/>
        </p:nvSpPr>
        <p:spPr>
          <a:xfrm xmlns:a="http://schemas.openxmlformats.org/drawingml/2006/main">
            <a:off x="1017714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CAE88224-6793-45F7-A711-192A3B74B5D5}"/>
              </a:ext>
            </a:extLst>
          </p:cNvPr>
          <p:cNvSpPr>
            <a:spLocks xmlns:a="http://schemas.openxmlformats.org/drawingml/2006/main" noGrp="1"/>
          </p:cNvSpPr>
          <p:nvPr/>
        </p:nvSpPr>
        <p:spPr>
          <a:xfrm xmlns:a="http://schemas.openxmlformats.org/drawingml/2006/main">
            <a:off x="1017714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FDA95FED-8251-4380-A175-3AA8ADAB40FC}"/>
              </a:ext>
            </a:extLst>
          </p:cNvPr>
          <p:cNvSpPr>
            <a:spLocks xmlns:a="http://schemas.openxmlformats.org/drawingml/2006/main" noGrp="1"/>
          </p:cNvSpPr>
          <p:nvPr/>
        </p:nvSpPr>
        <p:spPr>
          <a:xfrm xmlns:a="http://schemas.openxmlformats.org/drawingml/2006/main">
            <a:off x="794385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4D09474C-9DEC-4FA9-9B17-85D4B4DAF25C}"/>
              </a:ext>
            </a:extLst>
          </p:cNvPr>
          <p:cNvSpPr>
            <a:spLocks xmlns:a="http://schemas.openxmlformats.org/drawingml/2006/main" noGrp="1"/>
          </p:cNvSpPr>
          <p:nvPr/>
        </p:nvSpPr>
        <p:spPr>
          <a:xfrm xmlns:a="http://schemas.openxmlformats.org/drawingml/2006/main">
            <a:off x="11163300" y="337756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FEA27851-C844-407F-A985-57647AE3F918}"/>
              </a:ext>
            </a:extLst>
          </p:cNvPr>
          <p:cNvSpPr>
            <a:spLocks xmlns:a="http://schemas.openxmlformats.org/drawingml/2006/main" noGrp="1"/>
          </p:cNvSpPr>
          <p:nvPr/>
        </p:nvSpPr>
        <p:spPr>
          <a:xfrm xmlns:a="http://schemas.openxmlformats.org/drawingml/2006/main">
            <a:off x="1034986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A8577A3D-DCF3-4B3C-A47F-AA68B5768F8D}"/>
              </a:ext>
            </a:extLst>
          </p:cNvPr>
          <p:cNvSpPr>
            <a:spLocks xmlns:a="http://schemas.openxmlformats.org/drawingml/2006/main" noGrp="1"/>
          </p:cNvSpPr>
          <p:nvPr/>
        </p:nvSpPr>
        <p:spPr>
          <a:xfrm xmlns:a="http://schemas.openxmlformats.org/drawingml/2006/main">
            <a:off x="1034986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0AE7CDBF-BB61-43F5-9CF1-ED89C9678A83}"/>
              </a:ext>
            </a:extLst>
          </p:cNvPr>
          <p:cNvSpPr>
            <a:spLocks xmlns:a="http://schemas.openxmlformats.org/drawingml/2006/main" noGrp="1"/>
          </p:cNvSpPr>
          <p:nvPr/>
        </p:nvSpPr>
        <p:spPr>
          <a:xfrm xmlns:a="http://schemas.openxmlformats.org/drawingml/2006/main">
            <a:off x="794385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0" name="">
            <a:extLst xmlns:a="http://schemas.openxmlformats.org/drawingml/2006/main">
              <a:ext uri="{FF2B5EF4-FFF2-40B4-BE49-F238E27FC236}">
                <a16:creationId xmlns:a16="http://schemas.microsoft.com/office/drawing/2014/main" id="{7AD798AB-1526-454D-8DBD-62D5DA6B9396}"/>
              </a:ext>
            </a:extLst>
          </p:cNvPr>
          <p:cNvSpPr>
            <a:spLocks xmlns:a="http://schemas.openxmlformats.org/drawingml/2006/main" noGrp="1"/>
          </p:cNvSpPr>
          <p:nvPr/>
        </p:nvSpPr>
        <p:spPr>
          <a:xfrm xmlns:a="http://schemas.openxmlformats.org/drawingml/2006/main">
            <a:off x="11163300" y="355028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1" name="">
            <a:extLst xmlns:a="http://schemas.openxmlformats.org/drawingml/2006/main">
              <a:ext uri="{FF2B5EF4-FFF2-40B4-BE49-F238E27FC236}">
                <a16:creationId xmlns:a16="http://schemas.microsoft.com/office/drawing/2014/main" id="{6F1131EA-C22E-4059-913E-6EA043B6EC34}"/>
              </a:ext>
            </a:extLst>
          </p:cNvPr>
          <p:cNvSpPr>
            <a:spLocks xmlns:a="http://schemas.openxmlformats.org/drawingml/2006/main" noGrp="1"/>
          </p:cNvSpPr>
          <p:nvPr/>
        </p:nvSpPr>
        <p:spPr>
          <a:xfrm xmlns:a="http://schemas.openxmlformats.org/drawingml/2006/main">
            <a:off x="1052258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180FB1B0-1454-4585-B3E7-3E268F6F3D74}"/>
              </a:ext>
            </a:extLst>
          </p:cNvPr>
          <p:cNvSpPr>
            <a:spLocks xmlns:a="http://schemas.openxmlformats.org/drawingml/2006/main" noGrp="1"/>
          </p:cNvSpPr>
          <p:nvPr/>
        </p:nvSpPr>
        <p:spPr>
          <a:xfrm xmlns:a="http://schemas.openxmlformats.org/drawingml/2006/main">
            <a:off x="1052258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D5A45F02-4EE3-4C4D-8213-14F172C95178}"/>
              </a:ext>
            </a:extLst>
          </p:cNvPr>
          <p:cNvSpPr>
            <a:spLocks xmlns:a="http://schemas.openxmlformats.org/drawingml/2006/main" noGrp="1"/>
          </p:cNvSpPr>
          <p:nvPr/>
        </p:nvSpPr>
        <p:spPr>
          <a:xfrm xmlns:a="http://schemas.openxmlformats.org/drawingml/2006/main">
            <a:off x="794385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ED2D976E-545C-4994-9B25-15A69E8567A2}"/>
              </a:ext>
            </a:extLst>
          </p:cNvPr>
          <p:cNvSpPr>
            <a:spLocks xmlns:a="http://schemas.openxmlformats.org/drawingml/2006/main" noGrp="1"/>
          </p:cNvSpPr>
          <p:nvPr/>
        </p:nvSpPr>
        <p:spPr>
          <a:xfrm xmlns:a="http://schemas.openxmlformats.org/drawingml/2006/main">
            <a:off x="11163300" y="372300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5" name="">
            <a:extLst xmlns:a="http://schemas.openxmlformats.org/drawingml/2006/main">
              <a:ext uri="{FF2B5EF4-FFF2-40B4-BE49-F238E27FC236}">
                <a16:creationId xmlns:a16="http://schemas.microsoft.com/office/drawing/2014/main" id="{9E8B17E8-02BD-4BB1-90B4-3AA844C1EB3D}"/>
              </a:ext>
            </a:extLst>
          </p:cNvPr>
          <p:cNvSpPr>
            <a:spLocks xmlns:a="http://schemas.openxmlformats.org/drawingml/2006/main" noGrp="1"/>
          </p:cNvSpPr>
          <p:nvPr/>
        </p:nvSpPr>
        <p:spPr>
          <a:xfrm xmlns:a="http://schemas.openxmlformats.org/drawingml/2006/main">
            <a:off x="1069530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DB986DFF-D92A-4234-9EEE-BDFFA1C8085C}"/>
              </a:ext>
            </a:extLst>
          </p:cNvPr>
          <p:cNvSpPr>
            <a:spLocks xmlns:a="http://schemas.openxmlformats.org/drawingml/2006/main" noGrp="1"/>
          </p:cNvSpPr>
          <p:nvPr/>
        </p:nvSpPr>
        <p:spPr>
          <a:xfrm xmlns:a="http://schemas.openxmlformats.org/drawingml/2006/main">
            <a:off x="1069530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BA6080C1-0661-4ECE-9981-0B0E710CF871}"/>
              </a:ext>
            </a:extLst>
          </p:cNvPr>
          <p:cNvSpPr>
            <a:spLocks xmlns:a="http://schemas.openxmlformats.org/drawingml/2006/main" noGrp="1"/>
          </p:cNvSpPr>
          <p:nvPr/>
        </p:nvSpPr>
        <p:spPr>
          <a:xfrm xmlns:a="http://schemas.openxmlformats.org/drawingml/2006/main">
            <a:off x="794385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8" name="">
            <a:extLst xmlns:a="http://schemas.openxmlformats.org/drawingml/2006/main">
              <a:ext uri="{FF2B5EF4-FFF2-40B4-BE49-F238E27FC236}">
                <a16:creationId xmlns:a16="http://schemas.microsoft.com/office/drawing/2014/main" id="{109B5A9C-A8F7-4119-91A5-B2EABB85D85F}"/>
              </a:ext>
            </a:extLst>
          </p:cNvPr>
          <p:cNvSpPr>
            <a:spLocks xmlns:a="http://schemas.openxmlformats.org/drawingml/2006/main" noGrp="1"/>
          </p:cNvSpPr>
          <p:nvPr/>
        </p:nvSpPr>
        <p:spPr>
          <a:xfrm xmlns:a="http://schemas.openxmlformats.org/drawingml/2006/main">
            <a:off x="11163300" y="3895725"/>
            <a:ext cx="133350" cy="952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56B2F867-6B64-4762-BB0D-EF6A8E8CCEA0}"/>
              </a:ext>
            </a:extLst>
          </p:cNvPr>
          <p:cNvSpPr>
            <a:spLocks xmlns:a="http://schemas.openxmlformats.org/drawingml/2006/main" noGrp="1"/>
          </p:cNvSpPr>
          <p:nvPr/>
        </p:nvSpPr>
        <p:spPr>
          <a:xfrm xmlns:a="http://schemas.openxmlformats.org/drawingml/2006/main">
            <a:off x="10868025" y="97155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D903E85C-351F-4187-A42D-A9B6E8B8B42A}"/>
              </a:ext>
            </a:extLst>
          </p:cNvPr>
          <p:cNvSpPr>
            <a:spLocks xmlns:a="http://schemas.openxmlformats.org/drawingml/2006/main" noGrp="1"/>
          </p:cNvSpPr>
          <p:nvPr/>
        </p:nvSpPr>
        <p:spPr>
          <a:xfrm xmlns:a="http://schemas.openxmlformats.org/drawingml/2006/main">
            <a:off x="10868025" y="4191000"/>
            <a:ext cx="952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5F163E2B-2099-406E-9BBC-96A0E9EB8A0E}"/>
              </a:ext>
            </a:extLst>
          </p:cNvPr>
          <p:cNvSpPr>
            <a:spLocks xmlns:a="http://schemas.openxmlformats.org/drawingml/2006/main" noGrp="1"/>
          </p:cNvSpPr>
          <p:nvPr/>
        </p:nvSpPr>
        <p:spPr>
          <a:xfrm xmlns:a="http://schemas.openxmlformats.org/drawingml/2006/main">
            <a:off x="8286750" y="1314450"/>
            <a:ext cx="133350" cy="133350"/>
          </a:xfrm>
          <a:prstGeom xmlns:a="http://schemas.openxmlformats.org/drawingml/2006/main" prst="ellipse">
            <a:avLst/>
          </a:prstGeom>
          <a:solidFill xmlns:a="http://schemas.openxmlformats.org/drawingml/2006/main">
            <a:srgbClr val="00B4D8"/>
          </a:solidFill>
          <a:ln xmlns:a="http://schemas.openxmlformats.org/drawingml/2006/main" w="0">
            <a:noFill/>
            <a:prstDash val="solid"/>
          </a:ln>
        </p:spPr>
      </p:sp>
      <p:sp>
        <p:nvSpPr>
          <p:cNvPr id="72" name="">
            <a:extLst xmlns:a="http://schemas.openxmlformats.org/drawingml/2006/main">
              <a:ext uri="{FF2B5EF4-FFF2-40B4-BE49-F238E27FC236}">
                <a16:creationId xmlns:a16="http://schemas.microsoft.com/office/drawing/2014/main" id="{8AD340CC-6508-4A6D-8D9F-FECE5A2BAE51}"/>
              </a:ext>
            </a:extLst>
          </p:cNvPr>
          <p:cNvSpPr>
            <a:spLocks xmlns:a="http://schemas.openxmlformats.org/drawingml/2006/main" noGrp="1"/>
          </p:cNvSpPr>
          <p:nvPr/>
        </p:nvSpPr>
        <p:spPr>
          <a:xfrm xmlns:a="http://schemas.openxmlformats.org/drawingml/2006/main">
            <a:off x="8991600" y="1671638"/>
            <a:ext cx="1257300" cy="1952625"/>
          </a:xfrm>
          <a:prstGeom xmlns:a="http://schemas.openxmlformats.org/drawingml/2006/main" prst="rect">
            <a:avLst/>
          </a:prstGeom>
          <a:solidFill xmlns:a="http://schemas.openxmlformats.org/drawingml/2006/main">
            <a:srgbClr val="1E3A55"/>
          </a:solidFill>
          <a:ln xmlns:a="http://schemas.openxmlformats.org/drawingml/2006/main" w="9525">
            <a:solidFill>
              <a:srgbClr val="8DB4D4"/>
            </a:solidFill>
            <a:prstDash val="solid"/>
          </a:ln>
        </p:spPr>
      </p:sp>
      <p:sp>
        <p:nvSpPr>
          <p:cNvPr id="73" name="">
            <a:extLst xmlns:a="http://schemas.openxmlformats.org/drawingml/2006/main">
              <a:ext uri="{FF2B5EF4-FFF2-40B4-BE49-F238E27FC236}">
                <a16:creationId xmlns:a16="http://schemas.microsoft.com/office/drawing/2014/main" id="{464DBE93-7CD4-4037-A2B9-4C4144C7EF03}"/>
              </a:ext>
            </a:extLst>
          </p:cNvPr>
          <p:cNvSpPr>
            <a:spLocks xmlns:a="http://schemas.openxmlformats.org/drawingml/2006/main" noGrp="1"/>
          </p:cNvSpPr>
          <p:nvPr/>
        </p:nvSpPr>
        <p:spPr>
          <a:xfrm xmlns:a="http://schemas.openxmlformats.org/drawingml/2006/main">
            <a:off x="910590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4" name="">
            <a:extLst xmlns:a="http://schemas.openxmlformats.org/drawingml/2006/main">
              <a:ext uri="{FF2B5EF4-FFF2-40B4-BE49-F238E27FC236}">
                <a16:creationId xmlns:a16="http://schemas.microsoft.com/office/drawing/2014/main" id="{65C8BFBA-C324-4A60-8C3B-FB58C3E9FB83}"/>
              </a:ext>
            </a:extLst>
          </p:cNvPr>
          <p:cNvSpPr>
            <a:spLocks xmlns:a="http://schemas.openxmlformats.org/drawingml/2006/main" noGrp="1"/>
          </p:cNvSpPr>
          <p:nvPr/>
        </p:nvSpPr>
        <p:spPr>
          <a:xfrm xmlns:a="http://schemas.openxmlformats.org/drawingml/2006/main">
            <a:off x="9658350" y="1804988"/>
            <a:ext cx="476250" cy="59055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07B3206A-1DF3-43D5-A6E6-1A8669BC0C57}"/>
              </a:ext>
            </a:extLst>
          </p:cNvPr>
          <p:cNvSpPr>
            <a:spLocks xmlns:a="http://schemas.openxmlformats.org/drawingml/2006/main" noGrp="1"/>
          </p:cNvSpPr>
          <p:nvPr/>
        </p:nvSpPr>
        <p:spPr>
          <a:xfrm xmlns:a="http://schemas.openxmlformats.org/drawingml/2006/main">
            <a:off x="9105900" y="2471738"/>
            <a:ext cx="1028700" cy="95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F75FE709-0561-456D-BB23-3812BA055195}"/>
              </a:ext>
            </a:extLst>
          </p:cNvPr>
          <p:cNvSpPr>
            <a:spLocks xmlns:a="http://schemas.openxmlformats.org/drawingml/2006/main" noGrp="1"/>
          </p:cNvSpPr>
          <p:nvPr/>
        </p:nvSpPr>
        <p:spPr>
          <a:xfrm xmlns:a="http://schemas.openxmlformats.org/drawingml/2006/main">
            <a:off x="91059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7" name="">
            <a:extLst xmlns:a="http://schemas.openxmlformats.org/drawingml/2006/main">
              <a:ext uri="{FF2B5EF4-FFF2-40B4-BE49-F238E27FC236}">
                <a16:creationId xmlns:a16="http://schemas.microsoft.com/office/drawing/2014/main" id="{4ADC09D2-B44F-4BCC-B737-3C2114F2EA16}"/>
              </a:ext>
            </a:extLst>
          </p:cNvPr>
          <p:cNvSpPr>
            <a:spLocks xmlns:a="http://schemas.openxmlformats.org/drawingml/2006/main" noGrp="1"/>
          </p:cNvSpPr>
          <p:nvPr/>
        </p:nvSpPr>
        <p:spPr>
          <a:xfrm xmlns:a="http://schemas.openxmlformats.org/drawingml/2006/main">
            <a:off x="93726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8" name="">
            <a:extLst xmlns:a="http://schemas.openxmlformats.org/drawingml/2006/main">
              <a:ext uri="{FF2B5EF4-FFF2-40B4-BE49-F238E27FC236}">
                <a16:creationId xmlns:a16="http://schemas.microsoft.com/office/drawing/2014/main" id="{1DAD8D09-D445-4642-9919-06C0FE32CA38}"/>
              </a:ext>
            </a:extLst>
          </p:cNvPr>
          <p:cNvSpPr>
            <a:spLocks xmlns:a="http://schemas.openxmlformats.org/drawingml/2006/main" noGrp="1"/>
          </p:cNvSpPr>
          <p:nvPr/>
        </p:nvSpPr>
        <p:spPr>
          <a:xfrm xmlns:a="http://schemas.openxmlformats.org/drawingml/2006/main">
            <a:off x="96393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795DF226-3CBA-461F-BDDB-C13170B690DE}"/>
              </a:ext>
            </a:extLst>
          </p:cNvPr>
          <p:cNvSpPr>
            <a:spLocks xmlns:a="http://schemas.openxmlformats.org/drawingml/2006/main" noGrp="1"/>
          </p:cNvSpPr>
          <p:nvPr/>
        </p:nvSpPr>
        <p:spPr>
          <a:xfrm xmlns:a="http://schemas.openxmlformats.org/drawingml/2006/main">
            <a:off x="9906000" y="26622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0" name="">
            <a:extLst xmlns:a="http://schemas.openxmlformats.org/drawingml/2006/main">
              <a:ext uri="{FF2B5EF4-FFF2-40B4-BE49-F238E27FC236}">
                <a16:creationId xmlns:a16="http://schemas.microsoft.com/office/drawing/2014/main" id="{D8D603D3-9D7B-4290-AF20-1DEE6836E407}"/>
              </a:ext>
            </a:extLst>
          </p:cNvPr>
          <p:cNvSpPr>
            <a:spLocks xmlns:a="http://schemas.openxmlformats.org/drawingml/2006/main" noGrp="1"/>
          </p:cNvSpPr>
          <p:nvPr/>
        </p:nvSpPr>
        <p:spPr>
          <a:xfrm xmlns:a="http://schemas.openxmlformats.org/drawingml/2006/main">
            <a:off x="91059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1" name="">
            <a:extLst xmlns:a="http://schemas.openxmlformats.org/drawingml/2006/main">
              <a:ext uri="{FF2B5EF4-FFF2-40B4-BE49-F238E27FC236}">
                <a16:creationId xmlns:a16="http://schemas.microsoft.com/office/drawing/2014/main" id="{B7AA4EB6-058E-4B6C-8032-8082433D1087}"/>
              </a:ext>
            </a:extLst>
          </p:cNvPr>
          <p:cNvSpPr>
            <a:spLocks xmlns:a="http://schemas.openxmlformats.org/drawingml/2006/main" noGrp="1"/>
          </p:cNvSpPr>
          <p:nvPr/>
        </p:nvSpPr>
        <p:spPr>
          <a:xfrm xmlns:a="http://schemas.openxmlformats.org/drawingml/2006/main">
            <a:off x="93726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BBB42B5F-C140-4786-BEF0-6C3A87704E02}"/>
              </a:ext>
            </a:extLst>
          </p:cNvPr>
          <p:cNvSpPr>
            <a:spLocks xmlns:a="http://schemas.openxmlformats.org/drawingml/2006/main" noGrp="1"/>
          </p:cNvSpPr>
          <p:nvPr/>
        </p:nvSpPr>
        <p:spPr>
          <a:xfrm xmlns:a="http://schemas.openxmlformats.org/drawingml/2006/main">
            <a:off x="96393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3" name="">
            <a:extLst xmlns:a="http://schemas.openxmlformats.org/drawingml/2006/main">
              <a:ext uri="{FF2B5EF4-FFF2-40B4-BE49-F238E27FC236}">
                <a16:creationId xmlns:a16="http://schemas.microsoft.com/office/drawing/2014/main" id="{DFF0167A-6847-476F-A156-A74EA3ECF2B0}"/>
              </a:ext>
            </a:extLst>
          </p:cNvPr>
          <p:cNvSpPr>
            <a:spLocks xmlns:a="http://schemas.openxmlformats.org/drawingml/2006/main" noGrp="1"/>
          </p:cNvSpPr>
          <p:nvPr/>
        </p:nvSpPr>
        <p:spPr>
          <a:xfrm xmlns:a="http://schemas.openxmlformats.org/drawingml/2006/main">
            <a:off x="9906000" y="287178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E34C2A71-12F2-444D-AAB2-5DDC5590FE73}"/>
              </a:ext>
            </a:extLst>
          </p:cNvPr>
          <p:cNvSpPr>
            <a:spLocks xmlns:a="http://schemas.openxmlformats.org/drawingml/2006/main" noGrp="1"/>
          </p:cNvSpPr>
          <p:nvPr/>
        </p:nvSpPr>
        <p:spPr>
          <a:xfrm xmlns:a="http://schemas.openxmlformats.org/drawingml/2006/main">
            <a:off x="91059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5" name="">
            <a:extLst xmlns:a="http://schemas.openxmlformats.org/drawingml/2006/main">
              <a:ext uri="{FF2B5EF4-FFF2-40B4-BE49-F238E27FC236}">
                <a16:creationId xmlns:a16="http://schemas.microsoft.com/office/drawing/2014/main" id="{D7753D28-78B1-4729-B57F-67673F242797}"/>
              </a:ext>
            </a:extLst>
          </p:cNvPr>
          <p:cNvSpPr>
            <a:spLocks xmlns:a="http://schemas.openxmlformats.org/drawingml/2006/main" noGrp="1"/>
          </p:cNvSpPr>
          <p:nvPr/>
        </p:nvSpPr>
        <p:spPr>
          <a:xfrm xmlns:a="http://schemas.openxmlformats.org/drawingml/2006/main">
            <a:off x="93726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6221AEA6-574E-4CB6-89A7-148C07A613C3}"/>
              </a:ext>
            </a:extLst>
          </p:cNvPr>
          <p:cNvSpPr>
            <a:spLocks xmlns:a="http://schemas.openxmlformats.org/drawingml/2006/main" noGrp="1"/>
          </p:cNvSpPr>
          <p:nvPr/>
        </p:nvSpPr>
        <p:spPr>
          <a:xfrm xmlns:a="http://schemas.openxmlformats.org/drawingml/2006/main">
            <a:off x="96393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7" name="">
            <a:extLst xmlns:a="http://schemas.openxmlformats.org/drawingml/2006/main">
              <a:ext uri="{FF2B5EF4-FFF2-40B4-BE49-F238E27FC236}">
                <a16:creationId xmlns:a16="http://schemas.microsoft.com/office/drawing/2014/main" id="{939167AB-0406-4E5C-B63F-7EACDE4ECA07}"/>
              </a:ext>
            </a:extLst>
          </p:cNvPr>
          <p:cNvSpPr>
            <a:spLocks xmlns:a="http://schemas.openxmlformats.org/drawingml/2006/main" noGrp="1"/>
          </p:cNvSpPr>
          <p:nvPr/>
        </p:nvSpPr>
        <p:spPr>
          <a:xfrm xmlns:a="http://schemas.openxmlformats.org/drawingml/2006/main">
            <a:off x="9906000" y="3081338"/>
            <a:ext cx="209550" cy="1524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88" name="">
            <a:extLst xmlns:a="http://schemas.openxmlformats.org/drawingml/2006/main">
              <a:ext uri="{FF2B5EF4-FFF2-40B4-BE49-F238E27FC236}">
                <a16:creationId xmlns:a16="http://schemas.microsoft.com/office/drawing/2014/main" id="{D78E3CE3-95FC-445C-853E-73E7CBB5BA78}"/>
              </a:ext>
            </a:extLst>
          </p:cNvPr>
          <p:cNvSpPr>
            <a:spLocks xmlns:a="http://schemas.openxmlformats.org/drawingml/2006/main" noGrp="1"/>
          </p:cNvSpPr>
          <p:nvPr/>
        </p:nvSpPr>
        <p:spPr>
          <a:xfrm xmlns:a="http://schemas.openxmlformats.org/drawingml/2006/main">
            <a:off x="9105900" y="3328988"/>
            <a:ext cx="476250" cy="190500"/>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89" name="">
            <a:extLst xmlns:a="http://schemas.openxmlformats.org/drawingml/2006/main">
              <a:ext uri="{FF2B5EF4-FFF2-40B4-BE49-F238E27FC236}">
                <a16:creationId xmlns:a16="http://schemas.microsoft.com/office/drawing/2014/main" id="{14B6D878-54E1-4870-93A4-37FB533504C9}"/>
              </a:ext>
            </a:extLst>
          </p:cNvPr>
          <p:cNvSpPr>
            <a:spLocks xmlns:a="http://schemas.openxmlformats.org/drawingml/2006/main" noGrp="1"/>
          </p:cNvSpPr>
          <p:nvPr/>
        </p:nvSpPr>
        <p:spPr>
          <a:xfrm xmlns:a="http://schemas.openxmlformats.org/drawingml/2006/main">
            <a:off x="9658350" y="3328988"/>
            <a:ext cx="476250" cy="1905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90" name="">
            <a:extLst xmlns:a="http://schemas.openxmlformats.org/drawingml/2006/main">
              <a:ext uri="{FF2B5EF4-FFF2-40B4-BE49-F238E27FC236}">
                <a16:creationId xmlns:a16="http://schemas.microsoft.com/office/drawing/2014/main" id="{639E6321-AD9D-4C02-97E1-48FE343D43FD}"/>
              </a:ext>
            </a:extLst>
          </p:cNvPr>
          <p:cNvSpPr>
            <a:spLocks xmlns:a="http://schemas.openxmlformats.org/drawingml/2006/main" noGrp="1"/>
          </p:cNvSpPr>
          <p:nvPr/>
        </p:nvSpPr>
        <p:spPr>
          <a:xfrm xmlns:a="http://schemas.openxmlformats.org/drawingml/2006/main">
            <a:off x="7905750" y="4457700"/>
            <a:ext cx="3429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A9BACD"/>
                </a:solidFill>
                <a:latin typeface="Arial"/>
                <a:ea typeface="Arial"/>
                <a:cs typeface="Arial"/>
              </a:defRPr>
            </a:pPr>
            <a:r>
              <a:t>QFN-64  ·  ILLUSTRATIVE</a:t>
            </a:r>
          </a:p>
        </p:txBody>
      </p:sp>
      <p:sp>
        <p:nvSpPr>
          <p:cNvPr id="91" name="">
            <a:extLst xmlns:a="http://schemas.openxmlformats.org/drawingml/2006/main">
              <a:ext uri="{FF2B5EF4-FFF2-40B4-BE49-F238E27FC236}">
                <a16:creationId xmlns:a16="http://schemas.microsoft.com/office/drawing/2014/main" id="{0A4EA623-9F9D-4F54-AD0A-37F0724F32B2}"/>
              </a:ext>
            </a:extLst>
          </p:cNvPr>
          <p:cNvSpPr>
            <a:spLocks xmlns:a="http://schemas.openxmlformats.org/drawingml/2006/main" noGrp="1"/>
          </p:cNvSpPr>
          <p:nvPr/>
        </p:nvSpPr>
        <p:spPr>
          <a:xfrm xmlns:a="http://schemas.openxmlformats.org/drawingml/2006/main">
            <a:off x="0" y="0"/>
            <a:ext cx="9525" cy="9525"/>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92" name="">
            <a:extLst xmlns:a="http://schemas.openxmlformats.org/drawingml/2006/main">
              <a:ext uri="{FF2B5EF4-FFF2-40B4-BE49-F238E27FC236}">
                <a16:creationId xmlns:a16="http://schemas.microsoft.com/office/drawing/2014/main" id="{E06A8804-FCEF-4715-B080-16F8F7885984}"/>
              </a:ext>
            </a:extLst>
          </p:cNvPr>
          <p:cNvSpPr>
            <a:spLocks xmlns:a="http://schemas.openxmlformats.org/drawingml/2006/main" noGrp="1"/>
          </p:cNvSpPr>
          <p:nvPr/>
        </p:nvSpPr>
        <p:spPr>
          <a:xfrm xmlns:a="http://schemas.openxmlformats.org/drawingml/2006/main">
            <a:off x="457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2.9 × 4.5</a:t>
            </a:r>
          </a:p>
        </p:txBody>
      </p:sp>
      <p:sp>
        <p:nvSpPr>
          <p:cNvPr id="93" name="">
            <a:extLst xmlns:a="http://schemas.openxmlformats.org/drawingml/2006/main">
              <a:ext uri="{FF2B5EF4-FFF2-40B4-BE49-F238E27FC236}">
                <a16:creationId xmlns:a16="http://schemas.microsoft.com/office/drawing/2014/main" id="{42FF8FAB-82DB-4E84-918C-953F19D46E94}"/>
              </a:ext>
            </a:extLst>
          </p:cNvPr>
          <p:cNvSpPr>
            <a:spLocks xmlns:a="http://schemas.openxmlformats.org/drawingml/2006/main" noGrp="1"/>
          </p:cNvSpPr>
          <p:nvPr/>
        </p:nvSpPr>
        <p:spPr>
          <a:xfrm xmlns:a="http://schemas.openxmlformats.org/drawingml/2006/main">
            <a:off x="457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MM CORE BLOCK</a:t>
            </a:r>
          </a:p>
        </p:txBody>
      </p:sp>
      <p:sp>
        <p:nvSpPr>
          <p:cNvPr id="94" name="">
            <a:extLst xmlns:a="http://schemas.openxmlformats.org/drawingml/2006/main">
              <a:ext uri="{FF2B5EF4-FFF2-40B4-BE49-F238E27FC236}">
                <a16:creationId xmlns:a16="http://schemas.microsoft.com/office/drawing/2014/main" id="{72701EB9-4413-4B84-8321-3D0F2C650531}"/>
              </a:ext>
            </a:extLst>
          </p:cNvPr>
          <p:cNvSpPr>
            <a:spLocks xmlns:a="http://schemas.openxmlformats.org/drawingml/2006/main" noGrp="1"/>
          </p:cNvSpPr>
          <p:nvPr/>
        </p:nvSpPr>
        <p:spPr>
          <a:xfrm xmlns:a="http://schemas.openxmlformats.org/drawingml/2006/main">
            <a:off x="32766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FBEDEEEA-693A-45C0-944F-7BE9F1F83B67}"/>
              </a:ext>
            </a:extLst>
          </p:cNvPr>
          <p:cNvSpPr>
            <a:spLocks xmlns:a="http://schemas.openxmlformats.org/drawingml/2006/main" noGrp="1"/>
          </p:cNvSpPr>
          <p:nvPr/>
        </p:nvSpPr>
        <p:spPr>
          <a:xfrm xmlns:a="http://schemas.openxmlformats.org/drawingml/2006/main">
            <a:off x="35052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44</a:t>
            </a:r>
          </a:p>
        </p:txBody>
      </p:sp>
      <p:sp>
        <p:nvSpPr>
          <p:cNvPr id="96" name="">
            <a:extLst xmlns:a="http://schemas.openxmlformats.org/drawingml/2006/main">
              <a:ext uri="{FF2B5EF4-FFF2-40B4-BE49-F238E27FC236}">
                <a16:creationId xmlns:a16="http://schemas.microsoft.com/office/drawing/2014/main" id="{BB48AC0F-25B9-4764-8183-C8B3BBA3F4B2}"/>
              </a:ext>
            </a:extLst>
          </p:cNvPr>
          <p:cNvSpPr>
            <a:spLocks xmlns:a="http://schemas.openxmlformats.org/drawingml/2006/main" noGrp="1"/>
          </p:cNvSpPr>
          <p:nvPr/>
        </p:nvSpPr>
        <p:spPr>
          <a:xfrm xmlns:a="http://schemas.openxmlformats.org/drawingml/2006/main">
            <a:off x="35052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PADS, ALL ALLOCATED</a:t>
            </a:r>
          </a:p>
        </p:txBody>
      </p:sp>
      <p:sp>
        <p:nvSpPr>
          <p:cNvPr id="97" name="">
            <a:extLst xmlns:a="http://schemas.openxmlformats.org/drawingml/2006/main">
              <a:ext uri="{FF2B5EF4-FFF2-40B4-BE49-F238E27FC236}">
                <a16:creationId xmlns:a16="http://schemas.microsoft.com/office/drawing/2014/main" id="{B9C3D753-9C19-4967-A4D7-0B2299FE614C}"/>
              </a:ext>
            </a:extLst>
          </p:cNvPr>
          <p:cNvSpPr>
            <a:spLocks xmlns:a="http://schemas.openxmlformats.org/drawingml/2006/main" noGrp="1"/>
          </p:cNvSpPr>
          <p:nvPr/>
        </p:nvSpPr>
        <p:spPr>
          <a:xfrm xmlns:a="http://schemas.openxmlformats.org/drawingml/2006/main">
            <a:off x="60960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98" name="">
            <a:extLst xmlns:a="http://schemas.openxmlformats.org/drawingml/2006/main">
              <a:ext uri="{FF2B5EF4-FFF2-40B4-BE49-F238E27FC236}">
                <a16:creationId xmlns:a16="http://schemas.microsoft.com/office/drawing/2014/main" id="{FE2FFCC1-B1C6-4785-B262-A685A2845DB9}"/>
              </a:ext>
            </a:extLst>
          </p:cNvPr>
          <p:cNvSpPr>
            <a:spLocks xmlns:a="http://schemas.openxmlformats.org/drawingml/2006/main" noGrp="1"/>
          </p:cNvSpPr>
          <p:nvPr/>
        </p:nvSpPr>
        <p:spPr>
          <a:xfrm xmlns:a="http://schemas.openxmlformats.org/drawingml/2006/main">
            <a:off x="63246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18</a:t>
            </a:r>
          </a:p>
        </p:txBody>
      </p:sp>
      <p:sp>
        <p:nvSpPr>
          <p:cNvPr id="99" name="">
            <a:extLst xmlns:a="http://schemas.openxmlformats.org/drawingml/2006/main">
              <a:ext uri="{FF2B5EF4-FFF2-40B4-BE49-F238E27FC236}">
                <a16:creationId xmlns:a16="http://schemas.microsoft.com/office/drawing/2014/main" id="{46E7D306-D2D0-4334-A8FC-652B4F425320}"/>
              </a:ext>
            </a:extLst>
          </p:cNvPr>
          <p:cNvSpPr>
            <a:spLocks xmlns:a="http://schemas.openxmlformats.org/drawingml/2006/main" noGrp="1"/>
          </p:cNvSpPr>
          <p:nvPr/>
        </p:nvSpPr>
        <p:spPr>
          <a:xfrm xmlns:a="http://schemas.openxmlformats.org/drawingml/2006/main">
            <a:off x="63246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BLOCKS ON THE BUS</a:t>
            </a:r>
          </a:p>
        </p:txBody>
      </p:sp>
      <p:sp>
        <p:nvSpPr>
          <p:cNvPr id="100" name="">
            <a:extLst xmlns:a="http://schemas.openxmlformats.org/drawingml/2006/main">
              <a:ext uri="{FF2B5EF4-FFF2-40B4-BE49-F238E27FC236}">
                <a16:creationId xmlns:a16="http://schemas.microsoft.com/office/drawing/2014/main" id="{8C04428B-65E7-45E6-93E2-539C9B9E68BE}"/>
              </a:ext>
            </a:extLst>
          </p:cNvPr>
          <p:cNvSpPr>
            <a:spLocks xmlns:a="http://schemas.openxmlformats.org/drawingml/2006/main" noGrp="1"/>
          </p:cNvSpPr>
          <p:nvPr/>
        </p:nvSpPr>
        <p:spPr>
          <a:xfrm xmlns:a="http://schemas.openxmlformats.org/drawingml/2006/main">
            <a:off x="8915400" y="4953000"/>
            <a:ext cx="9525" cy="876300"/>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1" name="">
            <a:extLst xmlns:a="http://schemas.openxmlformats.org/drawingml/2006/main">
              <a:ext uri="{FF2B5EF4-FFF2-40B4-BE49-F238E27FC236}">
                <a16:creationId xmlns:a16="http://schemas.microsoft.com/office/drawing/2014/main" id="{7E642329-9473-4B84-BFA1-4ABE536C6F70}"/>
              </a:ext>
            </a:extLst>
          </p:cNvPr>
          <p:cNvSpPr>
            <a:spLocks xmlns:a="http://schemas.openxmlformats.org/drawingml/2006/main" noGrp="1"/>
          </p:cNvSpPr>
          <p:nvPr/>
        </p:nvSpPr>
        <p:spPr>
          <a:xfrm xmlns:a="http://schemas.openxmlformats.org/drawingml/2006/main">
            <a:off x="9144000" y="4953000"/>
            <a:ext cx="2514600" cy="4953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75" b="1">
                <a:solidFill>
                  <a:srgbClr val="00B4D8"/>
                </a:solidFill>
                <a:latin typeface="Georgia"/>
                <a:ea typeface="Georgia"/>
                <a:cs typeface="Georgia"/>
              </a:defRPr>
            </a:pPr>
            <a:r>
              <a:t>4</a:t>
            </a:r>
          </a:p>
        </p:txBody>
      </p:sp>
      <p:sp>
        <p:nvSpPr>
          <p:cNvPr id="102" name="">
            <a:extLst xmlns:a="http://schemas.openxmlformats.org/drawingml/2006/main">
              <a:ext uri="{FF2B5EF4-FFF2-40B4-BE49-F238E27FC236}">
                <a16:creationId xmlns:a16="http://schemas.microsoft.com/office/drawing/2014/main" id="{4B3DDBA3-61BD-45FD-8F53-BF172DC3086A}"/>
              </a:ext>
            </a:extLst>
          </p:cNvPr>
          <p:cNvSpPr>
            <a:spLocks xmlns:a="http://schemas.openxmlformats.org/drawingml/2006/main" noGrp="1"/>
          </p:cNvSpPr>
          <p:nvPr/>
        </p:nvSpPr>
        <p:spPr>
          <a:xfrm xmlns:a="http://schemas.openxmlformats.org/drawingml/2006/main">
            <a:off x="9144000" y="5505450"/>
            <a:ext cx="2514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SIGN-OFF GATES</a:t>
            </a:r>
          </a:p>
        </p:txBody>
      </p:sp>
      <p:sp>
        <p:nvSpPr>
          <p:cNvPr id="103" name="">
            <a:extLst xmlns:a="http://schemas.openxmlformats.org/drawingml/2006/main">
              <a:ext uri="{FF2B5EF4-FFF2-40B4-BE49-F238E27FC236}">
                <a16:creationId xmlns:a16="http://schemas.microsoft.com/office/drawing/2014/main" id="{5781C518-4E53-432D-A8AA-2BFEF584B21A}"/>
              </a:ext>
            </a:extLst>
          </p:cNvPr>
          <p:cNvSpPr>
            <a:spLocks xmlns:a="http://schemas.openxmlformats.org/drawingml/2006/main" noGrp="1"/>
          </p:cNvSpPr>
          <p:nvPr/>
        </p:nvSpPr>
        <p:spPr>
          <a:xfrm xmlns:a="http://schemas.openxmlformats.org/drawingml/2006/main">
            <a:off x="457200" y="6096000"/>
            <a:ext cx="104775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A9BACD"/>
                </a:solidFill>
                <a:latin typeface="Arial"/>
                <a:ea typeface="Arial"/>
                <a:cs typeface="Arial"/>
              </a:defRPr>
            </a:pPr>
            <a:r>
              <a:t>Design state September 2026. This deck lists the sign-off gates; it makes no claim that they have passed.</a:t>
            </a:r>
          </a:p>
        </p:txBody>
      </p:sp>
      <p:sp>
        <p:nvSpPr>
          <p:cNvPr id="104" name="">
            <a:extLst xmlns:a="http://schemas.openxmlformats.org/drawingml/2006/main">
              <a:ext uri="{FF2B5EF4-FFF2-40B4-BE49-F238E27FC236}">
                <a16:creationId xmlns:a16="http://schemas.microsoft.com/office/drawing/2014/main" id="{F14389C4-72B8-4F72-91BD-32800C2CD10C}"/>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105" name="">
            <a:extLst xmlns:a="http://schemas.openxmlformats.org/drawingml/2006/main">
              <a:ext uri="{FF2B5EF4-FFF2-40B4-BE49-F238E27FC236}">
                <a16:creationId xmlns:a16="http://schemas.microsoft.com/office/drawing/2014/main" id="{9FCBD93D-A058-4358-B122-151804AF73C5}"/>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TAPE-IN BLOCK DIAGRAM  ·  SEPTEMBER 2026  ·  PRE-SILICON</a:t>
            </a:r>
          </a:p>
        </p:txBody>
      </p:sp>
      <p:sp>
        <p:nvSpPr>
          <p:cNvPr id="106" name="">
            <a:extLst xmlns:a="http://schemas.openxmlformats.org/drawingml/2006/main">
              <a:ext uri="{FF2B5EF4-FFF2-40B4-BE49-F238E27FC236}">
                <a16:creationId xmlns:a16="http://schemas.microsoft.com/office/drawing/2014/main" id="{20A3C2A0-CDFE-40FD-927D-53421144C7A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8FA2B7"/>
                </a:solidFill>
                <a:latin typeface="Arial"/>
                <a:ea typeface="Arial"/>
                <a:cs typeface="Arial"/>
              </a:defRPr>
            </a:pPr>
            <a:r>
              <a:t>01</a:t>
            </a:r>
          </a:p>
        </p:txBody>
      </p:sp>
    </p:spTree>
    <p:extLst>
      <p:ext uri="{BB962C8B-B14F-4D97-AF65-F5344CB8AC3E}">
        <p14:creationId xmlns:p14="http://schemas.microsoft.com/office/powerpoint/2010/main" val="14083654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C825F515-BBCE-45AF-8CB2-BB426EFC975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D323C7-9CB2-4997-90AB-2706E4FB20BB}"/>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02 · EXECUTIVE SUMMARY</a:t>
            </a:r>
          </a:p>
        </p:txBody>
      </p:sp>
      <p:sp>
        <p:nvSpPr>
          <p:cNvPr id="3" name="">
            <a:extLst xmlns:a="http://schemas.openxmlformats.org/drawingml/2006/main">
              <a:ext uri="{FF2B5EF4-FFF2-40B4-BE49-F238E27FC236}">
                <a16:creationId xmlns:a16="http://schemas.microsoft.com/office/drawing/2014/main" id="{20373439-C34F-40F4-94EB-311ECFD5B174}"/>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44 pads, and four gates before tape-in</a:t>
            </a:r>
          </a:p>
        </p:txBody>
      </p:sp>
      <p:sp>
        <p:nvSpPr>
          <p:cNvPr id="4" name="">
            <a:extLst xmlns:a="http://schemas.openxmlformats.org/drawingml/2006/main">
              <a:ext uri="{FF2B5EF4-FFF2-40B4-BE49-F238E27FC236}">
                <a16:creationId xmlns:a16="http://schemas.microsoft.com/office/drawing/2014/main" id="{7BC1B045-D9C8-474D-AF4C-022AC7B4E9E6}"/>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What the tape-in diagram records about the die as built</a:t>
            </a:r>
          </a:p>
        </p:txBody>
      </p:sp>
      <p:sp>
        <p:nvSpPr>
          <p:cNvPr id="5" name="">
            <a:extLst xmlns:a="http://schemas.openxmlformats.org/drawingml/2006/main">
              <a:ext uri="{FF2B5EF4-FFF2-40B4-BE49-F238E27FC236}">
                <a16:creationId xmlns:a16="http://schemas.microsoft.com/office/drawing/2014/main" id="{CFA9BED3-1A50-4516-B816-37710B875C8F}"/>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9130B69-7589-40FF-B378-795A63F229C0}"/>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75977A0-D2CF-42F1-A2D8-C5306E40B163}"/>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65BAD113-876D-4C59-AA15-31FE21607906}"/>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02</a:t>
            </a:r>
          </a:p>
        </p:txBody>
      </p:sp>
      <p:sp>
        <p:nvSpPr>
          <p:cNvPr id="9" name="">
            <a:extLst xmlns:a="http://schemas.openxmlformats.org/drawingml/2006/main">
              <a:ext uri="{FF2B5EF4-FFF2-40B4-BE49-F238E27FC236}">
                <a16:creationId xmlns:a16="http://schemas.microsoft.com/office/drawing/2014/main" id="{6B8735ED-8303-4C01-BC19-8553389AD549}"/>
              </a:ext>
            </a:extLst>
          </p:cNvPr>
          <p:cNvSpPr>
            <a:spLocks xmlns:a="http://schemas.openxmlformats.org/drawingml/2006/main" noGrp="1"/>
          </p:cNvSpPr>
          <p:nvPr/>
        </p:nvSpPr>
        <p:spPr>
          <a:xfrm xmlns:a="http://schemas.openxmlformats.org/drawingml/2006/main">
            <a:off x="4572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301BAF48-5604-48A8-80F9-4A6254FF392E}"/>
              </a:ext>
            </a:extLst>
          </p:cNvPr>
          <p:cNvSpPr>
            <a:spLocks xmlns:a="http://schemas.openxmlformats.org/drawingml/2006/main" noGrp="1"/>
          </p:cNvSpPr>
          <p:nvPr/>
        </p:nvSpPr>
        <p:spPr>
          <a:xfrm xmlns:a="http://schemas.openxmlformats.org/drawingml/2006/main">
            <a:off x="57150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077A3"/>
                </a:solidFill>
                <a:latin typeface="Georgia"/>
                <a:ea typeface="Georgia"/>
                <a:cs typeface="Georgia"/>
              </a:defRPr>
            </a:pPr>
            <a:r>
              <a:t>50 MHz</a:t>
            </a:r>
          </a:p>
        </p:txBody>
      </p:sp>
      <p:sp>
        <p:nvSpPr>
          <p:cNvPr id="11" name="">
            <a:extLst xmlns:a="http://schemas.openxmlformats.org/drawingml/2006/main">
              <a:ext uri="{FF2B5EF4-FFF2-40B4-BE49-F238E27FC236}">
                <a16:creationId xmlns:a16="http://schemas.microsoft.com/office/drawing/2014/main" id="{EA71CD8B-1C0C-4DDB-A86E-969B6A132B22}"/>
              </a:ext>
            </a:extLst>
          </p:cNvPr>
          <p:cNvSpPr>
            <a:spLocks xmlns:a="http://schemas.openxmlformats.org/drawingml/2006/main" noGrp="1"/>
          </p:cNvSpPr>
          <p:nvPr/>
        </p:nvSpPr>
        <p:spPr>
          <a:xfrm xmlns:a="http://schemas.openxmlformats.org/drawingml/2006/main">
            <a:off x="57150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ONE CLOCK DOMAIN</a:t>
            </a:r>
          </a:p>
        </p:txBody>
      </p:sp>
      <p:sp>
        <p:nvSpPr>
          <p:cNvPr id="12" name="">
            <a:extLst xmlns:a="http://schemas.openxmlformats.org/drawingml/2006/main">
              <a:ext uri="{FF2B5EF4-FFF2-40B4-BE49-F238E27FC236}">
                <a16:creationId xmlns:a16="http://schemas.microsoft.com/office/drawing/2014/main" id="{A2C9FFD2-9556-4EFA-AFE0-81BCD3A9569A}"/>
              </a:ext>
            </a:extLst>
          </p:cNvPr>
          <p:cNvSpPr>
            <a:spLocks xmlns:a="http://schemas.openxmlformats.org/drawingml/2006/main" noGrp="1"/>
          </p:cNvSpPr>
          <p:nvPr/>
        </p:nvSpPr>
        <p:spPr>
          <a:xfrm xmlns:a="http://schemas.openxmlformats.org/drawingml/2006/main">
            <a:off x="59055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Core ceiling ~55–62 MHz, post-route</a:t>
            </a:r>
          </a:p>
        </p:txBody>
      </p:sp>
      <p:sp>
        <p:nvSpPr>
          <p:cNvPr id="13" name="">
            <a:extLst xmlns:a="http://schemas.openxmlformats.org/drawingml/2006/main">
              <a:ext uri="{FF2B5EF4-FFF2-40B4-BE49-F238E27FC236}">
                <a16:creationId xmlns:a16="http://schemas.microsoft.com/office/drawing/2014/main" id="{DE7BFE31-D551-4B39-9D53-9CBC19D68037}"/>
              </a:ext>
            </a:extLst>
          </p:cNvPr>
          <p:cNvSpPr>
            <a:spLocks xmlns:a="http://schemas.openxmlformats.org/drawingml/2006/main" noGrp="1"/>
          </p:cNvSpPr>
          <p:nvPr/>
        </p:nvSpPr>
        <p:spPr>
          <a:xfrm xmlns:a="http://schemas.openxmlformats.org/drawingml/2006/main">
            <a:off x="33337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0CA37B42-0C6B-4A24-A5B5-BBB2EE606B9F}"/>
              </a:ext>
            </a:extLst>
          </p:cNvPr>
          <p:cNvSpPr>
            <a:spLocks xmlns:a="http://schemas.openxmlformats.org/drawingml/2006/main" noGrp="1"/>
          </p:cNvSpPr>
          <p:nvPr/>
        </p:nvSpPr>
        <p:spPr>
          <a:xfrm xmlns:a="http://schemas.openxmlformats.org/drawingml/2006/main">
            <a:off x="344805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2 cycles</a:t>
            </a:r>
          </a:p>
        </p:txBody>
      </p:sp>
      <p:sp>
        <p:nvSpPr>
          <p:cNvPr id="15" name="">
            <a:extLst xmlns:a="http://schemas.openxmlformats.org/drawingml/2006/main">
              <a:ext uri="{FF2B5EF4-FFF2-40B4-BE49-F238E27FC236}">
                <a16:creationId xmlns:a16="http://schemas.microsoft.com/office/drawing/2014/main" id="{E411B614-34AA-4EA3-B148-C630C1FDE7FF}"/>
              </a:ext>
            </a:extLst>
          </p:cNvPr>
          <p:cNvSpPr>
            <a:spLocks xmlns:a="http://schemas.openxmlformats.org/drawingml/2006/main" noGrp="1"/>
          </p:cNvSpPr>
          <p:nvPr/>
        </p:nvSpPr>
        <p:spPr>
          <a:xfrm xmlns:a="http://schemas.openxmlformats.org/drawingml/2006/main">
            <a:off x="344805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CHECKER DELAY</a:t>
            </a:r>
          </a:p>
        </p:txBody>
      </p:sp>
      <p:sp>
        <p:nvSpPr>
          <p:cNvPr id="16" name="">
            <a:extLst xmlns:a="http://schemas.openxmlformats.org/drawingml/2006/main">
              <a:ext uri="{FF2B5EF4-FFF2-40B4-BE49-F238E27FC236}">
                <a16:creationId xmlns:a16="http://schemas.microsoft.com/office/drawing/2014/main" id="{80F8EEB8-B36B-41CF-882F-0EEAE2973027}"/>
              </a:ext>
            </a:extLst>
          </p:cNvPr>
          <p:cNvSpPr>
            <a:spLocks xmlns:a="http://schemas.openxmlformats.org/drawingml/2006/main" noGrp="1"/>
          </p:cNvSpPr>
          <p:nvPr/>
        </p:nvSpPr>
        <p:spPr>
          <a:xfrm xmlns:a="http://schemas.openxmlformats.org/drawingml/2006/main">
            <a:off x="346710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CHECKER sees MAIN’s bus responses</a:t>
            </a:r>
          </a:p>
        </p:txBody>
      </p:sp>
      <p:sp>
        <p:nvSpPr>
          <p:cNvPr id="17" name="">
            <a:extLst xmlns:a="http://schemas.openxmlformats.org/drawingml/2006/main">
              <a:ext uri="{FF2B5EF4-FFF2-40B4-BE49-F238E27FC236}">
                <a16:creationId xmlns:a16="http://schemas.microsoft.com/office/drawing/2014/main" id="{CD346740-E25C-4B83-88B6-1BE6DEB5C363}"/>
              </a:ext>
            </a:extLst>
          </p:cNvPr>
          <p:cNvSpPr>
            <a:spLocks xmlns:a="http://schemas.openxmlformats.org/drawingml/2006/main" noGrp="1"/>
          </p:cNvSpPr>
          <p:nvPr/>
        </p:nvSpPr>
        <p:spPr>
          <a:xfrm xmlns:a="http://schemas.openxmlformats.org/drawingml/2006/main">
            <a:off x="621030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D2A8D4F0-B011-42D0-958D-659B13456E61}"/>
              </a:ext>
            </a:extLst>
          </p:cNvPr>
          <p:cNvSpPr>
            <a:spLocks xmlns:a="http://schemas.openxmlformats.org/drawingml/2006/main" noGrp="1"/>
          </p:cNvSpPr>
          <p:nvPr/>
        </p:nvSpPr>
        <p:spPr>
          <a:xfrm xmlns:a="http://schemas.openxmlformats.org/drawingml/2006/main">
            <a:off x="632460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44 / 44</a:t>
            </a:r>
          </a:p>
        </p:txBody>
      </p:sp>
      <p:sp>
        <p:nvSpPr>
          <p:cNvPr id="19" name="">
            <a:extLst xmlns:a="http://schemas.openxmlformats.org/drawingml/2006/main">
              <a:ext uri="{FF2B5EF4-FFF2-40B4-BE49-F238E27FC236}">
                <a16:creationId xmlns:a16="http://schemas.microsoft.com/office/drawing/2014/main" id="{AD959377-7D0A-46E4-87EF-2F196C7168DC}"/>
              </a:ext>
            </a:extLst>
          </p:cNvPr>
          <p:cNvSpPr>
            <a:spLocks xmlns:a="http://schemas.openxmlformats.org/drawingml/2006/main" noGrp="1"/>
          </p:cNvSpPr>
          <p:nvPr/>
        </p:nvSpPr>
        <p:spPr>
          <a:xfrm xmlns:a="http://schemas.openxmlformats.org/drawingml/2006/main">
            <a:off x="632460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PADS ALLOCATED</a:t>
            </a:r>
          </a:p>
        </p:txBody>
      </p:sp>
      <p:sp>
        <p:nvSpPr>
          <p:cNvPr id="20" name="">
            <a:extLst xmlns:a="http://schemas.openxmlformats.org/drawingml/2006/main">
              <a:ext uri="{FF2B5EF4-FFF2-40B4-BE49-F238E27FC236}">
                <a16:creationId xmlns:a16="http://schemas.microsoft.com/office/drawing/2014/main" id="{9BB27FE1-C572-4D0C-922D-A09B380B1D29}"/>
              </a:ext>
            </a:extLst>
          </p:cNvPr>
          <p:cNvSpPr>
            <a:spLocks xmlns:a="http://schemas.openxmlformats.org/drawingml/2006/main" noGrp="1"/>
          </p:cNvSpPr>
          <p:nvPr/>
        </p:nvSpPr>
        <p:spPr>
          <a:xfrm xmlns:a="http://schemas.openxmlformats.org/drawingml/2006/main">
            <a:off x="634365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wrapper pad has a job</a:t>
            </a:r>
          </a:p>
        </p:txBody>
      </p:sp>
      <p:sp>
        <p:nvSpPr>
          <p:cNvPr id="21" name="">
            <a:extLst xmlns:a="http://schemas.openxmlformats.org/drawingml/2006/main">
              <a:ext uri="{FF2B5EF4-FFF2-40B4-BE49-F238E27FC236}">
                <a16:creationId xmlns:a16="http://schemas.microsoft.com/office/drawing/2014/main" id="{777CD79E-F96A-4E29-A432-F32D569AF416}"/>
              </a:ext>
            </a:extLst>
          </p:cNvPr>
          <p:cNvSpPr>
            <a:spLocks xmlns:a="http://schemas.openxmlformats.org/drawingml/2006/main" noGrp="1"/>
          </p:cNvSpPr>
          <p:nvPr/>
        </p:nvSpPr>
        <p:spPr>
          <a:xfrm xmlns:a="http://schemas.openxmlformats.org/drawingml/2006/main">
            <a:off x="9086850" y="1638300"/>
            <a:ext cx="2647950" cy="1524000"/>
          </a:xfrm>
          <a:prstGeom xmlns:a="http://schemas.openxmlformats.org/drawingml/2006/main" prst="roundRect">
            <a:avLst>
              <a:gd name="adj" fmla="val 5000"/>
            </a:avLst>
          </a:prstGeom>
          <a:solidFill xmlns:a="http://schemas.openxmlformats.org/drawingml/2006/main">
            <a:srgbClr val="F8FAFC"/>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3A3918A9-FC6D-43A3-B066-B03EC346A5B6}"/>
              </a:ext>
            </a:extLst>
          </p:cNvPr>
          <p:cNvSpPr>
            <a:spLocks xmlns:a="http://schemas.openxmlformats.org/drawingml/2006/main" noGrp="1"/>
          </p:cNvSpPr>
          <p:nvPr/>
        </p:nvSpPr>
        <p:spPr>
          <a:xfrm xmlns:a="http://schemas.openxmlformats.org/drawingml/2006/main">
            <a:off x="9201150" y="1790700"/>
            <a:ext cx="2419350" cy="5143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3000" b="1">
                <a:solidFill>
                  <a:srgbClr val="07686A"/>
                </a:solidFill>
                <a:latin typeface="Georgia"/>
                <a:ea typeface="Georgia"/>
                <a:cs typeface="Georgia"/>
              </a:defRPr>
            </a:pPr>
            <a:r>
              <a:t>4</a:t>
            </a:r>
          </a:p>
        </p:txBody>
      </p:sp>
      <p:sp>
        <p:nvSpPr>
          <p:cNvPr id="23" name="">
            <a:extLst xmlns:a="http://schemas.openxmlformats.org/drawingml/2006/main">
              <a:ext uri="{FF2B5EF4-FFF2-40B4-BE49-F238E27FC236}">
                <a16:creationId xmlns:a16="http://schemas.microsoft.com/office/drawing/2014/main" id="{BDC7FA02-6AAD-4B6E-A48C-D059A39A5D6F}"/>
              </a:ext>
            </a:extLst>
          </p:cNvPr>
          <p:cNvSpPr>
            <a:spLocks xmlns:a="http://schemas.openxmlformats.org/drawingml/2006/main" noGrp="1"/>
          </p:cNvSpPr>
          <p:nvPr/>
        </p:nvSpPr>
        <p:spPr>
          <a:xfrm xmlns:a="http://schemas.openxmlformats.org/drawingml/2006/main">
            <a:off x="9201150" y="2324100"/>
            <a:ext cx="24193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SIGN-OFF GATES</a:t>
            </a:r>
          </a:p>
        </p:txBody>
      </p:sp>
      <p:sp>
        <p:nvSpPr>
          <p:cNvPr id="24" name="">
            <a:extLst xmlns:a="http://schemas.openxmlformats.org/drawingml/2006/main">
              <a:ext uri="{FF2B5EF4-FFF2-40B4-BE49-F238E27FC236}">
                <a16:creationId xmlns:a16="http://schemas.microsoft.com/office/drawing/2014/main" id="{F228F139-CD04-485E-ABDC-29436A09936B}"/>
              </a:ext>
            </a:extLst>
          </p:cNvPr>
          <p:cNvSpPr>
            <a:spLocks xmlns:a="http://schemas.openxmlformats.org/drawingml/2006/main" noGrp="1"/>
          </p:cNvSpPr>
          <p:nvPr/>
        </p:nvSpPr>
        <p:spPr>
          <a:xfrm xmlns:a="http://schemas.openxmlformats.org/drawingml/2006/main">
            <a:off x="9220200" y="2571750"/>
            <a:ext cx="238125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All must pass on the final die</a:t>
            </a:r>
          </a:p>
        </p:txBody>
      </p:sp>
      <p:sp>
        <p:nvSpPr>
          <p:cNvPr id="25" name="">
            <a:extLst xmlns:a="http://schemas.openxmlformats.org/drawingml/2006/main">
              <a:ext uri="{FF2B5EF4-FFF2-40B4-BE49-F238E27FC236}">
                <a16:creationId xmlns:a16="http://schemas.microsoft.com/office/drawing/2014/main" id="{BAB166A5-1170-4A65-B12C-C641BA0CABAF}"/>
              </a:ext>
            </a:extLst>
          </p:cNvPr>
          <p:cNvSpPr>
            <a:spLocks xmlns:a="http://schemas.openxmlformats.org/drawingml/2006/main" noGrp="1"/>
          </p:cNvSpPr>
          <p:nvPr/>
        </p:nvSpPr>
        <p:spPr>
          <a:xfrm xmlns:a="http://schemas.openxmlformats.org/drawingml/2006/main">
            <a:off x="4572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08BD381C-88BC-464F-A087-9F3CE7E96EB3}"/>
              </a:ext>
            </a:extLst>
          </p:cNvPr>
          <p:cNvSpPr>
            <a:spLocks xmlns:a="http://schemas.openxmlformats.org/drawingml/2006/main" noGrp="1"/>
          </p:cNvSpPr>
          <p:nvPr/>
        </p:nvSpPr>
        <p:spPr>
          <a:xfrm xmlns:a="http://schemas.openxmlformats.org/drawingml/2006/main">
            <a:off x="457200" y="47815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8EA6A30-035D-49BE-BA2C-B212585028B4}"/>
              </a:ext>
            </a:extLst>
          </p:cNvPr>
          <p:cNvSpPr>
            <a:spLocks xmlns:a="http://schemas.openxmlformats.org/drawingml/2006/main" noGrp="1"/>
          </p:cNvSpPr>
          <p:nvPr/>
        </p:nvSpPr>
        <p:spPr>
          <a:xfrm xmlns:a="http://schemas.openxmlformats.org/drawingml/2006/main">
            <a:off x="6858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Safety</a:t>
            </a:r>
          </a:p>
        </p:txBody>
      </p:sp>
      <p:sp>
        <p:nvSpPr>
          <p:cNvPr id="28" name="">
            <a:extLst xmlns:a="http://schemas.openxmlformats.org/drawingml/2006/main">
              <a:ext uri="{FF2B5EF4-FFF2-40B4-BE49-F238E27FC236}">
                <a16:creationId xmlns:a16="http://schemas.microsoft.com/office/drawing/2014/main" id="{7190F666-DCA1-4F8C-B277-9DCEC88F76D9}"/>
              </a:ext>
            </a:extLst>
          </p:cNvPr>
          <p:cNvSpPr>
            <a:spLocks xmlns:a="http://schemas.openxmlformats.org/drawingml/2006/main" noGrp="1"/>
          </p:cNvSpPr>
          <p:nvPr/>
        </p:nvSpPr>
        <p:spPr>
          <a:xfrm xmlns:a="http://schemas.openxmlformats.org/drawingml/2006/main">
            <a:off x="6858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Lockstep pair with mirrored bus responses and a fault pad.</a:t>
            </a:r>
          </a:p>
        </p:txBody>
      </p:sp>
      <p:sp>
        <p:nvSpPr>
          <p:cNvPr id="29" name="">
            <a:extLst xmlns:a="http://schemas.openxmlformats.org/drawingml/2006/main">
              <a:ext uri="{FF2B5EF4-FFF2-40B4-BE49-F238E27FC236}">
                <a16:creationId xmlns:a16="http://schemas.microsoft.com/office/drawing/2014/main" id="{B7487A92-20FE-4ADC-BFF4-FA57335FFACA}"/>
              </a:ext>
            </a:extLst>
          </p:cNvPr>
          <p:cNvSpPr>
            <a:spLocks xmlns:a="http://schemas.openxmlformats.org/drawingml/2006/main" noGrp="1"/>
          </p:cNvSpPr>
          <p:nvPr/>
        </p:nvSpPr>
        <p:spPr>
          <a:xfrm xmlns:a="http://schemas.openxmlformats.org/drawingml/2006/main">
            <a:off x="43053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745AE5EF-9269-4F47-8F16-673DFAE01F21}"/>
              </a:ext>
            </a:extLst>
          </p:cNvPr>
          <p:cNvSpPr>
            <a:spLocks xmlns:a="http://schemas.openxmlformats.org/drawingml/2006/main" noGrp="1"/>
          </p:cNvSpPr>
          <p:nvPr/>
        </p:nvSpPr>
        <p:spPr>
          <a:xfrm xmlns:a="http://schemas.openxmlformats.org/drawingml/2006/main">
            <a:off x="43053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067D306-2B51-403F-9812-FD319C273C00}"/>
              </a:ext>
            </a:extLst>
          </p:cNvPr>
          <p:cNvSpPr>
            <a:spLocks xmlns:a="http://schemas.openxmlformats.org/drawingml/2006/main" noGrp="1"/>
          </p:cNvSpPr>
          <p:nvPr/>
        </p:nvSpPr>
        <p:spPr>
          <a:xfrm xmlns:a="http://schemas.openxmlformats.org/drawingml/2006/main">
            <a:off x="45339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Bus</a:t>
            </a:r>
          </a:p>
        </p:txBody>
      </p:sp>
      <p:sp>
        <p:nvSpPr>
          <p:cNvPr id="32" name="">
            <a:extLst xmlns:a="http://schemas.openxmlformats.org/drawingml/2006/main">
              <a:ext uri="{FF2B5EF4-FFF2-40B4-BE49-F238E27FC236}">
                <a16:creationId xmlns:a16="http://schemas.microsoft.com/office/drawing/2014/main" id="{7146821C-D4DA-4D27-8734-44173DD80627}"/>
              </a:ext>
            </a:extLst>
          </p:cNvPr>
          <p:cNvSpPr>
            <a:spLocks xmlns:a="http://schemas.openxmlformats.org/drawingml/2006/main" noGrp="1"/>
          </p:cNvSpPr>
          <p:nvPr/>
        </p:nvSpPr>
        <p:spPr>
          <a:xfrm xmlns:a="http://schemas.openxmlformats.org/drawingml/2006/main">
            <a:off x="45339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Two masters; gated or undecoded slots answer with an error.</a:t>
            </a:r>
          </a:p>
        </p:txBody>
      </p:sp>
      <p:sp>
        <p:nvSpPr>
          <p:cNvPr id="33" name="">
            <a:extLst xmlns:a="http://schemas.openxmlformats.org/drawingml/2006/main">
              <a:ext uri="{FF2B5EF4-FFF2-40B4-BE49-F238E27FC236}">
                <a16:creationId xmlns:a16="http://schemas.microsoft.com/office/drawing/2014/main" id="{D2C0E677-9687-4C3C-A085-A98D143E42DD}"/>
              </a:ext>
            </a:extLst>
          </p:cNvPr>
          <p:cNvSpPr>
            <a:spLocks xmlns:a="http://schemas.openxmlformats.org/drawingml/2006/main" noGrp="1"/>
          </p:cNvSpPr>
          <p:nvPr/>
        </p:nvSpPr>
        <p:spPr>
          <a:xfrm xmlns:a="http://schemas.openxmlformats.org/drawingml/2006/main">
            <a:off x="8153400" y="47815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7CA977BD-FC1F-4C8A-B49A-FCC1C5504D08}"/>
              </a:ext>
            </a:extLst>
          </p:cNvPr>
          <p:cNvSpPr>
            <a:spLocks xmlns:a="http://schemas.openxmlformats.org/drawingml/2006/main" noGrp="1"/>
          </p:cNvSpPr>
          <p:nvPr/>
        </p:nvSpPr>
        <p:spPr>
          <a:xfrm xmlns:a="http://schemas.openxmlformats.org/drawingml/2006/main">
            <a:off x="8153400" y="47815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86A3B87-31F7-4BB2-828E-EBC728BEEA7D}"/>
              </a:ext>
            </a:extLst>
          </p:cNvPr>
          <p:cNvSpPr>
            <a:spLocks xmlns:a="http://schemas.openxmlformats.org/drawingml/2006/main" noGrp="1"/>
          </p:cNvSpPr>
          <p:nvPr/>
        </p:nvSpPr>
        <p:spPr>
          <a:xfrm xmlns:a="http://schemas.openxmlformats.org/drawingml/2006/main">
            <a:off x="8382000" y="49720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Test</a:t>
            </a:r>
          </a:p>
        </p:txBody>
      </p:sp>
      <p:sp>
        <p:nvSpPr>
          <p:cNvPr id="36" name="">
            <a:extLst xmlns:a="http://schemas.openxmlformats.org/drawingml/2006/main">
              <a:ext uri="{FF2B5EF4-FFF2-40B4-BE49-F238E27FC236}">
                <a16:creationId xmlns:a16="http://schemas.microsoft.com/office/drawing/2014/main" id="{508C1B9A-F302-45C9-B3E4-EE2F0463CC8B}"/>
              </a:ext>
            </a:extLst>
          </p:cNvPr>
          <p:cNvSpPr>
            <a:spLocks xmlns:a="http://schemas.openxmlformats.org/drawingml/2006/main" noGrp="1"/>
          </p:cNvSpPr>
          <p:nvPr/>
        </p:nvSpPr>
        <p:spPr>
          <a:xfrm xmlns:a="http://schemas.openxmlformats.org/drawingml/2006/main">
            <a:off x="8382000" y="53340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13 scan chains through JTAG; four gates before tape-in.</a:t>
            </a:r>
          </a:p>
        </p:txBody>
      </p:sp>
      <p:sp>
        <p:nvSpPr>
          <p:cNvPr id="37" name="">
            <a:extLst xmlns:a="http://schemas.openxmlformats.org/drawingml/2006/main">
              <a:ext uri="{FF2B5EF4-FFF2-40B4-BE49-F238E27FC236}">
                <a16:creationId xmlns:a16="http://schemas.microsoft.com/office/drawing/2014/main" id="{A3CB66EC-930A-464B-BED7-99528BA342F1}"/>
              </a:ext>
            </a:extLst>
          </p:cNvPr>
          <p:cNvSpPr>
            <a:spLocks xmlns:a="http://schemas.openxmlformats.org/drawingml/2006/main" noGrp="1"/>
          </p:cNvSpPr>
          <p:nvPr/>
        </p:nvSpPr>
        <p:spPr>
          <a:xfrm xmlns:a="http://schemas.openxmlformats.org/drawingml/2006/main">
            <a:off x="457200" y="3352800"/>
            <a:ext cx="11277600" cy="123825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5793F35-EECB-4AA3-B666-F563312F0515}"/>
              </a:ext>
            </a:extLst>
          </p:cNvPr>
          <p:cNvSpPr>
            <a:spLocks xmlns:a="http://schemas.openxmlformats.org/drawingml/2006/main" noGrp="1"/>
          </p:cNvSpPr>
          <p:nvPr/>
        </p:nvSpPr>
        <p:spPr>
          <a:xfrm xmlns:a="http://schemas.openxmlformats.org/drawingml/2006/main">
            <a:off x="457200" y="3352800"/>
            <a:ext cx="57150" cy="12382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72DC305-23D3-43CE-99B8-DEF17D9DDDDB}"/>
              </a:ext>
            </a:extLst>
          </p:cNvPr>
          <p:cNvSpPr>
            <a:spLocks xmlns:a="http://schemas.openxmlformats.org/drawingml/2006/main" noGrp="1"/>
          </p:cNvSpPr>
          <p:nvPr/>
        </p:nvSpPr>
        <p:spPr>
          <a:xfrm xmlns:a="http://schemas.openxmlformats.org/drawingml/2006/main">
            <a:off x="762000" y="3562350"/>
            <a:ext cx="10668000" cy="857250"/>
          </a:xfrm>
          <a:prstGeom xmlns:a="http://schemas.openxmlformats.org/drawingml/2006/main" prst="rect">
            <a:avLst/>
          </a:prstGeom>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1">
                <a:solidFill>
                  <a:srgbClr val="FFFFFF"/>
                </a:solidFill>
                <a:latin typeface="Georgia"/>
                <a:ea typeface="Georgia"/>
                <a:cs typeface="Georgia"/>
              </a:defRPr>
            </a:pPr>
            <a:r>
              <a:t>A single clock and reset, a lockstep pair that tolerates interrupts and peripheral reads, a two-master bus where nothing hangs, and a pad plan with no spare pin.</a:t>
            </a:r>
          </a:p>
        </p:txBody>
      </p:sp>
      <p:sp>
        <p:nvSpPr>
          <p:cNvPr id="40" name="">
            <a:extLst xmlns:a="http://schemas.openxmlformats.org/drawingml/2006/main">
              <a:ext uri="{FF2B5EF4-FFF2-40B4-BE49-F238E27FC236}">
                <a16:creationId xmlns:a16="http://schemas.microsoft.com/office/drawing/2014/main" id="{CF3EA1AD-C79E-43F8-B44C-1C8D0082ED5A}"/>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(state 2026-09-10).</a:t>
            </a:r>
          </a:p>
        </p:txBody>
      </p:sp>
    </p:spTree>
    <p:extLst>
      <p:ext uri="{BB962C8B-B14F-4D97-AF65-F5344CB8AC3E}">
        <p14:creationId xmlns:p14="http://schemas.microsoft.com/office/powerpoint/2010/main" val="15935900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A2AEE01B-0CD1-4C96-83F2-CB3B97B0CA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597EB69-4C66-416E-B656-7815944B19D2}"/>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03 · CLOCKS AND RESET</a:t>
            </a:r>
          </a:p>
        </p:txBody>
      </p:sp>
      <p:sp>
        <p:nvSpPr>
          <p:cNvPr id="3" name="">
            <a:extLst xmlns:a="http://schemas.openxmlformats.org/drawingml/2006/main">
              <a:ext uri="{FF2B5EF4-FFF2-40B4-BE49-F238E27FC236}">
                <a16:creationId xmlns:a16="http://schemas.microsoft.com/office/drawing/2014/main" id="{FB7744EB-DE4D-4434-8E3D-AC57E806DB3B}"/>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clock and one reset drive the whole block</a:t>
            </a:r>
          </a:p>
        </p:txBody>
      </p:sp>
      <p:sp>
        <p:nvSpPr>
          <p:cNvPr id="4" name="">
            <a:extLst xmlns:a="http://schemas.openxmlformats.org/drawingml/2006/main">
              <a:ext uri="{FF2B5EF4-FFF2-40B4-BE49-F238E27FC236}">
                <a16:creationId xmlns:a16="http://schemas.microsoft.com/office/drawing/2014/main" id="{A566CF42-3B6B-433E-82B7-AF1339CF13B3}"/>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Eight clock gates idle unused peripherals; test mode overrides them all</a:t>
            </a:r>
          </a:p>
        </p:txBody>
      </p:sp>
      <p:sp>
        <p:nvSpPr>
          <p:cNvPr id="5" name="">
            <a:extLst xmlns:a="http://schemas.openxmlformats.org/drawingml/2006/main">
              <a:ext uri="{FF2B5EF4-FFF2-40B4-BE49-F238E27FC236}">
                <a16:creationId xmlns:a16="http://schemas.microsoft.com/office/drawing/2014/main" id="{9F2D2A19-70DF-4EB4-9CB9-7108BD64141C}"/>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F1DB1A9-1EC7-4A2F-B9D8-74D974A09C8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A849936-4F26-4D0A-B876-0F05EBCAB384}"/>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2E659989-661A-4CD1-A991-833718D25C8E}"/>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03</a:t>
            </a:r>
          </a:p>
        </p:txBody>
      </p:sp>
      <p:sp>
        <p:nvSpPr>
          <p:cNvPr id="9" name="">
            <a:extLst xmlns:a="http://schemas.openxmlformats.org/drawingml/2006/main">
              <a:ext uri="{FF2B5EF4-FFF2-40B4-BE49-F238E27FC236}">
                <a16:creationId xmlns:a16="http://schemas.microsoft.com/office/drawing/2014/main" id="{91428731-C2EA-4F53-92F0-33051ACC5C1F}"/>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FF86FD5D-0ECD-4B4B-8703-13FE4D48D190}"/>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CF9531-BA82-4E01-A19E-35DB92F59B70}"/>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Clock pad</a:t>
            </a:r>
          </a:p>
        </p:txBody>
      </p:sp>
      <p:sp>
        <p:nvSpPr>
          <p:cNvPr id="12" name="">
            <a:extLst xmlns:a="http://schemas.openxmlformats.org/drawingml/2006/main">
              <a:ext uri="{FF2B5EF4-FFF2-40B4-BE49-F238E27FC236}">
                <a16:creationId xmlns:a16="http://schemas.microsoft.com/office/drawing/2014/main" id="{E87265DF-B218-4D24-8B75-4DC417876580}"/>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50 MHz, one domain</a:t>
            </a:r>
          </a:p>
        </p:txBody>
      </p:sp>
      <p:sp>
        <p:nvSpPr>
          <p:cNvPr id="13" name="">
            <a:extLst xmlns:a="http://schemas.openxmlformats.org/drawingml/2006/main">
              <a:ext uri="{FF2B5EF4-FFF2-40B4-BE49-F238E27FC236}">
                <a16:creationId xmlns:a16="http://schemas.microsoft.com/office/drawing/2014/main" id="{F20FFC6D-0EF9-4A4D-BB08-5FD8C5C69EE3}"/>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BBCBA980-E192-4CF8-8516-717509CCD676}"/>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ED70A9B1-C05D-4C9F-BB43-AC1E23F7BC25}"/>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814BB1-30C4-4982-A467-E47EFA8CCD5C}"/>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Eight clock gates</a:t>
            </a:r>
          </a:p>
        </p:txBody>
      </p:sp>
      <p:sp>
        <p:nvSpPr>
          <p:cNvPr id="17" name="">
            <a:extLst xmlns:a="http://schemas.openxmlformats.org/drawingml/2006/main">
              <a:ext uri="{FF2B5EF4-FFF2-40B4-BE49-F238E27FC236}">
                <a16:creationId xmlns:a16="http://schemas.microsoft.com/office/drawing/2014/main" id="{8BD44073-D7EB-47B7-93C6-AB38CE51F12C}"/>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Idle peripherals switched off</a:t>
            </a:r>
          </a:p>
        </p:txBody>
      </p:sp>
      <p:sp>
        <p:nvSpPr>
          <p:cNvPr id="18" name="">
            <a:extLst xmlns:a="http://schemas.openxmlformats.org/drawingml/2006/main">
              <a:ext uri="{FF2B5EF4-FFF2-40B4-BE49-F238E27FC236}">
                <a16:creationId xmlns:a16="http://schemas.microsoft.com/office/drawing/2014/main" id="{47C01BE9-CBF5-47FC-B451-A7A2D86774D2}"/>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31F8D4AD-E35B-406B-83A0-3968A146B6ED}"/>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199C0F92-D090-419A-9D26-84A38D7679E5}"/>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2B9CFA5-5CAA-41E6-A66A-AA769CC7634E}"/>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Test mode</a:t>
            </a:r>
          </a:p>
        </p:txBody>
      </p:sp>
      <p:sp>
        <p:nvSpPr>
          <p:cNvPr id="22" name="">
            <a:extLst xmlns:a="http://schemas.openxmlformats.org/drawingml/2006/main">
              <a:ext uri="{FF2B5EF4-FFF2-40B4-BE49-F238E27FC236}">
                <a16:creationId xmlns:a16="http://schemas.microsoft.com/office/drawing/2014/main" id="{971A0906-8704-41AA-9DBA-D930C7EF48AD}"/>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Forces every gate open</a:t>
            </a:r>
          </a:p>
        </p:txBody>
      </p:sp>
      <p:sp>
        <p:nvSpPr>
          <p:cNvPr id="23" name="">
            <a:extLst xmlns:a="http://schemas.openxmlformats.org/drawingml/2006/main">
              <a:ext uri="{FF2B5EF4-FFF2-40B4-BE49-F238E27FC236}">
                <a16:creationId xmlns:a16="http://schemas.microsoft.com/office/drawing/2014/main" id="{061E2DB0-6ABC-46EC-A11B-E325A08690A8}"/>
              </a:ext>
            </a:extLst>
          </p:cNvPr>
          <p:cNvSpPr>
            <a:spLocks xmlns:a="http://schemas.openxmlformats.org/drawingml/2006/main" noGrp="1"/>
          </p:cNvSpPr>
          <p:nvPr/>
        </p:nvSpPr>
        <p:spPr>
          <a:xfrm xmlns:a="http://schemas.openxmlformats.org/drawingml/2006/main">
            <a:off x="457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4" name="">
            <a:extLst xmlns:a="http://schemas.openxmlformats.org/drawingml/2006/main">
              <a:ext uri="{FF2B5EF4-FFF2-40B4-BE49-F238E27FC236}">
                <a16:creationId xmlns:a16="http://schemas.microsoft.com/office/drawing/2014/main" id="{B91D5085-6CAA-48D8-9702-46EE83FCEFE8}"/>
              </a:ext>
            </a:extLst>
          </p:cNvPr>
          <p:cNvSpPr>
            <a:spLocks xmlns:a="http://schemas.openxmlformats.org/drawingml/2006/main" noGrp="1"/>
          </p:cNvSpPr>
          <p:nvPr/>
        </p:nvSpPr>
        <p:spPr>
          <a:xfrm xmlns:a="http://schemas.openxmlformats.org/drawingml/2006/main">
            <a:off x="457200" y="30670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B35CB3A-EA13-4568-8EC3-D0EC6D7352A0}"/>
              </a:ext>
            </a:extLst>
          </p:cNvPr>
          <p:cNvSpPr>
            <a:spLocks xmlns:a="http://schemas.openxmlformats.org/drawingml/2006/main" noGrp="1"/>
          </p:cNvSpPr>
          <p:nvPr/>
        </p:nvSpPr>
        <p:spPr>
          <a:xfrm xmlns:a="http://schemas.openxmlformats.org/drawingml/2006/main">
            <a:off x="590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Reset pad</a:t>
            </a:r>
          </a:p>
        </p:txBody>
      </p:sp>
      <p:sp>
        <p:nvSpPr>
          <p:cNvPr id="26" name="">
            <a:extLst xmlns:a="http://schemas.openxmlformats.org/drawingml/2006/main">
              <a:ext uri="{FF2B5EF4-FFF2-40B4-BE49-F238E27FC236}">
                <a16:creationId xmlns:a16="http://schemas.microsoft.com/office/drawing/2014/main" id="{337F6421-858B-4FDA-AF21-FC00CA5C9E36}"/>
              </a:ext>
            </a:extLst>
          </p:cNvPr>
          <p:cNvSpPr>
            <a:spLocks xmlns:a="http://schemas.openxmlformats.org/drawingml/2006/main" noGrp="1"/>
          </p:cNvSpPr>
          <p:nvPr/>
        </p:nvSpPr>
        <p:spPr>
          <a:xfrm xmlns:a="http://schemas.openxmlformats.org/drawingml/2006/main">
            <a:off x="590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Asynchronous, active low</a:t>
            </a:r>
          </a:p>
        </p:txBody>
      </p:sp>
      <p:sp>
        <p:nvSpPr>
          <p:cNvPr id="27" name="">
            <a:extLst xmlns:a="http://schemas.openxmlformats.org/drawingml/2006/main">
              <a:ext uri="{FF2B5EF4-FFF2-40B4-BE49-F238E27FC236}">
                <a16:creationId xmlns:a16="http://schemas.microsoft.com/office/drawing/2014/main" id="{2898258B-997F-45E3-A958-AEA85C11D5E4}"/>
              </a:ext>
            </a:extLst>
          </p:cNvPr>
          <p:cNvSpPr>
            <a:spLocks xmlns:a="http://schemas.openxmlformats.org/drawingml/2006/main" noGrp="1"/>
          </p:cNvSpPr>
          <p:nvPr/>
        </p:nvSpPr>
        <p:spPr>
          <a:xfrm xmlns:a="http://schemas.openxmlformats.org/drawingml/2006/main">
            <a:off x="3965575" y="34575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8" name="">
            <a:extLst xmlns:a="http://schemas.openxmlformats.org/drawingml/2006/main">
              <a:ext uri="{FF2B5EF4-FFF2-40B4-BE49-F238E27FC236}">
                <a16:creationId xmlns:a16="http://schemas.microsoft.com/office/drawing/2014/main" id="{F94A2387-134D-4D86-8134-3B993947A521}"/>
              </a:ext>
            </a:extLst>
          </p:cNvPr>
          <p:cNvSpPr>
            <a:spLocks xmlns:a="http://schemas.openxmlformats.org/drawingml/2006/main" noGrp="1"/>
          </p:cNvSpPr>
          <p:nvPr/>
        </p:nvSpPr>
        <p:spPr>
          <a:xfrm xmlns:a="http://schemas.openxmlformats.org/drawingml/2006/main">
            <a:off x="4394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9" name="">
            <a:extLst xmlns:a="http://schemas.openxmlformats.org/drawingml/2006/main">
              <a:ext uri="{FF2B5EF4-FFF2-40B4-BE49-F238E27FC236}">
                <a16:creationId xmlns:a16="http://schemas.microsoft.com/office/drawing/2014/main" id="{74CEFCB6-5B83-4D6E-BF31-9F63B31C66D2}"/>
              </a:ext>
            </a:extLst>
          </p:cNvPr>
          <p:cNvSpPr>
            <a:spLocks xmlns:a="http://schemas.openxmlformats.org/drawingml/2006/main" noGrp="1"/>
          </p:cNvSpPr>
          <p:nvPr/>
        </p:nvSpPr>
        <p:spPr>
          <a:xfrm xmlns:a="http://schemas.openxmlformats.org/drawingml/2006/main">
            <a:off x="4394200" y="30670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6ACDEE0-A92E-4FF5-A1A7-E7787C5F6209}"/>
              </a:ext>
            </a:extLst>
          </p:cNvPr>
          <p:cNvSpPr>
            <a:spLocks xmlns:a="http://schemas.openxmlformats.org/drawingml/2006/main" noGrp="1"/>
          </p:cNvSpPr>
          <p:nvPr/>
        </p:nvSpPr>
        <p:spPr>
          <a:xfrm xmlns:a="http://schemas.openxmlformats.org/drawingml/2006/main">
            <a:off x="4527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Supervisor</a:t>
            </a:r>
          </a:p>
        </p:txBody>
      </p:sp>
      <p:sp>
        <p:nvSpPr>
          <p:cNvPr id="31" name="">
            <a:extLst xmlns:a="http://schemas.openxmlformats.org/drawingml/2006/main">
              <a:ext uri="{FF2B5EF4-FFF2-40B4-BE49-F238E27FC236}">
                <a16:creationId xmlns:a16="http://schemas.microsoft.com/office/drawing/2014/main" id="{C2BA39C0-1E77-4C02-A7EC-D15422E71091}"/>
              </a:ext>
            </a:extLst>
          </p:cNvPr>
          <p:cNvSpPr>
            <a:spLocks xmlns:a="http://schemas.openxmlformats.org/drawingml/2006/main" noGrp="1"/>
          </p:cNvSpPr>
          <p:nvPr/>
        </p:nvSpPr>
        <p:spPr>
          <a:xfrm xmlns:a="http://schemas.openxmlformats.org/drawingml/2006/main">
            <a:off x="4527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Deglitches supply-good inputs</a:t>
            </a:r>
          </a:p>
        </p:txBody>
      </p:sp>
      <p:sp>
        <p:nvSpPr>
          <p:cNvPr id="32" name="">
            <a:extLst xmlns:a="http://schemas.openxmlformats.org/drawingml/2006/main">
              <a:ext uri="{FF2B5EF4-FFF2-40B4-BE49-F238E27FC236}">
                <a16:creationId xmlns:a16="http://schemas.microsoft.com/office/drawing/2014/main" id="{277F3AB6-DF2E-4A57-A26C-1B3871A0D499}"/>
              </a:ext>
            </a:extLst>
          </p:cNvPr>
          <p:cNvSpPr>
            <a:spLocks xmlns:a="http://schemas.openxmlformats.org/drawingml/2006/main" noGrp="1"/>
          </p:cNvSpPr>
          <p:nvPr/>
        </p:nvSpPr>
        <p:spPr>
          <a:xfrm xmlns:a="http://schemas.openxmlformats.org/drawingml/2006/main">
            <a:off x="7902575" y="34575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33" name="">
            <a:extLst xmlns:a="http://schemas.openxmlformats.org/drawingml/2006/main">
              <a:ext uri="{FF2B5EF4-FFF2-40B4-BE49-F238E27FC236}">
                <a16:creationId xmlns:a16="http://schemas.microsoft.com/office/drawing/2014/main" id="{0326F1B1-9303-46FD-AB93-FE86BEA85EC5}"/>
              </a:ext>
            </a:extLst>
          </p:cNvPr>
          <p:cNvSpPr>
            <a:spLocks xmlns:a="http://schemas.openxmlformats.org/drawingml/2006/main" noGrp="1"/>
          </p:cNvSpPr>
          <p:nvPr/>
        </p:nvSpPr>
        <p:spPr>
          <a:xfrm xmlns:a="http://schemas.openxmlformats.org/drawingml/2006/main">
            <a:off x="8331200" y="30670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34" name="">
            <a:extLst xmlns:a="http://schemas.openxmlformats.org/drawingml/2006/main">
              <a:ext uri="{FF2B5EF4-FFF2-40B4-BE49-F238E27FC236}">
                <a16:creationId xmlns:a16="http://schemas.microsoft.com/office/drawing/2014/main" id="{3A5A0331-C9EB-4D28-8138-BEB1AA8B5115}"/>
              </a:ext>
            </a:extLst>
          </p:cNvPr>
          <p:cNvSpPr>
            <a:spLocks xmlns:a="http://schemas.openxmlformats.org/drawingml/2006/main" noGrp="1"/>
          </p:cNvSpPr>
          <p:nvPr/>
        </p:nvSpPr>
        <p:spPr>
          <a:xfrm xmlns:a="http://schemas.openxmlformats.org/drawingml/2006/main">
            <a:off x="8331200" y="30670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8F0B41F-8196-4CE0-BAA7-367153A2F925}"/>
              </a:ext>
            </a:extLst>
          </p:cNvPr>
          <p:cNvSpPr>
            <a:spLocks xmlns:a="http://schemas.openxmlformats.org/drawingml/2006/main" noGrp="1"/>
          </p:cNvSpPr>
          <p:nvPr/>
        </p:nvSpPr>
        <p:spPr>
          <a:xfrm xmlns:a="http://schemas.openxmlformats.org/drawingml/2006/main">
            <a:off x="8464550" y="32575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MAIN, then CHECKER</a:t>
            </a:r>
          </a:p>
        </p:txBody>
      </p:sp>
      <p:sp>
        <p:nvSpPr>
          <p:cNvPr id="36" name="">
            <a:extLst xmlns:a="http://schemas.openxmlformats.org/drawingml/2006/main">
              <a:ext uri="{FF2B5EF4-FFF2-40B4-BE49-F238E27FC236}">
                <a16:creationId xmlns:a16="http://schemas.microsoft.com/office/drawing/2014/main" id="{428F33D5-EE45-4BFF-9CC1-868BE8C208AF}"/>
              </a:ext>
            </a:extLst>
          </p:cNvPr>
          <p:cNvSpPr>
            <a:spLocks xmlns:a="http://schemas.openxmlformats.org/drawingml/2006/main" noGrp="1"/>
          </p:cNvSpPr>
          <p:nvPr/>
        </p:nvSpPr>
        <p:spPr>
          <a:xfrm xmlns:a="http://schemas.openxmlformats.org/drawingml/2006/main">
            <a:off x="8464550" y="35433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Checker released two cycles later</a:t>
            </a:r>
          </a:p>
        </p:txBody>
      </p:sp>
      <p:sp>
        <p:nvSpPr>
          <p:cNvPr id="37" name="">
            <a:extLst xmlns:a="http://schemas.openxmlformats.org/drawingml/2006/main">
              <a:ext uri="{FF2B5EF4-FFF2-40B4-BE49-F238E27FC236}">
                <a16:creationId xmlns:a16="http://schemas.microsoft.com/office/drawing/2014/main" id="{97639C66-BCB2-49BB-9611-97FB08BE532A}"/>
              </a:ext>
            </a:extLst>
          </p:cNvPr>
          <p:cNvSpPr>
            <a:spLocks xmlns:a="http://schemas.openxmlformats.org/drawingml/2006/main" noGrp="1"/>
          </p:cNvSpPr>
          <p:nvPr/>
        </p:nvSpPr>
        <p:spPr>
          <a:xfrm xmlns:a="http://schemas.openxmlformats.org/drawingml/2006/main">
            <a:off x="457200" y="4438650"/>
            <a:ext cx="11277600" cy="1009650"/>
          </a:xfrm>
          <a:prstGeom xmlns:a="http://schemas.openxmlformats.org/drawingml/2006/main" prst="roundRect">
            <a:avLst>
              <a:gd name="adj" fmla="val 7547"/>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FC23C2C1-4CCD-424A-A5BA-48F7AF61FAD5}"/>
              </a:ext>
            </a:extLst>
          </p:cNvPr>
          <p:cNvSpPr>
            <a:spLocks xmlns:a="http://schemas.openxmlformats.org/drawingml/2006/main" noGrp="1"/>
          </p:cNvSpPr>
          <p:nvPr/>
        </p:nvSpPr>
        <p:spPr>
          <a:xfrm xmlns:a="http://schemas.openxmlformats.org/drawingml/2006/main">
            <a:off x="457200" y="4438650"/>
            <a:ext cx="57150" cy="100965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B0F8155C-47B5-4124-97B0-9F2D0CB650E9}"/>
              </a:ext>
            </a:extLst>
          </p:cNvPr>
          <p:cNvSpPr>
            <a:spLocks xmlns:a="http://schemas.openxmlformats.org/drawingml/2006/main" noGrp="1"/>
          </p:cNvSpPr>
          <p:nvPr/>
        </p:nvSpPr>
        <p:spPr>
          <a:xfrm xmlns:a="http://schemas.openxmlformats.org/drawingml/2006/main">
            <a:off x="685800" y="4629150"/>
            <a:ext cx="108585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Which peripherals can be gated</a:t>
            </a:r>
          </a:p>
        </p:txBody>
      </p:sp>
      <p:sp>
        <p:nvSpPr>
          <p:cNvPr id="40" name="">
            <a:extLst xmlns:a="http://schemas.openxmlformats.org/drawingml/2006/main">
              <a:ext uri="{FF2B5EF4-FFF2-40B4-BE49-F238E27FC236}">
                <a16:creationId xmlns:a16="http://schemas.microsoft.com/office/drawing/2014/main" id="{334A2366-8E30-4CAF-B168-FC10959C9C5B}"/>
              </a:ext>
            </a:extLst>
          </p:cNvPr>
          <p:cNvSpPr>
            <a:spLocks xmlns:a="http://schemas.openxmlformats.org/drawingml/2006/main" noGrp="1"/>
          </p:cNvSpPr>
          <p:nvPr/>
        </p:nvSpPr>
        <p:spPr>
          <a:xfrm xmlns:a="http://schemas.openxmlformats.org/drawingml/2006/main">
            <a:off x="685800" y="4991100"/>
            <a:ext cx="10820400" cy="3238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UART0, UART1, SPI, I²C, PWM, the timers, the DMA and the CORDIC.</a:t>
            </a:r>
          </a:p>
        </p:txBody>
      </p:sp>
      <p:sp>
        <p:nvSpPr>
          <p:cNvPr id="41" name="">
            <a:extLst xmlns:a="http://schemas.openxmlformats.org/drawingml/2006/main">
              <a:ext uri="{FF2B5EF4-FFF2-40B4-BE49-F238E27FC236}">
                <a16:creationId xmlns:a16="http://schemas.microsoft.com/office/drawing/2014/main" id="{03513929-6A48-49F6-ADEA-52DC1D86356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clocks and reset.</a:t>
            </a:r>
          </a:p>
        </p:txBody>
      </p:sp>
    </p:spTree>
    <p:extLst>
      <p:ext uri="{BB962C8B-B14F-4D97-AF65-F5344CB8AC3E}">
        <p14:creationId xmlns:p14="http://schemas.microsoft.com/office/powerpoint/2010/main" val="84250713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997C8C3D-AAFB-4F80-B2B8-23A54F7CC5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FFF97F8-A389-4425-B691-361E46DB751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04 · DUAL-CORE LOCKSTEP</a:t>
            </a:r>
          </a:p>
        </p:txBody>
      </p:sp>
      <p:sp>
        <p:nvSpPr>
          <p:cNvPr id="3" name="">
            <a:extLst xmlns:a="http://schemas.openxmlformats.org/drawingml/2006/main">
              <a:ext uri="{FF2B5EF4-FFF2-40B4-BE49-F238E27FC236}">
                <a16:creationId xmlns:a16="http://schemas.microsoft.com/office/drawing/2014/main" id="{1533E9DF-8C2E-4549-A24B-FA1AE5F04E42}"/>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The checker trails MAIN and sees its bus responses</a:t>
            </a:r>
          </a:p>
        </p:txBody>
      </p:sp>
      <p:sp>
        <p:nvSpPr>
          <p:cNvPr id="4" name="">
            <a:extLst xmlns:a="http://schemas.openxmlformats.org/drawingml/2006/main">
              <a:ext uri="{FF2B5EF4-FFF2-40B4-BE49-F238E27FC236}">
                <a16:creationId xmlns:a16="http://schemas.microsoft.com/office/drawing/2014/main" id="{D96F2532-376C-4DA1-BB14-7226553E3AC8}"/>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pair is arranged so ordinary firmware cannot make the two cores disagree</a:t>
            </a:r>
          </a:p>
        </p:txBody>
      </p:sp>
      <p:sp>
        <p:nvSpPr>
          <p:cNvPr id="5" name="">
            <a:extLst xmlns:a="http://schemas.openxmlformats.org/drawingml/2006/main">
              <a:ext uri="{FF2B5EF4-FFF2-40B4-BE49-F238E27FC236}">
                <a16:creationId xmlns:a16="http://schemas.microsoft.com/office/drawing/2014/main" id="{10A68FFC-05DF-4AC7-8171-D053B10E32B7}"/>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DDC0DE2-D100-4E2A-A410-EC605BF6316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28DCD75-5D91-4658-8996-8BDCCB485A1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D2942B4C-2210-45FA-8CCB-EFE403C022BF}"/>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04</a:t>
            </a:r>
          </a:p>
        </p:txBody>
      </p:sp>
      <p:sp>
        <p:nvSpPr>
          <p:cNvPr id="9" name="">
            <a:extLst xmlns:a="http://schemas.openxmlformats.org/drawingml/2006/main">
              <a:ext uri="{FF2B5EF4-FFF2-40B4-BE49-F238E27FC236}">
                <a16:creationId xmlns:a16="http://schemas.microsoft.com/office/drawing/2014/main" id="{E28E4C70-69E0-4934-87AA-56E5A46C0086}"/>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97E09ED6-48D5-42E9-A26C-D5CEFA21E255}"/>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B8AB72C-366D-4B3A-B23D-F1F5DC014DE7}"/>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MAIN</a:t>
            </a:r>
          </a:p>
        </p:txBody>
      </p:sp>
      <p:sp>
        <p:nvSpPr>
          <p:cNvPr id="12" name="">
            <a:extLst xmlns:a="http://schemas.openxmlformats.org/drawingml/2006/main">
              <a:ext uri="{FF2B5EF4-FFF2-40B4-BE49-F238E27FC236}">
                <a16:creationId xmlns:a16="http://schemas.microsoft.com/office/drawing/2014/main" id="{B7CDD1F9-77C7-45D8-9ED3-CECE19A44021}"/>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Runs firmware, owns the bus</a:t>
            </a:r>
          </a:p>
        </p:txBody>
      </p:sp>
      <p:sp>
        <p:nvSpPr>
          <p:cNvPr id="13" name="">
            <a:extLst xmlns:a="http://schemas.openxmlformats.org/drawingml/2006/main">
              <a:ext uri="{FF2B5EF4-FFF2-40B4-BE49-F238E27FC236}">
                <a16:creationId xmlns:a16="http://schemas.microsoft.com/office/drawing/2014/main" id="{DB51D34E-F460-42E6-99C8-0C265435A91F}"/>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FDAAE93A-7EA0-42EB-A3BF-79D9BDD2F61C}"/>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90ED8DB8-4E6A-4F29-A379-8D4DE8BC7392}"/>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81434AF-8B55-4FC3-8213-A626EA00088F}"/>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Two-cycle delay</a:t>
            </a:r>
          </a:p>
        </p:txBody>
      </p:sp>
      <p:sp>
        <p:nvSpPr>
          <p:cNvPr id="17" name="">
            <a:extLst xmlns:a="http://schemas.openxmlformats.org/drawingml/2006/main">
              <a:ext uri="{FF2B5EF4-FFF2-40B4-BE49-F238E27FC236}">
                <a16:creationId xmlns:a16="http://schemas.microsoft.com/office/drawing/2014/main" id="{22FDEDEA-2B4E-46C8-88DB-55D0D0C04AA8}"/>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Inputs and bus responses mirrored</a:t>
            </a:r>
          </a:p>
        </p:txBody>
      </p:sp>
      <p:sp>
        <p:nvSpPr>
          <p:cNvPr id="18" name="">
            <a:extLst xmlns:a="http://schemas.openxmlformats.org/drawingml/2006/main">
              <a:ext uri="{FF2B5EF4-FFF2-40B4-BE49-F238E27FC236}">
                <a16:creationId xmlns:a16="http://schemas.microsoft.com/office/drawing/2014/main" id="{1C6D7799-DF88-4E1F-A5A6-BF1F003D8238}"/>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F27125AF-71CD-4A57-BB61-9E73AB3B8DAE}"/>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20" name="">
            <a:extLst xmlns:a="http://schemas.openxmlformats.org/drawingml/2006/main">
              <a:ext uri="{FF2B5EF4-FFF2-40B4-BE49-F238E27FC236}">
                <a16:creationId xmlns:a16="http://schemas.microsoft.com/office/drawing/2014/main" id="{C4C9D4F1-994C-4DB1-BEDA-33015E5AB25D}"/>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38B974D-6584-4FB1-B9C2-D5EF7FCFCDD1}"/>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CHECKER</a:t>
            </a:r>
          </a:p>
        </p:txBody>
      </p:sp>
      <p:sp>
        <p:nvSpPr>
          <p:cNvPr id="22" name="">
            <a:extLst xmlns:a="http://schemas.openxmlformats.org/drawingml/2006/main">
              <a:ext uri="{FF2B5EF4-FFF2-40B4-BE49-F238E27FC236}">
                <a16:creationId xmlns:a16="http://schemas.microsoft.com/office/drawing/2014/main" id="{DAE5F39D-49D9-4975-90D2-A59426F3D7B0}"/>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Replays the same work</a:t>
            </a:r>
          </a:p>
        </p:txBody>
      </p:sp>
      <p:sp>
        <p:nvSpPr>
          <p:cNvPr id="23" name="">
            <a:extLst xmlns:a="http://schemas.openxmlformats.org/drawingml/2006/main">
              <a:ext uri="{FF2B5EF4-FFF2-40B4-BE49-F238E27FC236}">
                <a16:creationId xmlns:a16="http://schemas.microsoft.com/office/drawing/2014/main" id="{955D774E-BEA5-472A-BB95-E5D399D9E16D}"/>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CA2DB04E-7E11-46B5-861A-07C0BFC36570}"/>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CB91D8E6-DE63-4F49-AAF5-3C5B265EDE74}"/>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3457C70-6A44-4611-A850-13171EBAA625}"/>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Compare stores</a:t>
            </a:r>
          </a:p>
        </p:txBody>
      </p:sp>
      <p:sp>
        <p:nvSpPr>
          <p:cNvPr id="27" name="">
            <a:extLst xmlns:a="http://schemas.openxmlformats.org/drawingml/2006/main">
              <a:ext uri="{FF2B5EF4-FFF2-40B4-BE49-F238E27FC236}">
                <a16:creationId xmlns:a16="http://schemas.microsoft.com/office/drawing/2014/main" id="{E4CF15E6-AC35-45D7-9AD8-FAB0A6CDA7EB}"/>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 mismatch sets a sticky fault</a:t>
            </a:r>
          </a:p>
        </p:txBody>
      </p:sp>
      <p:sp>
        <p:nvSpPr>
          <p:cNvPr id="28" name="">
            <a:extLst xmlns:a="http://schemas.openxmlformats.org/drawingml/2006/main">
              <a:ext uri="{FF2B5EF4-FFF2-40B4-BE49-F238E27FC236}">
                <a16:creationId xmlns:a16="http://schemas.microsoft.com/office/drawing/2014/main" id="{1B49A9FC-5734-4806-932F-DB81C5E698A7}"/>
              </a:ext>
            </a:extLst>
          </p:cNvPr>
          <p:cNvSpPr>
            <a:spLocks xmlns:a="http://schemas.openxmlformats.org/drawingml/2006/main" noGrp="1"/>
          </p:cNvSpPr>
          <p:nvPr/>
        </p:nvSpPr>
        <p:spPr>
          <a:xfrm xmlns:a="http://schemas.openxmlformats.org/drawingml/2006/main">
            <a:off x="4572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37F26191-B319-476E-94E1-CB5DEA9923DD}"/>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40C2F21-4276-4084-893F-4249800E65B5}"/>
              </a:ext>
            </a:extLst>
          </p:cNvPr>
          <p:cNvSpPr>
            <a:spLocks xmlns:a="http://schemas.openxmlformats.org/drawingml/2006/main" noGrp="1"/>
          </p:cNvSpPr>
          <p:nvPr/>
        </p:nvSpPr>
        <p:spPr>
          <a:xfrm xmlns:a="http://schemas.openxmlformats.org/drawingml/2006/main">
            <a:off x="6858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Interrupts are safe</a:t>
            </a:r>
          </a:p>
        </p:txBody>
      </p:sp>
      <p:sp>
        <p:nvSpPr>
          <p:cNvPr id="31" name="">
            <a:extLst xmlns:a="http://schemas.openxmlformats.org/drawingml/2006/main">
              <a:ext uri="{FF2B5EF4-FFF2-40B4-BE49-F238E27FC236}">
                <a16:creationId xmlns:a16="http://schemas.microsoft.com/office/drawing/2014/main" id="{629C0698-D889-40DE-9405-36E37AF7038D}"/>
              </a:ext>
            </a:extLst>
          </p:cNvPr>
          <p:cNvSpPr>
            <a:spLocks xmlns:a="http://schemas.openxmlformats.org/drawingml/2006/main" noGrp="1"/>
          </p:cNvSpPr>
          <p:nvPr/>
        </p:nvSpPr>
        <p:spPr>
          <a:xfrm xmlns:a="http://schemas.openxmlformats.org/drawingml/2006/main">
            <a:off x="6858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One interrupt register feeds both cores, with the checker’s inputs delayed to match.</a:t>
            </a:r>
          </a:p>
        </p:txBody>
      </p:sp>
      <p:sp>
        <p:nvSpPr>
          <p:cNvPr id="32" name="">
            <a:extLst xmlns:a="http://schemas.openxmlformats.org/drawingml/2006/main">
              <a:ext uri="{FF2B5EF4-FFF2-40B4-BE49-F238E27FC236}">
                <a16:creationId xmlns:a16="http://schemas.microsoft.com/office/drawing/2014/main" id="{83B3A619-C75B-4CA5-8090-F2A233F8CD83}"/>
              </a:ext>
            </a:extLst>
          </p:cNvPr>
          <p:cNvSpPr>
            <a:spLocks xmlns:a="http://schemas.openxmlformats.org/drawingml/2006/main" noGrp="1"/>
          </p:cNvSpPr>
          <p:nvPr/>
        </p:nvSpPr>
        <p:spPr>
          <a:xfrm xmlns:a="http://schemas.openxmlformats.org/drawingml/2006/main">
            <a:off x="4305300" y="3143250"/>
            <a:ext cx="358140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782DC751-A9C2-4C49-B6B2-7B3454C88E27}"/>
              </a:ext>
            </a:extLst>
          </p:cNvPr>
          <p:cNvSpPr>
            <a:spLocks xmlns:a="http://schemas.openxmlformats.org/drawingml/2006/main" noGrp="1"/>
          </p:cNvSpPr>
          <p:nvPr/>
        </p:nvSpPr>
        <p:spPr>
          <a:xfrm xmlns:a="http://schemas.openxmlformats.org/drawingml/2006/main">
            <a:off x="43053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A0B944-406B-4642-AE32-9E9BEA1F4925}"/>
              </a:ext>
            </a:extLst>
          </p:cNvPr>
          <p:cNvSpPr>
            <a:spLocks xmlns:a="http://schemas.openxmlformats.org/drawingml/2006/main" noGrp="1"/>
          </p:cNvSpPr>
          <p:nvPr/>
        </p:nvSpPr>
        <p:spPr>
          <a:xfrm xmlns:a="http://schemas.openxmlformats.org/drawingml/2006/main">
            <a:off x="45339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Peripheral reads are safe</a:t>
            </a:r>
          </a:p>
        </p:txBody>
      </p:sp>
      <p:sp>
        <p:nvSpPr>
          <p:cNvPr id="35" name="">
            <a:extLst xmlns:a="http://schemas.openxmlformats.org/drawingml/2006/main">
              <a:ext uri="{FF2B5EF4-FFF2-40B4-BE49-F238E27FC236}">
                <a16:creationId xmlns:a16="http://schemas.microsoft.com/office/drawing/2014/main" id="{AD68A65D-4D1A-4C66-ABF8-BFD0C43D4A8A}"/>
              </a:ext>
            </a:extLst>
          </p:cNvPr>
          <p:cNvSpPr>
            <a:spLocks xmlns:a="http://schemas.openxmlformats.org/drawingml/2006/main" noGrp="1"/>
          </p:cNvSpPr>
          <p:nvPr/>
        </p:nvSpPr>
        <p:spPr>
          <a:xfrm xmlns:a="http://schemas.openxmlformats.org/drawingml/2006/main">
            <a:off x="4533900" y="3695700"/>
            <a:ext cx="312420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Firmware may branch on a peripheral read; the checker sees the same response.</a:t>
            </a:r>
          </a:p>
        </p:txBody>
      </p:sp>
      <p:sp>
        <p:nvSpPr>
          <p:cNvPr id="36" name="">
            <a:extLst xmlns:a="http://schemas.openxmlformats.org/drawingml/2006/main">
              <a:ext uri="{FF2B5EF4-FFF2-40B4-BE49-F238E27FC236}">
                <a16:creationId xmlns:a16="http://schemas.microsoft.com/office/drawing/2014/main" id="{B4B6B0D4-5837-47C1-A8E6-9B1769117211}"/>
              </a:ext>
            </a:extLst>
          </p:cNvPr>
          <p:cNvSpPr>
            <a:spLocks xmlns:a="http://schemas.openxmlformats.org/drawingml/2006/main" noGrp="1"/>
          </p:cNvSpPr>
          <p:nvPr/>
        </p:nvSpPr>
        <p:spPr>
          <a:xfrm xmlns:a="http://schemas.openxmlformats.org/drawingml/2006/main">
            <a:off x="8153400" y="3143250"/>
            <a:ext cx="35814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B4494A9D-0ADC-4D33-85EB-00C6F3521FE2}"/>
              </a:ext>
            </a:extLst>
          </p:cNvPr>
          <p:cNvSpPr>
            <a:spLocks xmlns:a="http://schemas.openxmlformats.org/drawingml/2006/main" noGrp="1"/>
          </p:cNvSpPr>
          <p:nvPr/>
        </p:nvSpPr>
        <p:spPr>
          <a:xfrm xmlns:a="http://schemas.openxmlformats.org/drawingml/2006/main">
            <a:off x="815340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569433A1-720E-43A0-AC21-D54466CB5A69}"/>
              </a:ext>
            </a:extLst>
          </p:cNvPr>
          <p:cNvSpPr>
            <a:spLocks xmlns:a="http://schemas.openxmlformats.org/drawingml/2006/main" noGrp="1"/>
          </p:cNvSpPr>
          <p:nvPr/>
        </p:nvSpPr>
        <p:spPr>
          <a:xfrm xmlns:a="http://schemas.openxmlformats.org/drawingml/2006/main">
            <a:off x="8382000" y="3333750"/>
            <a:ext cx="31623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Verified in simulation</a:t>
            </a:r>
          </a:p>
        </p:txBody>
      </p:sp>
      <p:sp>
        <p:nvSpPr>
          <p:cNvPr id="39" name="">
            <a:extLst xmlns:a="http://schemas.openxmlformats.org/drawingml/2006/main">
              <a:ext uri="{FF2B5EF4-FFF2-40B4-BE49-F238E27FC236}">
                <a16:creationId xmlns:a16="http://schemas.microsoft.com/office/drawing/2014/main" id="{65133F08-57D9-41C3-8144-ED2EEF4F15EE}"/>
              </a:ext>
            </a:extLst>
          </p:cNvPr>
          <p:cNvSpPr>
            <a:spLocks xmlns:a="http://schemas.openxmlformats.org/drawingml/2006/main" noGrp="1"/>
          </p:cNvSpPr>
          <p:nvPr/>
        </p:nvSpPr>
        <p:spPr>
          <a:xfrm xmlns:a="http://schemas.openxmlformats.org/drawingml/2006/main">
            <a:off x="8382000" y="3695700"/>
            <a:ext cx="31242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lockstep pair is verified under interrupts in simulation.</a:t>
            </a:r>
          </a:p>
        </p:txBody>
      </p:sp>
      <p:sp>
        <p:nvSpPr>
          <p:cNvPr id="40" name="">
            <a:extLst xmlns:a="http://schemas.openxmlformats.org/drawingml/2006/main">
              <a:ext uri="{FF2B5EF4-FFF2-40B4-BE49-F238E27FC236}">
                <a16:creationId xmlns:a16="http://schemas.microsoft.com/office/drawing/2014/main" id="{75818171-8E8E-4D2A-A826-CAAC29E373BB}"/>
              </a:ext>
            </a:extLst>
          </p:cNvPr>
          <p:cNvSpPr>
            <a:spLocks xmlns:a="http://schemas.openxmlformats.org/drawingml/2006/main" noGrp="1"/>
          </p:cNvSpPr>
          <p:nvPr/>
        </p:nvSpPr>
        <p:spPr>
          <a:xfrm xmlns:a="http://schemas.openxmlformats.org/drawingml/2006/main">
            <a:off x="457200" y="5334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A mismatch drives the FAULTn pad, so the fault reaches the board without firmware.</a:t>
            </a:r>
          </a:p>
        </p:txBody>
      </p:sp>
      <p:sp>
        <p:nvSpPr>
          <p:cNvPr id="41" name="">
            <a:extLst xmlns:a="http://schemas.openxmlformats.org/drawingml/2006/main">
              <a:ext uri="{FF2B5EF4-FFF2-40B4-BE49-F238E27FC236}">
                <a16:creationId xmlns:a16="http://schemas.microsoft.com/office/drawing/2014/main" id="{440968A5-E70C-4593-8D2E-B0A6D0731694}"/>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dual-core lockstep.</a:t>
            </a:r>
          </a:p>
        </p:txBody>
      </p:sp>
    </p:spTree>
    <p:extLst>
      <p:ext uri="{BB962C8B-B14F-4D97-AF65-F5344CB8AC3E}">
        <p14:creationId xmlns:p14="http://schemas.microsoft.com/office/powerpoint/2010/main" val="199905439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881ED714-2197-406D-9CE4-B9F0D75BD78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D21DE60-1861-4CB0-A87E-72A75C212BE3}"/>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05 · MEMORY AND FETCH</a:t>
            </a:r>
          </a:p>
        </p:txBody>
      </p:sp>
      <p:sp>
        <p:nvSpPr>
          <p:cNvPr id="3" name="">
            <a:extLst xmlns:a="http://schemas.openxmlformats.org/drawingml/2006/main">
              <a:ext uri="{FF2B5EF4-FFF2-40B4-BE49-F238E27FC236}">
                <a16:creationId xmlns:a16="http://schemas.microsoft.com/office/drawing/2014/main" id="{6B6FE49A-438F-404F-B767-6F9F4B658A3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Code runs from SRAM through a dedicated fetch port</a:t>
            </a:r>
          </a:p>
        </p:txBody>
      </p:sp>
      <p:sp>
        <p:nvSpPr>
          <p:cNvPr id="4" name="">
            <a:extLst xmlns:a="http://schemas.openxmlformats.org/drawingml/2006/main">
              <a:ext uri="{FF2B5EF4-FFF2-40B4-BE49-F238E27FC236}">
                <a16:creationId xmlns:a16="http://schemas.microsoft.com/office/drawing/2014/main" id="{3A43D632-925E-46C0-83A5-B8F4DD4A96AC}"/>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fetch path is separate from the data bus, so fetch never waits on data traffic</a:t>
            </a:r>
          </a:p>
        </p:txBody>
      </p:sp>
      <p:sp>
        <p:nvSpPr>
          <p:cNvPr id="5" name="">
            <a:extLst xmlns:a="http://schemas.openxmlformats.org/drawingml/2006/main">
              <a:ext uri="{FF2B5EF4-FFF2-40B4-BE49-F238E27FC236}">
                <a16:creationId xmlns:a16="http://schemas.microsoft.com/office/drawing/2014/main" id="{797F0BED-98CF-4AA5-A1A4-C68F290A5AD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7CDC4AD-A7F5-4F27-A20D-4023F8C51436}"/>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28CBAE0-CB6B-466F-95C2-FF058AA54C0A}"/>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02A36EB3-28D1-4AB4-9A35-5CC731CB97D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05</a:t>
            </a:r>
          </a:p>
        </p:txBody>
      </p:sp>
      <p:sp>
        <p:nvSpPr>
          <p:cNvPr id="9" name="">
            <a:extLst xmlns:a="http://schemas.openxmlformats.org/drawingml/2006/main">
              <a:ext uri="{FF2B5EF4-FFF2-40B4-BE49-F238E27FC236}">
                <a16:creationId xmlns:a16="http://schemas.microsoft.com/office/drawing/2014/main" id="{83E32F46-AB87-468D-AAEF-2F61D97E236F}"/>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C7DF6ED3-1D01-4E02-ABF4-57E3968EFBAA}"/>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827A084-715E-4AB5-8D7F-66F92C8676F8}"/>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Fetch decoder</a:t>
            </a:r>
          </a:p>
        </p:txBody>
      </p:sp>
      <p:sp>
        <p:nvSpPr>
          <p:cNvPr id="12" name="">
            <a:extLst xmlns:a="http://schemas.openxmlformats.org/drawingml/2006/main">
              <a:ext uri="{FF2B5EF4-FFF2-40B4-BE49-F238E27FC236}">
                <a16:creationId xmlns:a16="http://schemas.microsoft.com/office/drawing/2014/main" id="{D6E720F9-E4FD-4EAC-B077-B313190332DD}"/>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Routes each fetch by region</a:t>
            </a:r>
          </a:p>
        </p:txBody>
      </p:sp>
      <p:sp>
        <p:nvSpPr>
          <p:cNvPr id="13" name="">
            <a:extLst xmlns:a="http://schemas.openxmlformats.org/drawingml/2006/main">
              <a:ext uri="{FF2B5EF4-FFF2-40B4-BE49-F238E27FC236}">
                <a16:creationId xmlns:a16="http://schemas.microsoft.com/office/drawing/2014/main" id="{96371B0B-7EF9-430F-A0E8-7C57471F2434}"/>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26BD4543-3489-4D74-9205-AED5EA6A123F}"/>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B5A83051-AA4C-4578-AEEA-B3775CB078AC}"/>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8B67DF8-37C0-4CD4-A2B2-4BACBF186AF8}"/>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ROM or SRAM</a:t>
            </a:r>
          </a:p>
        </p:txBody>
      </p:sp>
      <p:sp>
        <p:nvSpPr>
          <p:cNvPr id="17" name="">
            <a:extLst xmlns:a="http://schemas.openxmlformats.org/drawingml/2006/main">
              <a:ext uri="{FF2B5EF4-FFF2-40B4-BE49-F238E27FC236}">
                <a16:creationId xmlns:a16="http://schemas.microsoft.com/office/drawing/2014/main" id="{A3CFF7F0-E69A-4AE3-9BCA-01B5CE9C05C9}"/>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Boot to ROM; application to SRAM port 1</a:t>
            </a:r>
          </a:p>
        </p:txBody>
      </p:sp>
      <p:sp>
        <p:nvSpPr>
          <p:cNvPr id="18" name="">
            <a:extLst xmlns:a="http://schemas.openxmlformats.org/drawingml/2006/main">
              <a:ext uri="{FF2B5EF4-FFF2-40B4-BE49-F238E27FC236}">
                <a16:creationId xmlns:a16="http://schemas.microsoft.com/office/drawing/2014/main" id="{8BB9C602-4967-4C57-95E0-214D743E7D84}"/>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0F718438-4816-4171-9263-77F26FBED30B}"/>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0" name="">
            <a:extLst xmlns:a="http://schemas.openxmlformats.org/drawingml/2006/main">
              <a:ext uri="{FF2B5EF4-FFF2-40B4-BE49-F238E27FC236}">
                <a16:creationId xmlns:a16="http://schemas.microsoft.com/office/drawing/2014/main" id="{04CBA795-A8F8-463B-BC89-C39EFE5D8022}"/>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28AA664-9B5C-464F-A20F-63F808FF3D46}"/>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Anything else</a:t>
            </a:r>
          </a:p>
        </p:txBody>
      </p:sp>
      <p:sp>
        <p:nvSpPr>
          <p:cNvPr id="22" name="">
            <a:extLst xmlns:a="http://schemas.openxmlformats.org/drawingml/2006/main">
              <a:ext uri="{FF2B5EF4-FFF2-40B4-BE49-F238E27FC236}">
                <a16:creationId xmlns:a16="http://schemas.microsoft.com/office/drawing/2014/main" id="{752E7BF7-0A4D-4ECA-891E-F8154BEB65BD}"/>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Bus error, then instruction fault</a:t>
            </a:r>
          </a:p>
        </p:txBody>
      </p:sp>
      <p:sp>
        <p:nvSpPr>
          <p:cNvPr id="23" name="">
            <a:extLst xmlns:a="http://schemas.openxmlformats.org/drawingml/2006/main">
              <a:ext uri="{FF2B5EF4-FFF2-40B4-BE49-F238E27FC236}">
                <a16:creationId xmlns:a16="http://schemas.microsoft.com/office/drawing/2014/main" id="{5E7E45CD-6B0C-4D33-B04B-3443E707F042}"/>
              </a:ext>
            </a:extLst>
          </p:cNvPr>
          <p:cNvSpPr>
            <a:spLocks xmlns:a="http://schemas.openxmlformats.org/drawingml/2006/main" noGrp="1"/>
          </p:cNvSpPr>
          <p:nvPr/>
        </p:nvSpPr>
        <p:spPr>
          <a:xfrm xmlns:a="http://schemas.openxmlformats.org/drawingml/2006/main">
            <a:off x="457200" y="31432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D784B22F-3AEC-4FE5-8D15-134424BB4E75}"/>
              </a:ext>
            </a:extLst>
          </p:cNvPr>
          <p:cNvSpPr>
            <a:spLocks xmlns:a="http://schemas.openxmlformats.org/drawingml/2006/main" noGrp="1"/>
          </p:cNvSpPr>
          <p:nvPr/>
        </p:nvSpPr>
        <p:spPr>
          <a:xfrm xmlns:a="http://schemas.openxmlformats.org/drawingml/2006/main">
            <a:off x="457200" y="3143250"/>
            <a:ext cx="57150" cy="14954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907C6D6-6EAF-45C6-89DA-D7B47652323F}"/>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Boot ROM</a:t>
            </a:r>
          </a:p>
        </p:txBody>
      </p:sp>
      <p:sp>
        <p:nvSpPr>
          <p:cNvPr id="26" name="">
            <a:extLst xmlns:a="http://schemas.openxmlformats.org/drawingml/2006/main">
              <a:ext uri="{FF2B5EF4-FFF2-40B4-BE49-F238E27FC236}">
                <a16:creationId xmlns:a16="http://schemas.microsoft.com/office/drawing/2014/main" id="{E12908F6-3585-44D1-B4EF-ACD21C885C2C}"/>
              </a:ext>
            </a:extLst>
          </p:cNvPr>
          <p:cNvSpPr>
            <a:spLocks xmlns:a="http://schemas.openxmlformats.org/drawingml/2006/main" noGrp="1"/>
          </p:cNvSpPr>
          <p:nvPr/>
        </p:nvSpPr>
        <p:spPr>
          <a:xfrm xmlns:a="http://schemas.openxmlformats.org/drawingml/2006/main">
            <a:off x="685800" y="36957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16,384 words of mask-programmed logic. Prints the banner, checks the flash header, copies the application and jumps.</a:t>
            </a:r>
          </a:p>
        </p:txBody>
      </p:sp>
      <p:sp>
        <p:nvSpPr>
          <p:cNvPr id="27" name="">
            <a:extLst xmlns:a="http://schemas.openxmlformats.org/drawingml/2006/main">
              <a:ext uri="{FF2B5EF4-FFF2-40B4-BE49-F238E27FC236}">
                <a16:creationId xmlns:a16="http://schemas.microsoft.com/office/drawing/2014/main" id="{6292B995-FBAC-4FEC-BBFE-B69D490E136B}"/>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FF55A2A4-E9F9-4A81-9741-990EE736455C}"/>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473FAC8-5117-453C-9F3D-A48C26594DE2}"/>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SRAM, 32 KB</a:t>
            </a:r>
          </a:p>
        </p:txBody>
      </p:sp>
      <p:sp>
        <p:nvSpPr>
          <p:cNvPr id="30" name="">
            <a:extLst xmlns:a="http://schemas.openxmlformats.org/drawingml/2006/main">
              <a:ext uri="{FF2B5EF4-FFF2-40B4-BE49-F238E27FC236}">
                <a16:creationId xmlns:a16="http://schemas.microsoft.com/office/drawing/2014/main" id="{01C01AB7-1FD3-41D4-8780-D9F1E2925DEA}"/>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16 × 2 KB dual-port macros: port 0 for CPU and DMA data, port 1 for instruction fetch.</a:t>
            </a:r>
          </a:p>
        </p:txBody>
      </p:sp>
      <p:sp>
        <p:nvSpPr>
          <p:cNvPr id="31" name="">
            <a:extLst xmlns:a="http://schemas.openxmlformats.org/drawingml/2006/main">
              <a:ext uri="{FF2B5EF4-FFF2-40B4-BE49-F238E27FC236}">
                <a16:creationId xmlns:a16="http://schemas.microsoft.com/office/drawing/2014/main" id="{EB48A945-E03A-4225-907F-D731914F72B9}"/>
              </a:ext>
            </a:extLst>
          </p:cNvPr>
          <p:cNvSpPr>
            <a:spLocks xmlns:a="http://schemas.openxmlformats.org/drawingml/2006/main" noGrp="1"/>
          </p:cNvSpPr>
          <p:nvPr/>
        </p:nvSpPr>
        <p:spPr>
          <a:xfrm xmlns:a="http://schemas.openxmlformats.org/drawingml/2006/main">
            <a:off x="457200" y="4953000"/>
            <a:ext cx="112776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1E293B"/>
                </a:solidFill>
                <a:latin typeface="Arial"/>
                <a:ea typeface="Arial"/>
                <a:cs typeface="Arial"/>
              </a:defRPr>
            </a:pPr>
            <a:r>
              <a:t>No valid flash header opens a UART monitor. The application installs its trap vector and enables interrupts.</a:t>
            </a:r>
          </a:p>
        </p:txBody>
      </p:sp>
      <p:sp>
        <p:nvSpPr>
          <p:cNvPr id="32" name="">
            <a:extLst xmlns:a="http://schemas.openxmlformats.org/drawingml/2006/main">
              <a:ext uri="{FF2B5EF4-FFF2-40B4-BE49-F238E27FC236}">
                <a16:creationId xmlns:a16="http://schemas.microsoft.com/office/drawing/2014/main" id="{FE69BCF8-9E6B-4E01-AA0C-DF1F8128D74B}"/>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fetch decoder, boot ROM, SRAM and boot flow.</a:t>
            </a:r>
          </a:p>
        </p:txBody>
      </p:sp>
    </p:spTree>
    <p:extLst>
      <p:ext uri="{BB962C8B-B14F-4D97-AF65-F5344CB8AC3E}">
        <p14:creationId xmlns:p14="http://schemas.microsoft.com/office/powerpoint/2010/main" val="50266564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9" name="">
            <a:extLst xmlns:a="http://schemas.openxmlformats.org/drawingml/2006/main">
              <a:ext uri="{FF2B5EF4-FFF2-40B4-BE49-F238E27FC236}">
                <a16:creationId xmlns:a16="http://schemas.microsoft.com/office/drawing/2014/main" id="{762FEF95-8A47-4A36-9F4F-AAA7240FED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402BC0-AF72-4AC2-B0A7-C3E0371A339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06 · ON-CHIP BUS</a:t>
            </a:r>
          </a:p>
        </p:txBody>
      </p:sp>
      <p:sp>
        <p:nvSpPr>
          <p:cNvPr id="3" name="">
            <a:extLst xmlns:a="http://schemas.openxmlformats.org/drawingml/2006/main">
              <a:ext uri="{FF2B5EF4-FFF2-40B4-BE49-F238E27FC236}">
                <a16:creationId xmlns:a16="http://schemas.microsoft.com/office/drawing/2014/main" id="{843066AB-0A77-43CE-B311-3AB52D17539C}"/>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One requester at a time, and no access hangs</a:t>
            </a:r>
          </a:p>
        </p:txBody>
      </p:sp>
      <p:sp>
        <p:nvSpPr>
          <p:cNvPr id="4" name="">
            <a:extLst xmlns:a="http://schemas.openxmlformats.org/drawingml/2006/main">
              <a:ext uri="{FF2B5EF4-FFF2-40B4-BE49-F238E27FC236}">
                <a16:creationId xmlns:a16="http://schemas.microsoft.com/office/drawing/2014/main" id="{5CA85D7D-7744-4AD6-A02E-64139E99351A}"/>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An AXI-lite bus with two masters and an error slave for every unanswered address</a:t>
            </a:r>
          </a:p>
        </p:txBody>
      </p:sp>
      <p:sp>
        <p:nvSpPr>
          <p:cNvPr id="5" name="">
            <a:extLst xmlns:a="http://schemas.openxmlformats.org/drawingml/2006/main">
              <a:ext uri="{FF2B5EF4-FFF2-40B4-BE49-F238E27FC236}">
                <a16:creationId xmlns:a16="http://schemas.microsoft.com/office/drawing/2014/main" id="{E6199FDB-CB06-4D15-A64A-12B867C2285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3FB945-CFAC-4B04-885F-B8EAD332C3D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69A4A69-3510-4307-98CA-28866B63DAAC}"/>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CD9D3429-6970-4E96-9A69-B15D0D3B744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06</a:t>
            </a:r>
          </a:p>
        </p:txBody>
      </p:sp>
      <p:sp>
        <p:nvSpPr>
          <p:cNvPr id="9" name="">
            <a:extLst xmlns:a="http://schemas.openxmlformats.org/drawingml/2006/main">
              <a:ext uri="{FF2B5EF4-FFF2-40B4-BE49-F238E27FC236}">
                <a16:creationId xmlns:a16="http://schemas.microsoft.com/office/drawing/2014/main" id="{C30EF84E-8489-4456-BA18-3F54A75BB45A}"/>
              </a:ext>
            </a:extLst>
          </p:cNvPr>
          <p:cNvSpPr>
            <a:spLocks xmlns:a="http://schemas.openxmlformats.org/drawingml/2006/main" noGrp="1"/>
          </p:cNvSpPr>
          <p:nvPr/>
        </p:nvSpPr>
        <p:spPr>
          <a:xfrm xmlns:a="http://schemas.openxmlformats.org/drawingml/2006/main">
            <a:off x="4572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0" name="">
            <a:extLst xmlns:a="http://schemas.openxmlformats.org/drawingml/2006/main">
              <a:ext uri="{FF2B5EF4-FFF2-40B4-BE49-F238E27FC236}">
                <a16:creationId xmlns:a16="http://schemas.microsoft.com/office/drawing/2014/main" id="{EF8AD115-677E-47B2-B32F-53D4DBBD2F81}"/>
              </a:ext>
            </a:extLst>
          </p:cNvPr>
          <p:cNvSpPr>
            <a:spLocks xmlns:a="http://schemas.openxmlformats.org/drawingml/2006/main" noGrp="1"/>
          </p:cNvSpPr>
          <p:nvPr/>
        </p:nvSpPr>
        <p:spPr>
          <a:xfrm xmlns:a="http://schemas.openxmlformats.org/drawingml/2006/main">
            <a:off x="457200" y="1695450"/>
            <a:ext cx="241935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5037341-C9A6-402B-9D79-3CEED2834DE8}"/>
              </a:ext>
            </a:extLst>
          </p:cNvPr>
          <p:cNvSpPr>
            <a:spLocks xmlns:a="http://schemas.openxmlformats.org/drawingml/2006/main" noGrp="1"/>
          </p:cNvSpPr>
          <p:nvPr/>
        </p:nvSpPr>
        <p:spPr>
          <a:xfrm xmlns:a="http://schemas.openxmlformats.org/drawingml/2006/main">
            <a:off x="5905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Two masters</a:t>
            </a:r>
          </a:p>
        </p:txBody>
      </p:sp>
      <p:sp>
        <p:nvSpPr>
          <p:cNvPr id="12" name="">
            <a:extLst xmlns:a="http://schemas.openxmlformats.org/drawingml/2006/main">
              <a:ext uri="{FF2B5EF4-FFF2-40B4-BE49-F238E27FC236}">
                <a16:creationId xmlns:a16="http://schemas.microsoft.com/office/drawing/2014/main" id="{B8EB4914-B284-4A87-96A6-86A13AB8D6AE}"/>
              </a:ext>
            </a:extLst>
          </p:cNvPr>
          <p:cNvSpPr>
            <a:spLocks xmlns:a="http://schemas.openxmlformats.org/drawingml/2006/main" noGrp="1"/>
          </p:cNvSpPr>
          <p:nvPr/>
        </p:nvSpPr>
        <p:spPr>
          <a:xfrm xmlns:a="http://schemas.openxmlformats.org/drawingml/2006/main">
            <a:off x="5905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CPU first, DMA second</a:t>
            </a:r>
          </a:p>
        </p:txBody>
      </p:sp>
      <p:sp>
        <p:nvSpPr>
          <p:cNvPr id="13" name="">
            <a:extLst xmlns:a="http://schemas.openxmlformats.org/drawingml/2006/main">
              <a:ext uri="{FF2B5EF4-FFF2-40B4-BE49-F238E27FC236}">
                <a16:creationId xmlns:a16="http://schemas.microsoft.com/office/drawing/2014/main" id="{3347A5A3-8B4D-4AEA-97F0-FFB43CC615C6}"/>
              </a:ext>
            </a:extLst>
          </p:cNvPr>
          <p:cNvSpPr>
            <a:spLocks xmlns:a="http://schemas.openxmlformats.org/drawingml/2006/main" noGrp="1"/>
          </p:cNvSpPr>
          <p:nvPr/>
        </p:nvSpPr>
        <p:spPr>
          <a:xfrm xmlns:a="http://schemas.openxmlformats.org/drawingml/2006/main">
            <a:off x="29813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01F3ABA1-159D-4848-9B61-A40F45A4C746}"/>
              </a:ext>
            </a:extLst>
          </p:cNvPr>
          <p:cNvSpPr>
            <a:spLocks xmlns:a="http://schemas.openxmlformats.org/drawingml/2006/main" noGrp="1"/>
          </p:cNvSpPr>
          <p:nvPr/>
        </p:nvSpPr>
        <p:spPr>
          <a:xfrm xmlns:a="http://schemas.openxmlformats.org/drawingml/2006/main">
            <a:off x="34099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5" name="">
            <a:extLst xmlns:a="http://schemas.openxmlformats.org/drawingml/2006/main">
              <a:ext uri="{FF2B5EF4-FFF2-40B4-BE49-F238E27FC236}">
                <a16:creationId xmlns:a16="http://schemas.microsoft.com/office/drawing/2014/main" id="{54F31B65-106C-45DD-8C1D-3BB8FC5339AB}"/>
              </a:ext>
            </a:extLst>
          </p:cNvPr>
          <p:cNvSpPr>
            <a:spLocks xmlns:a="http://schemas.openxmlformats.org/drawingml/2006/main" noGrp="1"/>
          </p:cNvSpPr>
          <p:nvPr/>
        </p:nvSpPr>
        <p:spPr>
          <a:xfrm xmlns:a="http://schemas.openxmlformats.org/drawingml/2006/main">
            <a:off x="340995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41B12EA-4D43-4BAB-84FA-C83688B3D1D7}"/>
              </a:ext>
            </a:extLst>
          </p:cNvPr>
          <p:cNvSpPr>
            <a:spLocks xmlns:a="http://schemas.openxmlformats.org/drawingml/2006/main" noGrp="1"/>
          </p:cNvSpPr>
          <p:nvPr/>
        </p:nvSpPr>
        <p:spPr>
          <a:xfrm xmlns:a="http://schemas.openxmlformats.org/drawingml/2006/main">
            <a:off x="35433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Target latched</a:t>
            </a:r>
          </a:p>
        </p:txBody>
      </p:sp>
      <p:sp>
        <p:nvSpPr>
          <p:cNvPr id="17" name="">
            <a:extLst xmlns:a="http://schemas.openxmlformats.org/drawingml/2006/main">
              <a:ext uri="{FF2B5EF4-FFF2-40B4-BE49-F238E27FC236}">
                <a16:creationId xmlns:a16="http://schemas.microsoft.com/office/drawing/2014/main" id="{32EFFFE0-3D37-4526-AE7B-AE1E6401FEAC}"/>
              </a:ext>
            </a:extLst>
          </p:cNvPr>
          <p:cNvSpPr>
            <a:spLocks xmlns:a="http://schemas.openxmlformats.org/drawingml/2006/main" noGrp="1"/>
          </p:cNvSpPr>
          <p:nvPr/>
        </p:nvSpPr>
        <p:spPr>
          <a:xfrm xmlns:a="http://schemas.openxmlformats.org/drawingml/2006/main">
            <a:off x="35433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Held from request to response</a:t>
            </a:r>
          </a:p>
        </p:txBody>
      </p:sp>
      <p:sp>
        <p:nvSpPr>
          <p:cNvPr id="18" name="">
            <a:extLst xmlns:a="http://schemas.openxmlformats.org/drawingml/2006/main">
              <a:ext uri="{FF2B5EF4-FFF2-40B4-BE49-F238E27FC236}">
                <a16:creationId xmlns:a16="http://schemas.microsoft.com/office/drawing/2014/main" id="{AB4B6957-4AE8-4210-A237-334DB52C269E}"/>
              </a:ext>
            </a:extLst>
          </p:cNvPr>
          <p:cNvSpPr>
            <a:spLocks xmlns:a="http://schemas.openxmlformats.org/drawingml/2006/main" noGrp="1"/>
          </p:cNvSpPr>
          <p:nvPr/>
        </p:nvSpPr>
        <p:spPr>
          <a:xfrm xmlns:a="http://schemas.openxmlformats.org/drawingml/2006/main">
            <a:off x="59340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F5105D83-E9EE-48E1-B6FB-D0CA205F2020}"/>
              </a:ext>
            </a:extLst>
          </p:cNvPr>
          <p:cNvSpPr>
            <a:spLocks xmlns:a="http://schemas.openxmlformats.org/drawingml/2006/main" noGrp="1"/>
          </p:cNvSpPr>
          <p:nvPr/>
        </p:nvSpPr>
        <p:spPr>
          <a:xfrm xmlns:a="http://schemas.openxmlformats.org/drawingml/2006/main">
            <a:off x="636270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3CF0E464-DB21-44EA-A467-D34A45616F89}"/>
              </a:ext>
            </a:extLst>
          </p:cNvPr>
          <p:cNvSpPr>
            <a:spLocks xmlns:a="http://schemas.openxmlformats.org/drawingml/2006/main" noGrp="1"/>
          </p:cNvSpPr>
          <p:nvPr/>
        </p:nvSpPr>
        <p:spPr>
          <a:xfrm xmlns:a="http://schemas.openxmlformats.org/drawingml/2006/main">
            <a:off x="6362700" y="1695450"/>
            <a:ext cx="241935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1A6D8CF-DE90-4E38-9A4D-A55B16A7CFBC}"/>
              </a:ext>
            </a:extLst>
          </p:cNvPr>
          <p:cNvSpPr>
            <a:spLocks xmlns:a="http://schemas.openxmlformats.org/drawingml/2006/main" noGrp="1"/>
          </p:cNvSpPr>
          <p:nvPr/>
        </p:nvSpPr>
        <p:spPr>
          <a:xfrm xmlns:a="http://schemas.openxmlformats.org/drawingml/2006/main">
            <a:off x="649605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32-bit slaves</a:t>
            </a:r>
          </a:p>
        </p:txBody>
      </p:sp>
      <p:sp>
        <p:nvSpPr>
          <p:cNvPr id="22" name="">
            <a:extLst xmlns:a="http://schemas.openxmlformats.org/drawingml/2006/main">
              <a:ext uri="{FF2B5EF4-FFF2-40B4-BE49-F238E27FC236}">
                <a16:creationId xmlns:a16="http://schemas.microsoft.com/office/drawing/2014/main" id="{3CF6F8EF-FEBF-4EBB-BB83-6F79FB83AA07}"/>
              </a:ext>
            </a:extLst>
          </p:cNvPr>
          <p:cNvSpPr>
            <a:spLocks xmlns:a="http://schemas.openxmlformats.org/drawingml/2006/main" noGrp="1"/>
          </p:cNvSpPr>
          <p:nvPr/>
        </p:nvSpPr>
        <p:spPr>
          <a:xfrm xmlns:a="http://schemas.openxmlformats.org/drawingml/2006/main">
            <a:off x="649605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Every block is a register slave</a:t>
            </a:r>
          </a:p>
        </p:txBody>
      </p:sp>
      <p:sp>
        <p:nvSpPr>
          <p:cNvPr id="23" name="">
            <a:extLst xmlns:a="http://schemas.openxmlformats.org/drawingml/2006/main">
              <a:ext uri="{FF2B5EF4-FFF2-40B4-BE49-F238E27FC236}">
                <a16:creationId xmlns:a16="http://schemas.microsoft.com/office/drawing/2014/main" id="{F0EC4160-8E91-4482-B534-C5E7C69F2923}"/>
              </a:ext>
            </a:extLst>
          </p:cNvPr>
          <p:cNvSpPr>
            <a:spLocks xmlns:a="http://schemas.openxmlformats.org/drawingml/2006/main" noGrp="1"/>
          </p:cNvSpPr>
          <p:nvPr/>
        </p:nvSpPr>
        <p:spPr>
          <a:xfrm xmlns:a="http://schemas.openxmlformats.org/drawingml/2006/main">
            <a:off x="888682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24" name="">
            <a:extLst xmlns:a="http://schemas.openxmlformats.org/drawingml/2006/main">
              <a:ext uri="{FF2B5EF4-FFF2-40B4-BE49-F238E27FC236}">
                <a16:creationId xmlns:a16="http://schemas.microsoft.com/office/drawing/2014/main" id="{7641D3C3-8932-4B9E-B604-AB57147258C0}"/>
              </a:ext>
            </a:extLst>
          </p:cNvPr>
          <p:cNvSpPr>
            <a:spLocks xmlns:a="http://schemas.openxmlformats.org/drawingml/2006/main" noGrp="1"/>
          </p:cNvSpPr>
          <p:nvPr/>
        </p:nvSpPr>
        <p:spPr>
          <a:xfrm xmlns:a="http://schemas.openxmlformats.org/drawingml/2006/main">
            <a:off x="9315450" y="1695450"/>
            <a:ext cx="241935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B42318"/>
            </a:solidFill>
            <a:prstDash val="solid"/>
          </a:ln>
        </p:spPr>
      </p:sp>
      <p:sp>
        <p:nvSpPr>
          <p:cNvPr id="25" name="">
            <a:extLst xmlns:a="http://schemas.openxmlformats.org/drawingml/2006/main">
              <a:ext uri="{FF2B5EF4-FFF2-40B4-BE49-F238E27FC236}">
                <a16:creationId xmlns:a16="http://schemas.microsoft.com/office/drawing/2014/main" id="{8DF98F09-624C-4416-9127-36A11AD14DF0}"/>
              </a:ext>
            </a:extLst>
          </p:cNvPr>
          <p:cNvSpPr>
            <a:spLocks xmlns:a="http://schemas.openxmlformats.org/drawingml/2006/main" noGrp="1"/>
          </p:cNvSpPr>
          <p:nvPr/>
        </p:nvSpPr>
        <p:spPr>
          <a:xfrm xmlns:a="http://schemas.openxmlformats.org/drawingml/2006/main">
            <a:off x="9315450" y="1695450"/>
            <a:ext cx="2419350" cy="47625"/>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0E80CE6-67A8-4276-9C52-504894825A42}"/>
              </a:ext>
            </a:extLst>
          </p:cNvPr>
          <p:cNvSpPr>
            <a:spLocks xmlns:a="http://schemas.openxmlformats.org/drawingml/2006/main" noGrp="1"/>
          </p:cNvSpPr>
          <p:nvPr/>
        </p:nvSpPr>
        <p:spPr>
          <a:xfrm xmlns:a="http://schemas.openxmlformats.org/drawingml/2006/main">
            <a:off x="9448800" y="1885950"/>
            <a:ext cx="215265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Error slave</a:t>
            </a:r>
          </a:p>
        </p:txBody>
      </p:sp>
      <p:sp>
        <p:nvSpPr>
          <p:cNvPr id="27" name="">
            <a:extLst xmlns:a="http://schemas.openxmlformats.org/drawingml/2006/main">
              <a:ext uri="{FF2B5EF4-FFF2-40B4-BE49-F238E27FC236}">
                <a16:creationId xmlns:a16="http://schemas.microsoft.com/office/drawing/2014/main" id="{689DE4B9-D6E1-4678-8488-FA3488CB99A0}"/>
              </a:ext>
            </a:extLst>
          </p:cNvPr>
          <p:cNvSpPr>
            <a:spLocks xmlns:a="http://schemas.openxmlformats.org/drawingml/2006/main" noGrp="1"/>
          </p:cNvSpPr>
          <p:nvPr/>
        </p:nvSpPr>
        <p:spPr>
          <a:xfrm xmlns:a="http://schemas.openxmlformats.org/drawingml/2006/main">
            <a:off x="9448800" y="2171700"/>
            <a:ext cx="215265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Answers gated or undecoded slots</a:t>
            </a:r>
          </a:p>
        </p:txBody>
      </p:sp>
      <p:sp>
        <p:nvSpPr>
          <p:cNvPr id="28" name="">
            <a:extLst xmlns:a="http://schemas.openxmlformats.org/drawingml/2006/main">
              <a:ext uri="{FF2B5EF4-FFF2-40B4-BE49-F238E27FC236}">
                <a16:creationId xmlns:a16="http://schemas.microsoft.com/office/drawing/2014/main" id="{CD69096F-8757-4995-9A1E-7776EFB06226}"/>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C049E068-D151-48EA-A78B-C94FBFE2061A}"/>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3FACE07D-A293-461D-B54C-70CAF758F674}"/>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Gated means absent</a:t>
            </a:r>
          </a:p>
        </p:txBody>
      </p:sp>
      <p:sp>
        <p:nvSpPr>
          <p:cNvPr id="31" name="">
            <a:extLst xmlns:a="http://schemas.openxmlformats.org/drawingml/2006/main">
              <a:ext uri="{FF2B5EF4-FFF2-40B4-BE49-F238E27FC236}">
                <a16:creationId xmlns:a16="http://schemas.microsoft.com/office/drawing/2014/main" id="{18830757-91B8-469F-9556-4FD90FBC4F9C}"/>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clock-gated peripheral decodes to the error slave, except in test mode.</a:t>
            </a:r>
          </a:p>
        </p:txBody>
      </p:sp>
      <p:sp>
        <p:nvSpPr>
          <p:cNvPr id="32" name="">
            <a:extLst xmlns:a="http://schemas.openxmlformats.org/drawingml/2006/main">
              <a:ext uri="{FF2B5EF4-FFF2-40B4-BE49-F238E27FC236}">
                <a16:creationId xmlns:a16="http://schemas.microsoft.com/office/drawing/2014/main" id="{087BE8EA-79BC-47C4-8F59-5A870357A0B0}"/>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F11FFB65-3AE0-4E45-8494-B7E9CDDE2A73}"/>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F21A54B1-EA63-44C5-8DF6-A16784938E99}"/>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Flash is a data window</a:t>
            </a:r>
          </a:p>
        </p:txBody>
      </p:sp>
      <p:sp>
        <p:nvSpPr>
          <p:cNvPr id="35" name="">
            <a:extLst xmlns:a="http://schemas.openxmlformats.org/drawingml/2006/main">
              <a:ext uri="{FF2B5EF4-FFF2-40B4-BE49-F238E27FC236}">
                <a16:creationId xmlns:a16="http://schemas.microsoft.com/office/drawing/2014/main" id="{5C022B71-8155-4855-AED3-4879886CB035}"/>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QSPI window serves data; the ROM copies code into SRAM.</a:t>
            </a:r>
          </a:p>
        </p:txBody>
      </p:sp>
      <p:sp>
        <p:nvSpPr>
          <p:cNvPr id="36" name="">
            <a:extLst xmlns:a="http://schemas.openxmlformats.org/drawingml/2006/main">
              <a:ext uri="{FF2B5EF4-FFF2-40B4-BE49-F238E27FC236}">
                <a16:creationId xmlns:a16="http://schemas.microsoft.com/office/drawing/2014/main" id="{9C786080-A9E2-4578-985C-A2621F8073ED}"/>
              </a:ext>
            </a:extLst>
          </p:cNvPr>
          <p:cNvSpPr>
            <a:spLocks xmlns:a="http://schemas.openxmlformats.org/drawingml/2006/main" noGrp="1"/>
          </p:cNvSpPr>
          <p:nvPr/>
        </p:nvSpPr>
        <p:spPr>
          <a:xfrm xmlns:a="http://schemas.openxmlformats.org/drawingml/2006/main">
            <a:off x="4572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577D3E60-4644-40DB-81F9-A8F355EE51A3}"/>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2</a:t>
            </a:r>
          </a:p>
        </p:txBody>
      </p:sp>
      <p:sp>
        <p:nvSpPr>
          <p:cNvPr id="38" name="">
            <a:extLst xmlns:a="http://schemas.openxmlformats.org/drawingml/2006/main">
              <a:ext uri="{FF2B5EF4-FFF2-40B4-BE49-F238E27FC236}">
                <a16:creationId xmlns:a16="http://schemas.microsoft.com/office/drawing/2014/main" id="{30F3BF75-7685-49CC-A794-AAA45D1EC329}"/>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BUS MASTERS</a:t>
            </a:r>
          </a:p>
        </p:txBody>
      </p:sp>
      <p:sp>
        <p:nvSpPr>
          <p:cNvPr id="39" name="">
            <a:extLst xmlns:a="http://schemas.openxmlformats.org/drawingml/2006/main">
              <a:ext uri="{FF2B5EF4-FFF2-40B4-BE49-F238E27FC236}">
                <a16:creationId xmlns:a16="http://schemas.microsoft.com/office/drawing/2014/main" id="{9ECED353-7D25-454B-8D8A-83DA82818958}"/>
              </a:ext>
            </a:extLst>
          </p:cNvPr>
          <p:cNvSpPr>
            <a:spLocks xmlns:a="http://schemas.openxmlformats.org/drawingml/2006/main" noGrp="1"/>
          </p:cNvSpPr>
          <p:nvPr/>
        </p:nvSpPr>
        <p:spPr>
          <a:xfrm xmlns:a="http://schemas.openxmlformats.org/drawingml/2006/main">
            <a:off x="5905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The CPU has priority over the DMA</a:t>
            </a:r>
          </a:p>
        </p:txBody>
      </p:sp>
      <p:sp>
        <p:nvSpPr>
          <p:cNvPr id="40" name="">
            <a:extLst xmlns:a="http://schemas.openxmlformats.org/drawingml/2006/main">
              <a:ext uri="{FF2B5EF4-FFF2-40B4-BE49-F238E27FC236}">
                <a16:creationId xmlns:a16="http://schemas.microsoft.com/office/drawing/2014/main" id="{3DF6B319-85BF-417E-B3F6-7091D722DEA5}"/>
              </a:ext>
            </a:extLst>
          </p:cNvPr>
          <p:cNvSpPr>
            <a:spLocks xmlns:a="http://schemas.openxmlformats.org/drawingml/2006/main" noGrp="1"/>
          </p:cNvSpPr>
          <p:nvPr/>
        </p:nvSpPr>
        <p:spPr>
          <a:xfrm xmlns:a="http://schemas.openxmlformats.org/drawingml/2006/main">
            <a:off x="43053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B50B9AA7-0536-4AEA-AA5C-578DC82B5AB6}"/>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32-bit</a:t>
            </a:r>
          </a:p>
        </p:txBody>
      </p:sp>
      <p:sp>
        <p:nvSpPr>
          <p:cNvPr id="42" name="">
            <a:extLst xmlns:a="http://schemas.openxmlformats.org/drawingml/2006/main">
              <a:ext uri="{FF2B5EF4-FFF2-40B4-BE49-F238E27FC236}">
                <a16:creationId xmlns:a16="http://schemas.microsoft.com/office/drawing/2014/main" id="{B9ACAF96-BE0C-4F94-9A7A-BFFE45A22A05}"/>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REGISTER SLAVES</a:t>
            </a:r>
          </a:p>
        </p:txBody>
      </p:sp>
      <p:sp>
        <p:nvSpPr>
          <p:cNvPr id="43" name="">
            <a:extLst xmlns:a="http://schemas.openxmlformats.org/drawingml/2006/main">
              <a:ext uri="{FF2B5EF4-FFF2-40B4-BE49-F238E27FC236}">
                <a16:creationId xmlns:a16="http://schemas.microsoft.com/office/drawing/2014/main" id="{D3D19397-89DD-4C24-BD6F-45D86F0B4A75}"/>
              </a:ext>
            </a:extLst>
          </p:cNvPr>
          <p:cNvSpPr>
            <a:spLocks xmlns:a="http://schemas.openxmlformats.org/drawingml/2006/main" noGrp="1"/>
          </p:cNvSpPr>
          <p:nvPr/>
        </p:nvSpPr>
        <p:spPr>
          <a:xfrm xmlns:a="http://schemas.openxmlformats.org/drawingml/2006/main">
            <a:off x="44386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peripheral on the bus</a:t>
            </a:r>
          </a:p>
        </p:txBody>
      </p:sp>
      <p:sp>
        <p:nvSpPr>
          <p:cNvPr id="44" name="">
            <a:extLst xmlns:a="http://schemas.openxmlformats.org/drawingml/2006/main">
              <a:ext uri="{FF2B5EF4-FFF2-40B4-BE49-F238E27FC236}">
                <a16:creationId xmlns:a16="http://schemas.microsoft.com/office/drawing/2014/main" id="{B0DC994C-8054-49E2-B67F-464572FC3920}"/>
              </a:ext>
            </a:extLst>
          </p:cNvPr>
          <p:cNvSpPr>
            <a:spLocks xmlns:a="http://schemas.openxmlformats.org/drawingml/2006/main" noGrp="1"/>
          </p:cNvSpPr>
          <p:nvPr/>
        </p:nvSpPr>
        <p:spPr>
          <a:xfrm xmlns:a="http://schemas.openxmlformats.org/drawingml/2006/main">
            <a:off x="81534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D0BE8879-16BD-4907-9E28-A8982216C263}"/>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Error</a:t>
            </a:r>
          </a:p>
        </p:txBody>
      </p:sp>
      <p:sp>
        <p:nvSpPr>
          <p:cNvPr id="46" name="">
            <a:extLst xmlns:a="http://schemas.openxmlformats.org/drawingml/2006/main">
              <a:ext uri="{FF2B5EF4-FFF2-40B4-BE49-F238E27FC236}">
                <a16:creationId xmlns:a16="http://schemas.microsoft.com/office/drawing/2014/main" id="{7E5B34B1-477C-49C7-A792-ED4A3B7B7BF8}"/>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FOR UNANSWERED SLOTS</a:t>
            </a:r>
          </a:p>
        </p:txBody>
      </p:sp>
      <p:sp>
        <p:nvSpPr>
          <p:cNvPr id="47" name="">
            <a:extLst xmlns:a="http://schemas.openxmlformats.org/drawingml/2006/main">
              <a:ext uri="{FF2B5EF4-FFF2-40B4-BE49-F238E27FC236}">
                <a16:creationId xmlns:a16="http://schemas.microsoft.com/office/drawing/2014/main" id="{9C5ECBC3-96EF-4CAE-8E1E-DBD986C717A8}"/>
              </a:ext>
            </a:extLst>
          </p:cNvPr>
          <p:cNvSpPr>
            <a:spLocks xmlns:a="http://schemas.openxmlformats.org/drawingml/2006/main" noGrp="1"/>
          </p:cNvSpPr>
          <p:nvPr/>
        </p:nvSpPr>
        <p:spPr>
          <a:xfrm xmlns:a="http://schemas.openxmlformats.org/drawingml/2006/main">
            <a:off x="82867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By design, no access hangs</a:t>
            </a:r>
          </a:p>
        </p:txBody>
      </p:sp>
      <p:sp>
        <p:nvSpPr>
          <p:cNvPr id="48" name="">
            <a:extLst xmlns:a="http://schemas.openxmlformats.org/drawingml/2006/main">
              <a:ext uri="{FF2B5EF4-FFF2-40B4-BE49-F238E27FC236}">
                <a16:creationId xmlns:a16="http://schemas.microsoft.com/office/drawing/2014/main" id="{5BFB42CC-A45E-4C5C-AED5-B206A104A1D3}"/>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AXI-lite bus.</a:t>
            </a:r>
          </a:p>
        </p:txBody>
      </p:sp>
    </p:spTree>
    <p:extLst>
      <p:ext uri="{BB962C8B-B14F-4D97-AF65-F5344CB8AC3E}">
        <p14:creationId xmlns:p14="http://schemas.microsoft.com/office/powerpoint/2010/main" val="38269720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88" name="">
            <a:extLst xmlns:a="http://schemas.openxmlformats.org/drawingml/2006/main">
              <a:ext uri="{FF2B5EF4-FFF2-40B4-BE49-F238E27FC236}">
                <a16:creationId xmlns:a16="http://schemas.microsoft.com/office/drawing/2014/main" id="{B73019EF-0366-4948-9DE3-F3C9DC60711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C4ACAA-1E8D-444C-92F7-10E7551B97CF}"/>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07 · BLOCKS ON THE BUS</a:t>
            </a:r>
          </a:p>
        </p:txBody>
      </p:sp>
      <p:sp>
        <p:nvSpPr>
          <p:cNvPr id="3" name="">
            <a:extLst xmlns:a="http://schemas.openxmlformats.org/drawingml/2006/main">
              <a:ext uri="{FF2B5EF4-FFF2-40B4-BE49-F238E27FC236}">
                <a16:creationId xmlns:a16="http://schemas.microsoft.com/office/drawing/2014/main" id="{9E828E09-2A33-455F-98C6-6DB5A503BAC0}"/>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Eighteen blocks sit around the bus</a:t>
            </a:r>
          </a:p>
        </p:txBody>
      </p:sp>
      <p:sp>
        <p:nvSpPr>
          <p:cNvPr id="4" name="">
            <a:extLst xmlns:a="http://schemas.openxmlformats.org/drawingml/2006/main">
              <a:ext uri="{FF2B5EF4-FFF2-40B4-BE49-F238E27FC236}">
                <a16:creationId xmlns:a16="http://schemas.microsoft.com/office/drawing/2014/main" id="{7A6121EB-A662-4C82-B94D-4A5C4DCA224E}"/>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peripheral is a 32-bit register slave on the same AXI-lite bus</a:t>
            </a:r>
          </a:p>
        </p:txBody>
      </p:sp>
      <p:sp>
        <p:nvSpPr>
          <p:cNvPr id="5" name="">
            <a:extLst xmlns:a="http://schemas.openxmlformats.org/drawingml/2006/main">
              <a:ext uri="{FF2B5EF4-FFF2-40B4-BE49-F238E27FC236}">
                <a16:creationId xmlns:a16="http://schemas.microsoft.com/office/drawing/2014/main" id="{C0AB3D8A-A8D4-43E1-8099-AA218CA099AD}"/>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9A1ED22-09E5-4178-B84A-077F6CE6CDAE}"/>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BAD522CC-CDAE-4ABB-9204-4D17BF350A0D}"/>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E7D8E20A-4D44-4169-ABD6-AE05FD10ACC3}"/>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07</a:t>
            </a:r>
          </a:p>
        </p:txBody>
      </p:sp>
      <p:sp>
        <p:nvSpPr>
          <p:cNvPr id="9" name="">
            <a:extLst xmlns:a="http://schemas.openxmlformats.org/drawingml/2006/main">
              <a:ext uri="{FF2B5EF4-FFF2-40B4-BE49-F238E27FC236}">
                <a16:creationId xmlns:a16="http://schemas.microsoft.com/office/drawing/2014/main" id="{22B9F807-EB09-45AB-9563-E9FEDCBC0712}"/>
              </a:ext>
            </a:extLst>
          </p:cNvPr>
          <p:cNvSpPr>
            <a:spLocks xmlns:a="http://schemas.openxmlformats.org/drawingml/2006/main" noGrp="1"/>
          </p:cNvSpPr>
          <p:nvPr/>
        </p:nvSpPr>
        <p:spPr>
          <a:xfrm xmlns:a="http://schemas.openxmlformats.org/drawingml/2006/main">
            <a:off x="45720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0" name="">
            <a:extLst xmlns:a="http://schemas.openxmlformats.org/drawingml/2006/main">
              <a:ext uri="{FF2B5EF4-FFF2-40B4-BE49-F238E27FC236}">
                <a16:creationId xmlns:a16="http://schemas.microsoft.com/office/drawing/2014/main" id="{C18ECDB0-B251-4ED3-BF8B-C147F1AB8980}"/>
              </a:ext>
            </a:extLst>
          </p:cNvPr>
          <p:cNvSpPr>
            <a:spLocks xmlns:a="http://schemas.openxmlformats.org/drawingml/2006/main" noGrp="1"/>
          </p:cNvSpPr>
          <p:nvPr/>
        </p:nvSpPr>
        <p:spPr>
          <a:xfrm xmlns:a="http://schemas.openxmlformats.org/drawingml/2006/main">
            <a:off x="45720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3D4AE8B-7DB8-4454-93AB-11A0FEE8A05C}"/>
              </a:ext>
            </a:extLst>
          </p:cNvPr>
          <p:cNvSpPr>
            <a:spLocks xmlns:a="http://schemas.openxmlformats.org/drawingml/2006/main" noGrp="1"/>
          </p:cNvSpPr>
          <p:nvPr/>
        </p:nvSpPr>
        <p:spPr>
          <a:xfrm xmlns:a="http://schemas.openxmlformats.org/drawingml/2006/main">
            <a:off x="57150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UART0 · UART1</a:t>
            </a:r>
          </a:p>
        </p:txBody>
      </p:sp>
      <p:sp>
        <p:nvSpPr>
          <p:cNvPr id="12" name="">
            <a:extLst xmlns:a="http://schemas.openxmlformats.org/drawingml/2006/main">
              <a:ext uri="{FF2B5EF4-FFF2-40B4-BE49-F238E27FC236}">
                <a16:creationId xmlns:a16="http://schemas.microsoft.com/office/drawing/2014/main" id="{F6620AB1-E16C-4D18-BD27-99EF46346A9F}"/>
              </a:ext>
            </a:extLst>
          </p:cNvPr>
          <p:cNvSpPr>
            <a:spLocks xmlns:a="http://schemas.openxmlformats.org/drawingml/2006/main" noGrp="1"/>
          </p:cNvSpPr>
          <p:nvPr/>
        </p:nvSpPr>
        <p:spPr>
          <a:xfrm xmlns:a="http://schemas.openxmlformats.org/drawingml/2006/main">
            <a:off x="57150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115,200 baud; UART0 is the console</a:t>
            </a:r>
          </a:p>
        </p:txBody>
      </p:sp>
      <p:sp>
        <p:nvSpPr>
          <p:cNvPr id="13" name="">
            <a:extLst xmlns:a="http://schemas.openxmlformats.org/drawingml/2006/main">
              <a:ext uri="{FF2B5EF4-FFF2-40B4-BE49-F238E27FC236}">
                <a16:creationId xmlns:a16="http://schemas.microsoft.com/office/drawing/2014/main" id="{63D944F3-1163-4036-AA51-6C272255ABC4}"/>
              </a:ext>
            </a:extLst>
          </p:cNvPr>
          <p:cNvSpPr>
            <a:spLocks xmlns:a="http://schemas.openxmlformats.org/drawingml/2006/main" noGrp="1"/>
          </p:cNvSpPr>
          <p:nvPr/>
        </p:nvSpPr>
        <p:spPr>
          <a:xfrm xmlns:a="http://schemas.openxmlformats.org/drawingml/2006/main">
            <a:off x="235839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6D33545D-08A3-4A04-AA2E-A267D2613F88}"/>
              </a:ext>
            </a:extLst>
          </p:cNvPr>
          <p:cNvSpPr>
            <a:spLocks xmlns:a="http://schemas.openxmlformats.org/drawingml/2006/main" noGrp="1"/>
          </p:cNvSpPr>
          <p:nvPr/>
        </p:nvSpPr>
        <p:spPr>
          <a:xfrm xmlns:a="http://schemas.openxmlformats.org/drawingml/2006/main">
            <a:off x="235839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BC85A6-6FE5-4CFD-8B73-DB5931DCBA36}"/>
              </a:ext>
            </a:extLst>
          </p:cNvPr>
          <p:cNvSpPr>
            <a:spLocks xmlns:a="http://schemas.openxmlformats.org/drawingml/2006/main" noGrp="1"/>
          </p:cNvSpPr>
          <p:nvPr/>
        </p:nvSpPr>
        <p:spPr>
          <a:xfrm xmlns:a="http://schemas.openxmlformats.org/drawingml/2006/main">
            <a:off x="247269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 master</a:t>
            </a:r>
          </a:p>
        </p:txBody>
      </p:sp>
      <p:sp>
        <p:nvSpPr>
          <p:cNvPr id="16" name="">
            <a:extLst xmlns:a="http://schemas.openxmlformats.org/drawingml/2006/main">
              <a:ext uri="{FF2B5EF4-FFF2-40B4-BE49-F238E27FC236}">
                <a16:creationId xmlns:a16="http://schemas.microsoft.com/office/drawing/2014/main" id="{896F06C7-BC6F-46D7-9B67-DDC6D6D7562C}"/>
              </a:ext>
            </a:extLst>
          </p:cNvPr>
          <p:cNvSpPr>
            <a:spLocks xmlns:a="http://schemas.openxmlformats.org/drawingml/2006/main" noGrp="1"/>
          </p:cNvSpPr>
          <p:nvPr/>
        </p:nvSpPr>
        <p:spPr>
          <a:xfrm xmlns:a="http://schemas.openxmlformats.org/drawingml/2006/main">
            <a:off x="247269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Up to 25 MHz</a:t>
            </a:r>
          </a:p>
        </p:txBody>
      </p:sp>
      <p:sp>
        <p:nvSpPr>
          <p:cNvPr id="17" name="">
            <a:extLst xmlns:a="http://schemas.openxmlformats.org/drawingml/2006/main">
              <a:ext uri="{FF2B5EF4-FFF2-40B4-BE49-F238E27FC236}">
                <a16:creationId xmlns:a16="http://schemas.microsoft.com/office/drawing/2014/main" id="{8A54E1F9-3A8E-4A78-BA62-300AC6E95FD4}"/>
              </a:ext>
            </a:extLst>
          </p:cNvPr>
          <p:cNvSpPr>
            <a:spLocks xmlns:a="http://schemas.openxmlformats.org/drawingml/2006/main" noGrp="1"/>
          </p:cNvSpPr>
          <p:nvPr/>
        </p:nvSpPr>
        <p:spPr>
          <a:xfrm xmlns:a="http://schemas.openxmlformats.org/drawingml/2006/main">
            <a:off x="425958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121D0E4D-09E7-4264-98D8-DEF3A785A63B}"/>
              </a:ext>
            </a:extLst>
          </p:cNvPr>
          <p:cNvSpPr>
            <a:spLocks xmlns:a="http://schemas.openxmlformats.org/drawingml/2006/main" noGrp="1"/>
          </p:cNvSpPr>
          <p:nvPr/>
        </p:nvSpPr>
        <p:spPr>
          <a:xfrm xmlns:a="http://schemas.openxmlformats.org/drawingml/2006/main">
            <a:off x="425958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72A5E76-9813-4445-874A-DA159258461A}"/>
              </a:ext>
            </a:extLst>
          </p:cNvPr>
          <p:cNvSpPr>
            <a:spLocks xmlns:a="http://schemas.openxmlformats.org/drawingml/2006/main" noGrp="1"/>
          </p:cNvSpPr>
          <p:nvPr/>
        </p:nvSpPr>
        <p:spPr>
          <a:xfrm xmlns:a="http://schemas.openxmlformats.org/drawingml/2006/main">
            <a:off x="437388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 master</a:t>
            </a:r>
          </a:p>
        </p:txBody>
      </p:sp>
      <p:sp>
        <p:nvSpPr>
          <p:cNvPr id="20" name="">
            <a:extLst xmlns:a="http://schemas.openxmlformats.org/drawingml/2006/main">
              <a:ext uri="{FF2B5EF4-FFF2-40B4-BE49-F238E27FC236}">
                <a16:creationId xmlns:a16="http://schemas.microsoft.com/office/drawing/2014/main" id="{BEDCD45C-EDED-4375-AFF1-54697EDBEAE8}"/>
              </a:ext>
            </a:extLst>
          </p:cNvPr>
          <p:cNvSpPr>
            <a:spLocks xmlns:a="http://schemas.openxmlformats.org/drawingml/2006/main" noGrp="1"/>
          </p:cNvSpPr>
          <p:nvPr/>
        </p:nvSpPr>
        <p:spPr>
          <a:xfrm xmlns:a="http://schemas.openxmlformats.org/drawingml/2006/main">
            <a:off x="437388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100 / 400 kHz, 1–4 bytes</a:t>
            </a:r>
          </a:p>
        </p:txBody>
      </p:sp>
      <p:sp>
        <p:nvSpPr>
          <p:cNvPr id="21" name="">
            <a:extLst xmlns:a="http://schemas.openxmlformats.org/drawingml/2006/main">
              <a:ext uri="{FF2B5EF4-FFF2-40B4-BE49-F238E27FC236}">
                <a16:creationId xmlns:a16="http://schemas.microsoft.com/office/drawing/2014/main" id="{6FF7E8D5-B0A4-4EEF-96B2-49634D41BB8A}"/>
              </a:ext>
            </a:extLst>
          </p:cNvPr>
          <p:cNvSpPr>
            <a:spLocks xmlns:a="http://schemas.openxmlformats.org/drawingml/2006/main" noGrp="1"/>
          </p:cNvSpPr>
          <p:nvPr/>
        </p:nvSpPr>
        <p:spPr>
          <a:xfrm xmlns:a="http://schemas.openxmlformats.org/drawingml/2006/main">
            <a:off x="616077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22" name="">
            <a:extLst xmlns:a="http://schemas.openxmlformats.org/drawingml/2006/main">
              <a:ext uri="{FF2B5EF4-FFF2-40B4-BE49-F238E27FC236}">
                <a16:creationId xmlns:a16="http://schemas.microsoft.com/office/drawing/2014/main" id="{356E64D9-CCA2-49F5-A627-BCF64FEC3131}"/>
              </a:ext>
            </a:extLst>
          </p:cNvPr>
          <p:cNvSpPr>
            <a:spLocks xmlns:a="http://schemas.openxmlformats.org/drawingml/2006/main" noGrp="1"/>
          </p:cNvSpPr>
          <p:nvPr/>
        </p:nvSpPr>
        <p:spPr>
          <a:xfrm xmlns:a="http://schemas.openxmlformats.org/drawingml/2006/main">
            <a:off x="616077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9C05986-9280-43EF-8B2B-7F3081EB7EA3}"/>
              </a:ext>
            </a:extLst>
          </p:cNvPr>
          <p:cNvSpPr>
            <a:spLocks xmlns:a="http://schemas.openxmlformats.org/drawingml/2006/main" noGrp="1"/>
          </p:cNvSpPr>
          <p:nvPr/>
        </p:nvSpPr>
        <p:spPr>
          <a:xfrm xmlns:a="http://schemas.openxmlformats.org/drawingml/2006/main">
            <a:off x="627507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 window</a:t>
            </a:r>
          </a:p>
        </p:txBody>
      </p:sp>
      <p:sp>
        <p:nvSpPr>
          <p:cNvPr id="24" name="">
            <a:extLst xmlns:a="http://schemas.openxmlformats.org/drawingml/2006/main">
              <a:ext uri="{FF2B5EF4-FFF2-40B4-BE49-F238E27FC236}">
                <a16:creationId xmlns:a16="http://schemas.microsoft.com/office/drawing/2014/main" id="{946FFFF1-281F-4458-A09D-11F0CF19B926}"/>
              </a:ext>
            </a:extLst>
          </p:cNvPr>
          <p:cNvSpPr>
            <a:spLocks xmlns:a="http://schemas.openxmlformats.org/drawingml/2006/main" noGrp="1"/>
          </p:cNvSpPr>
          <p:nvPr/>
        </p:nvSpPr>
        <p:spPr>
          <a:xfrm xmlns:a="http://schemas.openxmlformats.org/drawingml/2006/main">
            <a:off x="627507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NOR flash and PSRAM</a:t>
            </a:r>
          </a:p>
        </p:txBody>
      </p:sp>
      <p:sp>
        <p:nvSpPr>
          <p:cNvPr id="25" name="">
            <a:extLst xmlns:a="http://schemas.openxmlformats.org/drawingml/2006/main">
              <a:ext uri="{FF2B5EF4-FFF2-40B4-BE49-F238E27FC236}">
                <a16:creationId xmlns:a16="http://schemas.microsoft.com/office/drawing/2014/main" id="{F0BE71C8-99FF-4A24-AFD3-2E86C8523F50}"/>
              </a:ext>
            </a:extLst>
          </p:cNvPr>
          <p:cNvSpPr>
            <a:spLocks xmlns:a="http://schemas.openxmlformats.org/drawingml/2006/main" noGrp="1"/>
          </p:cNvSpPr>
          <p:nvPr/>
        </p:nvSpPr>
        <p:spPr>
          <a:xfrm xmlns:a="http://schemas.openxmlformats.org/drawingml/2006/main">
            <a:off x="806196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26" name="">
            <a:extLst xmlns:a="http://schemas.openxmlformats.org/drawingml/2006/main">
              <a:ext uri="{FF2B5EF4-FFF2-40B4-BE49-F238E27FC236}">
                <a16:creationId xmlns:a16="http://schemas.microsoft.com/office/drawing/2014/main" id="{E1C6A734-97A8-4DD4-A3B6-59086A23F4A5}"/>
              </a:ext>
            </a:extLst>
          </p:cNvPr>
          <p:cNvSpPr>
            <a:spLocks xmlns:a="http://schemas.openxmlformats.org/drawingml/2006/main" noGrp="1"/>
          </p:cNvSpPr>
          <p:nvPr/>
        </p:nvSpPr>
        <p:spPr>
          <a:xfrm xmlns:a="http://schemas.openxmlformats.org/drawingml/2006/main">
            <a:off x="806196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DED30815-44B3-4045-9D14-AF1B2D5B9DB0}"/>
              </a:ext>
            </a:extLst>
          </p:cNvPr>
          <p:cNvSpPr>
            <a:spLocks xmlns:a="http://schemas.openxmlformats.org/drawingml/2006/main" noGrp="1"/>
          </p:cNvSpPr>
          <p:nvPr/>
        </p:nvSpPr>
        <p:spPr>
          <a:xfrm xmlns:a="http://schemas.openxmlformats.org/drawingml/2006/main">
            <a:off x="817626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 × 3</a:t>
            </a:r>
          </a:p>
        </p:txBody>
      </p:sp>
      <p:sp>
        <p:nvSpPr>
          <p:cNvPr id="28" name="">
            <a:extLst xmlns:a="http://schemas.openxmlformats.org/drawingml/2006/main">
              <a:ext uri="{FF2B5EF4-FFF2-40B4-BE49-F238E27FC236}">
                <a16:creationId xmlns:a16="http://schemas.microsoft.com/office/drawing/2014/main" id="{F2E03188-D780-4406-A3AC-A5D0A80119E3}"/>
              </a:ext>
            </a:extLst>
          </p:cNvPr>
          <p:cNvSpPr>
            <a:spLocks xmlns:a="http://schemas.openxmlformats.org/drawingml/2006/main" noGrp="1"/>
          </p:cNvSpPr>
          <p:nvPr/>
        </p:nvSpPr>
        <p:spPr>
          <a:xfrm xmlns:a="http://schemas.openxmlformats.org/drawingml/2006/main">
            <a:off x="817626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In, out and enable per pin</a:t>
            </a:r>
          </a:p>
        </p:txBody>
      </p:sp>
      <p:sp>
        <p:nvSpPr>
          <p:cNvPr id="29" name="">
            <a:extLst xmlns:a="http://schemas.openxmlformats.org/drawingml/2006/main">
              <a:ext uri="{FF2B5EF4-FFF2-40B4-BE49-F238E27FC236}">
                <a16:creationId xmlns:a16="http://schemas.microsoft.com/office/drawing/2014/main" id="{6A21824A-3E5B-40A9-B981-77BCA6C073F2}"/>
              </a:ext>
            </a:extLst>
          </p:cNvPr>
          <p:cNvSpPr>
            <a:spLocks xmlns:a="http://schemas.openxmlformats.org/drawingml/2006/main" noGrp="1"/>
          </p:cNvSpPr>
          <p:nvPr/>
        </p:nvSpPr>
        <p:spPr>
          <a:xfrm xmlns:a="http://schemas.openxmlformats.org/drawingml/2006/main">
            <a:off x="9963150" y="16383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0" name="">
            <a:extLst xmlns:a="http://schemas.openxmlformats.org/drawingml/2006/main">
              <a:ext uri="{FF2B5EF4-FFF2-40B4-BE49-F238E27FC236}">
                <a16:creationId xmlns:a16="http://schemas.microsoft.com/office/drawing/2014/main" id="{BDAF5FCA-D320-464B-AE09-48063CB66DCA}"/>
              </a:ext>
            </a:extLst>
          </p:cNvPr>
          <p:cNvSpPr>
            <a:spLocks xmlns:a="http://schemas.openxmlformats.org/drawingml/2006/main" noGrp="1"/>
          </p:cNvSpPr>
          <p:nvPr/>
        </p:nvSpPr>
        <p:spPr>
          <a:xfrm xmlns:a="http://schemas.openxmlformats.org/drawingml/2006/main">
            <a:off x="9963150" y="1638300"/>
            <a:ext cx="1771650" cy="47625"/>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0330A8C-9BD2-4D57-ADF2-6CB8D1F7697C}"/>
              </a:ext>
            </a:extLst>
          </p:cNvPr>
          <p:cNvSpPr>
            <a:spLocks xmlns:a="http://schemas.openxmlformats.org/drawingml/2006/main" noGrp="1"/>
          </p:cNvSpPr>
          <p:nvPr/>
        </p:nvSpPr>
        <p:spPr>
          <a:xfrm xmlns:a="http://schemas.openxmlformats.org/drawingml/2006/main">
            <a:off x="10077450" y="17907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Timers × 2</a:t>
            </a:r>
          </a:p>
        </p:txBody>
      </p:sp>
      <p:sp>
        <p:nvSpPr>
          <p:cNvPr id="32" name="">
            <a:extLst xmlns:a="http://schemas.openxmlformats.org/drawingml/2006/main">
              <a:ext uri="{FF2B5EF4-FFF2-40B4-BE49-F238E27FC236}">
                <a16:creationId xmlns:a16="http://schemas.microsoft.com/office/drawing/2014/main" id="{5477A217-0F4E-47C3-8D23-09F8F53CEA66}"/>
              </a:ext>
            </a:extLst>
          </p:cNvPr>
          <p:cNvSpPr>
            <a:spLocks xmlns:a="http://schemas.openxmlformats.org/drawingml/2006/main" noGrp="1"/>
          </p:cNvSpPr>
          <p:nvPr/>
        </p:nvSpPr>
        <p:spPr>
          <a:xfrm xmlns:a="http://schemas.openxmlformats.org/drawingml/2006/main">
            <a:off x="10077450" y="20764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32-bit, compare interrupt</a:t>
            </a:r>
          </a:p>
        </p:txBody>
      </p:sp>
      <p:sp>
        <p:nvSpPr>
          <p:cNvPr id="33" name="">
            <a:extLst xmlns:a="http://schemas.openxmlformats.org/drawingml/2006/main">
              <a:ext uri="{FF2B5EF4-FFF2-40B4-BE49-F238E27FC236}">
                <a16:creationId xmlns:a16="http://schemas.microsoft.com/office/drawing/2014/main" id="{9428EE77-181A-4557-BDA9-8FEE4E7A90DE}"/>
              </a:ext>
            </a:extLst>
          </p:cNvPr>
          <p:cNvSpPr>
            <a:spLocks xmlns:a="http://schemas.openxmlformats.org/drawingml/2006/main" noGrp="1"/>
          </p:cNvSpPr>
          <p:nvPr/>
        </p:nvSpPr>
        <p:spPr>
          <a:xfrm xmlns:a="http://schemas.openxmlformats.org/drawingml/2006/main">
            <a:off x="45720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4" name="">
            <a:extLst xmlns:a="http://schemas.openxmlformats.org/drawingml/2006/main">
              <a:ext uri="{FF2B5EF4-FFF2-40B4-BE49-F238E27FC236}">
                <a16:creationId xmlns:a16="http://schemas.microsoft.com/office/drawing/2014/main" id="{90D19B03-51E2-4B52-A586-93180C7E8ECE}"/>
              </a:ext>
            </a:extLst>
          </p:cNvPr>
          <p:cNvSpPr>
            <a:spLocks xmlns:a="http://schemas.openxmlformats.org/drawingml/2006/main" noGrp="1"/>
          </p:cNvSpPr>
          <p:nvPr/>
        </p:nvSpPr>
        <p:spPr>
          <a:xfrm xmlns:a="http://schemas.openxmlformats.org/drawingml/2006/main">
            <a:off x="45720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98CA530-9888-46EB-9851-188CE9ECD179}"/>
              </a:ext>
            </a:extLst>
          </p:cNvPr>
          <p:cNvSpPr>
            <a:spLocks xmlns:a="http://schemas.openxmlformats.org/drawingml/2006/main" noGrp="1"/>
          </p:cNvSpPr>
          <p:nvPr/>
        </p:nvSpPr>
        <p:spPr>
          <a:xfrm xmlns:a="http://schemas.openxmlformats.org/drawingml/2006/main">
            <a:off x="57150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3-phase PWM</a:t>
            </a:r>
          </a:p>
        </p:txBody>
      </p:sp>
      <p:sp>
        <p:nvSpPr>
          <p:cNvPr id="36" name="">
            <a:extLst xmlns:a="http://schemas.openxmlformats.org/drawingml/2006/main">
              <a:ext uri="{FF2B5EF4-FFF2-40B4-BE49-F238E27FC236}">
                <a16:creationId xmlns:a16="http://schemas.microsoft.com/office/drawing/2014/main" id="{14F7B48E-0FA3-4216-94C8-0FC66D72F0A3}"/>
              </a:ext>
            </a:extLst>
          </p:cNvPr>
          <p:cNvSpPr>
            <a:spLocks xmlns:a="http://schemas.openxmlformats.org/drawingml/2006/main" noGrp="1"/>
          </p:cNvSpPr>
          <p:nvPr/>
        </p:nvSpPr>
        <p:spPr>
          <a:xfrm xmlns:a="http://schemas.openxmlformats.org/drawingml/2006/main">
            <a:off x="57150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Dead-time, sample trigger, brake</a:t>
            </a:r>
          </a:p>
        </p:txBody>
      </p:sp>
      <p:sp>
        <p:nvSpPr>
          <p:cNvPr id="37" name="">
            <a:extLst xmlns:a="http://schemas.openxmlformats.org/drawingml/2006/main">
              <a:ext uri="{FF2B5EF4-FFF2-40B4-BE49-F238E27FC236}">
                <a16:creationId xmlns:a16="http://schemas.microsoft.com/office/drawing/2014/main" id="{157B74AB-31A6-4A4D-BF72-F67CBF35E60A}"/>
              </a:ext>
            </a:extLst>
          </p:cNvPr>
          <p:cNvSpPr>
            <a:spLocks xmlns:a="http://schemas.openxmlformats.org/drawingml/2006/main" noGrp="1"/>
          </p:cNvSpPr>
          <p:nvPr/>
        </p:nvSpPr>
        <p:spPr>
          <a:xfrm xmlns:a="http://schemas.openxmlformats.org/drawingml/2006/main">
            <a:off x="235839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38" name="">
            <a:extLst xmlns:a="http://schemas.openxmlformats.org/drawingml/2006/main">
              <a:ext uri="{FF2B5EF4-FFF2-40B4-BE49-F238E27FC236}">
                <a16:creationId xmlns:a16="http://schemas.microsoft.com/office/drawing/2014/main" id="{7EBE2326-6FC8-4F7C-875A-0B3741B508F6}"/>
              </a:ext>
            </a:extLst>
          </p:cNvPr>
          <p:cNvSpPr>
            <a:spLocks xmlns:a="http://schemas.openxmlformats.org/drawingml/2006/main" noGrp="1"/>
          </p:cNvSpPr>
          <p:nvPr/>
        </p:nvSpPr>
        <p:spPr>
          <a:xfrm xmlns:a="http://schemas.openxmlformats.org/drawingml/2006/main">
            <a:off x="235839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D31FD3C9-C9F1-4203-958A-686B66DB535B}"/>
              </a:ext>
            </a:extLst>
          </p:cNvPr>
          <p:cNvSpPr>
            <a:spLocks xmlns:a="http://schemas.openxmlformats.org/drawingml/2006/main" noGrp="1"/>
          </p:cNvSpPr>
          <p:nvPr/>
        </p:nvSpPr>
        <p:spPr>
          <a:xfrm xmlns:a="http://schemas.openxmlformats.org/drawingml/2006/main">
            <a:off x="247269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DShot × 4</a:t>
            </a:r>
          </a:p>
        </p:txBody>
      </p:sp>
      <p:sp>
        <p:nvSpPr>
          <p:cNvPr id="40" name="">
            <a:extLst xmlns:a="http://schemas.openxmlformats.org/drawingml/2006/main">
              <a:ext uri="{FF2B5EF4-FFF2-40B4-BE49-F238E27FC236}">
                <a16:creationId xmlns:a16="http://schemas.microsoft.com/office/drawing/2014/main" id="{DA99BF75-826A-45B8-AB75-04740FDCFB8D}"/>
              </a:ext>
            </a:extLst>
          </p:cNvPr>
          <p:cNvSpPr>
            <a:spLocks xmlns:a="http://schemas.openxmlformats.org/drawingml/2006/main" noGrp="1"/>
          </p:cNvSpPr>
          <p:nvPr/>
        </p:nvSpPr>
        <p:spPr>
          <a:xfrm xmlns:a="http://schemas.openxmlformats.org/drawingml/2006/main">
            <a:off x="247269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Steered onto the PWM pads</a:t>
            </a:r>
          </a:p>
        </p:txBody>
      </p:sp>
      <p:sp>
        <p:nvSpPr>
          <p:cNvPr id="41" name="">
            <a:extLst xmlns:a="http://schemas.openxmlformats.org/drawingml/2006/main">
              <a:ext uri="{FF2B5EF4-FFF2-40B4-BE49-F238E27FC236}">
                <a16:creationId xmlns:a16="http://schemas.microsoft.com/office/drawing/2014/main" id="{F5DFD114-676A-4D34-B2C6-CFE757F2FA2C}"/>
              </a:ext>
            </a:extLst>
          </p:cNvPr>
          <p:cNvSpPr>
            <a:spLocks xmlns:a="http://schemas.openxmlformats.org/drawingml/2006/main" noGrp="1"/>
          </p:cNvSpPr>
          <p:nvPr/>
        </p:nvSpPr>
        <p:spPr>
          <a:xfrm xmlns:a="http://schemas.openxmlformats.org/drawingml/2006/main">
            <a:off x="425958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42" name="">
            <a:extLst xmlns:a="http://schemas.openxmlformats.org/drawingml/2006/main">
              <a:ext uri="{FF2B5EF4-FFF2-40B4-BE49-F238E27FC236}">
                <a16:creationId xmlns:a16="http://schemas.microsoft.com/office/drawing/2014/main" id="{7CC93234-F66F-446A-B83F-38D05B9463F9}"/>
              </a:ext>
            </a:extLst>
          </p:cNvPr>
          <p:cNvSpPr>
            <a:spLocks xmlns:a="http://schemas.openxmlformats.org/drawingml/2006/main" noGrp="1"/>
          </p:cNvSpPr>
          <p:nvPr/>
        </p:nvSpPr>
        <p:spPr>
          <a:xfrm xmlns:a="http://schemas.openxmlformats.org/drawingml/2006/main">
            <a:off x="425958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5CD00425-501A-43F0-A8EF-43EEF980BD1E}"/>
              </a:ext>
            </a:extLst>
          </p:cNvPr>
          <p:cNvSpPr>
            <a:spLocks xmlns:a="http://schemas.openxmlformats.org/drawingml/2006/main" noGrp="1"/>
          </p:cNvSpPr>
          <p:nvPr/>
        </p:nvSpPr>
        <p:spPr>
          <a:xfrm xmlns:a="http://schemas.openxmlformats.org/drawingml/2006/main">
            <a:off x="437388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44" name="">
            <a:extLst xmlns:a="http://schemas.openxmlformats.org/drawingml/2006/main">
              <a:ext uri="{FF2B5EF4-FFF2-40B4-BE49-F238E27FC236}">
                <a16:creationId xmlns:a16="http://schemas.microsoft.com/office/drawing/2014/main" id="{2EA393A2-F8E4-4D4C-B678-7F1423D6B247}"/>
              </a:ext>
            </a:extLst>
          </p:cNvPr>
          <p:cNvSpPr>
            <a:spLocks xmlns:a="http://schemas.openxmlformats.org/drawingml/2006/main" noGrp="1"/>
          </p:cNvSpPr>
          <p:nvPr/>
        </p:nvSpPr>
        <p:spPr>
          <a:xfrm xmlns:a="http://schemas.openxmlformats.org/drawingml/2006/main">
            <a:off x="437388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4× quadrature, index, 3 Hall</a:t>
            </a:r>
          </a:p>
        </p:txBody>
      </p:sp>
      <p:sp>
        <p:nvSpPr>
          <p:cNvPr id="45" name="">
            <a:extLst xmlns:a="http://schemas.openxmlformats.org/drawingml/2006/main">
              <a:ext uri="{FF2B5EF4-FFF2-40B4-BE49-F238E27FC236}">
                <a16:creationId xmlns:a16="http://schemas.microsoft.com/office/drawing/2014/main" id="{13B21DA2-E42F-4DA5-A81E-6DD18A850B3D}"/>
              </a:ext>
            </a:extLst>
          </p:cNvPr>
          <p:cNvSpPr>
            <a:spLocks xmlns:a="http://schemas.openxmlformats.org/drawingml/2006/main" noGrp="1"/>
          </p:cNvSpPr>
          <p:nvPr/>
        </p:nvSpPr>
        <p:spPr>
          <a:xfrm xmlns:a="http://schemas.openxmlformats.org/drawingml/2006/main">
            <a:off x="616077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46" name="">
            <a:extLst xmlns:a="http://schemas.openxmlformats.org/drawingml/2006/main">
              <a:ext uri="{FF2B5EF4-FFF2-40B4-BE49-F238E27FC236}">
                <a16:creationId xmlns:a16="http://schemas.microsoft.com/office/drawing/2014/main" id="{D7A12011-0765-4FBC-A5D4-0A14E970F17E}"/>
              </a:ext>
            </a:extLst>
          </p:cNvPr>
          <p:cNvSpPr>
            <a:spLocks xmlns:a="http://schemas.openxmlformats.org/drawingml/2006/main" noGrp="1"/>
          </p:cNvSpPr>
          <p:nvPr/>
        </p:nvSpPr>
        <p:spPr>
          <a:xfrm xmlns:a="http://schemas.openxmlformats.org/drawingml/2006/main">
            <a:off x="616077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A74CBD57-9A58-4980-9A95-607A9DA01D32}"/>
              </a:ext>
            </a:extLst>
          </p:cNvPr>
          <p:cNvSpPr>
            <a:spLocks xmlns:a="http://schemas.openxmlformats.org/drawingml/2006/main" noGrp="1"/>
          </p:cNvSpPr>
          <p:nvPr/>
        </p:nvSpPr>
        <p:spPr>
          <a:xfrm xmlns:a="http://schemas.openxmlformats.org/drawingml/2006/main">
            <a:off x="627507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CORDIC</a:t>
            </a:r>
          </a:p>
        </p:txBody>
      </p:sp>
      <p:sp>
        <p:nvSpPr>
          <p:cNvPr id="48" name="">
            <a:extLst xmlns:a="http://schemas.openxmlformats.org/drawingml/2006/main">
              <a:ext uri="{FF2B5EF4-FFF2-40B4-BE49-F238E27FC236}">
                <a16:creationId xmlns:a16="http://schemas.microsoft.com/office/drawing/2014/main" id="{5E7B22E1-A877-4A89-8841-FE75B571E7B1}"/>
              </a:ext>
            </a:extLst>
          </p:cNvPr>
          <p:cNvSpPr>
            <a:spLocks xmlns:a="http://schemas.openxmlformats.org/drawingml/2006/main" noGrp="1"/>
          </p:cNvSpPr>
          <p:nvPr/>
        </p:nvSpPr>
        <p:spPr>
          <a:xfrm xmlns:a="http://schemas.openxmlformats.org/drawingml/2006/main">
            <a:off x="627507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20 iterations, Q1.31</a:t>
            </a:r>
          </a:p>
        </p:txBody>
      </p:sp>
      <p:sp>
        <p:nvSpPr>
          <p:cNvPr id="49" name="">
            <a:extLst xmlns:a="http://schemas.openxmlformats.org/drawingml/2006/main">
              <a:ext uri="{FF2B5EF4-FFF2-40B4-BE49-F238E27FC236}">
                <a16:creationId xmlns:a16="http://schemas.microsoft.com/office/drawing/2014/main" id="{6B8CCDC7-B9E1-4730-9D3D-0F6439441BAF}"/>
              </a:ext>
            </a:extLst>
          </p:cNvPr>
          <p:cNvSpPr>
            <a:spLocks xmlns:a="http://schemas.openxmlformats.org/drawingml/2006/main" noGrp="1"/>
          </p:cNvSpPr>
          <p:nvPr/>
        </p:nvSpPr>
        <p:spPr>
          <a:xfrm xmlns:a="http://schemas.openxmlformats.org/drawingml/2006/main">
            <a:off x="806196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0" name="">
            <a:extLst xmlns:a="http://schemas.openxmlformats.org/drawingml/2006/main">
              <a:ext uri="{FF2B5EF4-FFF2-40B4-BE49-F238E27FC236}">
                <a16:creationId xmlns:a16="http://schemas.microsoft.com/office/drawing/2014/main" id="{668972D6-A4DA-4453-99F5-520240667203}"/>
              </a:ext>
            </a:extLst>
          </p:cNvPr>
          <p:cNvSpPr>
            <a:spLocks xmlns:a="http://schemas.openxmlformats.org/drawingml/2006/main" noGrp="1"/>
          </p:cNvSpPr>
          <p:nvPr/>
        </p:nvSpPr>
        <p:spPr>
          <a:xfrm xmlns:a="http://schemas.openxmlformats.org/drawingml/2006/main">
            <a:off x="806196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1" name="">
            <a:extLst xmlns:a="http://schemas.openxmlformats.org/drawingml/2006/main">
              <a:ext uri="{FF2B5EF4-FFF2-40B4-BE49-F238E27FC236}">
                <a16:creationId xmlns:a16="http://schemas.microsoft.com/office/drawing/2014/main" id="{505AABFD-4A23-4206-AE49-8DB2B9DF4A51}"/>
              </a:ext>
            </a:extLst>
          </p:cNvPr>
          <p:cNvSpPr>
            <a:spLocks xmlns:a="http://schemas.openxmlformats.org/drawingml/2006/main" noGrp="1"/>
          </p:cNvSpPr>
          <p:nvPr/>
        </p:nvSpPr>
        <p:spPr>
          <a:xfrm xmlns:a="http://schemas.openxmlformats.org/drawingml/2006/main">
            <a:off x="817626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 → SAR</a:t>
            </a:r>
          </a:p>
        </p:txBody>
      </p:sp>
      <p:sp>
        <p:nvSpPr>
          <p:cNvPr id="52" name="">
            <a:extLst xmlns:a="http://schemas.openxmlformats.org/drawingml/2006/main">
              <a:ext uri="{FF2B5EF4-FFF2-40B4-BE49-F238E27FC236}">
                <a16:creationId xmlns:a16="http://schemas.microsoft.com/office/drawing/2014/main" id="{922DE971-7E1B-4079-B94A-D8000765CBEB}"/>
              </a:ext>
            </a:extLst>
          </p:cNvPr>
          <p:cNvSpPr>
            <a:spLocks xmlns:a="http://schemas.openxmlformats.org/drawingml/2006/main" noGrp="1"/>
          </p:cNvSpPr>
          <p:nvPr/>
        </p:nvSpPr>
        <p:spPr>
          <a:xfrm xmlns:a="http://schemas.openxmlformats.org/drawingml/2006/main">
            <a:off x="817626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8-bit differential, ~200 kSa/s</a:t>
            </a:r>
          </a:p>
        </p:txBody>
      </p:sp>
      <p:sp>
        <p:nvSpPr>
          <p:cNvPr id="53" name="">
            <a:extLst xmlns:a="http://schemas.openxmlformats.org/drawingml/2006/main">
              <a:ext uri="{FF2B5EF4-FFF2-40B4-BE49-F238E27FC236}">
                <a16:creationId xmlns:a16="http://schemas.microsoft.com/office/drawing/2014/main" id="{E0CA08D6-ECE4-4944-B6EB-6A9F8FF925E0}"/>
              </a:ext>
            </a:extLst>
          </p:cNvPr>
          <p:cNvSpPr>
            <a:spLocks xmlns:a="http://schemas.openxmlformats.org/drawingml/2006/main" noGrp="1"/>
          </p:cNvSpPr>
          <p:nvPr/>
        </p:nvSpPr>
        <p:spPr>
          <a:xfrm xmlns:a="http://schemas.openxmlformats.org/drawingml/2006/main">
            <a:off x="9963150" y="28575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4" name="">
            <a:extLst xmlns:a="http://schemas.openxmlformats.org/drawingml/2006/main">
              <a:ext uri="{FF2B5EF4-FFF2-40B4-BE49-F238E27FC236}">
                <a16:creationId xmlns:a16="http://schemas.microsoft.com/office/drawing/2014/main" id="{4551AB7A-EDF8-48F5-A0E3-9A8DE0E942B8}"/>
              </a:ext>
            </a:extLst>
          </p:cNvPr>
          <p:cNvSpPr>
            <a:spLocks xmlns:a="http://schemas.openxmlformats.org/drawingml/2006/main" noGrp="1"/>
          </p:cNvSpPr>
          <p:nvPr/>
        </p:nvSpPr>
        <p:spPr>
          <a:xfrm xmlns:a="http://schemas.openxmlformats.org/drawingml/2006/main">
            <a:off x="9963150" y="2857500"/>
            <a:ext cx="1771650" cy="47625"/>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80743E48-B847-41F1-A6F2-7E59FD07A91F}"/>
              </a:ext>
            </a:extLst>
          </p:cNvPr>
          <p:cNvSpPr>
            <a:spLocks xmlns:a="http://schemas.openxmlformats.org/drawingml/2006/main" noGrp="1"/>
          </p:cNvSpPr>
          <p:nvPr/>
        </p:nvSpPr>
        <p:spPr>
          <a:xfrm xmlns:a="http://schemas.openxmlformats.org/drawingml/2006/main">
            <a:off x="10077450" y="30099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Interrupts</a:t>
            </a:r>
          </a:p>
        </p:txBody>
      </p:sp>
      <p:sp>
        <p:nvSpPr>
          <p:cNvPr id="56" name="">
            <a:extLst xmlns:a="http://schemas.openxmlformats.org/drawingml/2006/main">
              <a:ext uri="{FF2B5EF4-FFF2-40B4-BE49-F238E27FC236}">
                <a16:creationId xmlns:a16="http://schemas.microsoft.com/office/drawing/2014/main" id="{5AC29595-46B8-4D8B-8745-ECA8575C2790}"/>
              </a:ext>
            </a:extLst>
          </p:cNvPr>
          <p:cNvSpPr>
            <a:spLocks xmlns:a="http://schemas.openxmlformats.org/drawingml/2006/main" noGrp="1"/>
          </p:cNvSpPr>
          <p:nvPr/>
        </p:nvSpPr>
        <p:spPr>
          <a:xfrm xmlns:a="http://schemas.openxmlformats.org/drawingml/2006/main">
            <a:off x="10077450" y="32956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16 sources, software interrupt</a:t>
            </a:r>
          </a:p>
        </p:txBody>
      </p:sp>
      <p:sp>
        <p:nvSpPr>
          <p:cNvPr id="57" name="">
            <a:extLst xmlns:a="http://schemas.openxmlformats.org/drawingml/2006/main">
              <a:ext uri="{FF2B5EF4-FFF2-40B4-BE49-F238E27FC236}">
                <a16:creationId xmlns:a16="http://schemas.microsoft.com/office/drawing/2014/main" id="{5327F0E6-F57E-4F4A-AF93-D69826E6B267}"/>
              </a:ext>
            </a:extLst>
          </p:cNvPr>
          <p:cNvSpPr>
            <a:spLocks xmlns:a="http://schemas.openxmlformats.org/drawingml/2006/main" noGrp="1"/>
          </p:cNvSpPr>
          <p:nvPr/>
        </p:nvSpPr>
        <p:spPr>
          <a:xfrm xmlns:a="http://schemas.openxmlformats.org/drawingml/2006/main">
            <a:off x="45720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58" name="">
            <a:extLst xmlns:a="http://schemas.openxmlformats.org/drawingml/2006/main">
              <a:ext uri="{FF2B5EF4-FFF2-40B4-BE49-F238E27FC236}">
                <a16:creationId xmlns:a16="http://schemas.microsoft.com/office/drawing/2014/main" id="{D05549D2-32C8-4082-8E4C-0874EB95E522}"/>
              </a:ext>
            </a:extLst>
          </p:cNvPr>
          <p:cNvSpPr>
            <a:spLocks xmlns:a="http://schemas.openxmlformats.org/drawingml/2006/main" noGrp="1"/>
          </p:cNvSpPr>
          <p:nvPr/>
        </p:nvSpPr>
        <p:spPr>
          <a:xfrm xmlns:a="http://schemas.openxmlformats.org/drawingml/2006/main">
            <a:off x="45720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59" name="">
            <a:extLst xmlns:a="http://schemas.openxmlformats.org/drawingml/2006/main">
              <a:ext uri="{FF2B5EF4-FFF2-40B4-BE49-F238E27FC236}">
                <a16:creationId xmlns:a16="http://schemas.microsoft.com/office/drawing/2014/main" id="{8B2F6E1D-D506-4E46-9899-2D1A172111C9}"/>
              </a:ext>
            </a:extLst>
          </p:cNvPr>
          <p:cNvSpPr>
            <a:spLocks xmlns:a="http://schemas.openxmlformats.org/drawingml/2006/main" noGrp="1"/>
          </p:cNvSpPr>
          <p:nvPr/>
        </p:nvSpPr>
        <p:spPr>
          <a:xfrm xmlns:a="http://schemas.openxmlformats.org/drawingml/2006/main">
            <a:off x="57150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System control</a:t>
            </a:r>
          </a:p>
        </p:txBody>
      </p:sp>
      <p:sp>
        <p:nvSpPr>
          <p:cNvPr id="60" name="">
            <a:extLst xmlns:a="http://schemas.openxmlformats.org/drawingml/2006/main">
              <a:ext uri="{FF2B5EF4-FFF2-40B4-BE49-F238E27FC236}">
                <a16:creationId xmlns:a16="http://schemas.microsoft.com/office/drawing/2014/main" id="{F4BE467A-D2F7-4344-8708-9C37C3E26869}"/>
              </a:ext>
            </a:extLst>
          </p:cNvPr>
          <p:cNvSpPr>
            <a:spLocks xmlns:a="http://schemas.openxmlformats.org/drawingml/2006/main" noGrp="1"/>
          </p:cNvSpPr>
          <p:nvPr/>
        </p:nvSpPr>
        <p:spPr>
          <a:xfrm xmlns:a="http://schemas.openxmlformats.org/drawingml/2006/main">
            <a:off x="57150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Part ID, 8 clock gates, pin mux</a:t>
            </a:r>
          </a:p>
        </p:txBody>
      </p:sp>
      <p:sp>
        <p:nvSpPr>
          <p:cNvPr id="61" name="">
            <a:extLst xmlns:a="http://schemas.openxmlformats.org/drawingml/2006/main">
              <a:ext uri="{FF2B5EF4-FFF2-40B4-BE49-F238E27FC236}">
                <a16:creationId xmlns:a16="http://schemas.microsoft.com/office/drawing/2014/main" id="{BCAB7B4D-8AB2-44C0-B044-ADCB7FC0576A}"/>
              </a:ext>
            </a:extLst>
          </p:cNvPr>
          <p:cNvSpPr>
            <a:spLocks xmlns:a="http://schemas.openxmlformats.org/drawingml/2006/main" noGrp="1"/>
          </p:cNvSpPr>
          <p:nvPr/>
        </p:nvSpPr>
        <p:spPr>
          <a:xfrm xmlns:a="http://schemas.openxmlformats.org/drawingml/2006/main">
            <a:off x="235839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62" name="">
            <a:extLst xmlns:a="http://schemas.openxmlformats.org/drawingml/2006/main">
              <a:ext uri="{FF2B5EF4-FFF2-40B4-BE49-F238E27FC236}">
                <a16:creationId xmlns:a16="http://schemas.microsoft.com/office/drawing/2014/main" id="{83500423-A90A-4F80-A99A-66A9F9F723AB}"/>
              </a:ext>
            </a:extLst>
          </p:cNvPr>
          <p:cNvSpPr>
            <a:spLocks xmlns:a="http://schemas.openxmlformats.org/drawingml/2006/main" noGrp="1"/>
          </p:cNvSpPr>
          <p:nvPr/>
        </p:nvSpPr>
        <p:spPr>
          <a:xfrm xmlns:a="http://schemas.openxmlformats.org/drawingml/2006/main">
            <a:off x="235839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926910A5-6FCE-4F33-A598-F2A130B71CDC}"/>
              </a:ext>
            </a:extLst>
          </p:cNvPr>
          <p:cNvSpPr>
            <a:spLocks xmlns:a="http://schemas.openxmlformats.org/drawingml/2006/main" noGrp="1"/>
          </p:cNvSpPr>
          <p:nvPr/>
        </p:nvSpPr>
        <p:spPr>
          <a:xfrm xmlns:a="http://schemas.openxmlformats.org/drawingml/2006/main">
            <a:off x="247269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Watchdog</a:t>
            </a:r>
          </a:p>
        </p:txBody>
      </p:sp>
      <p:sp>
        <p:nvSpPr>
          <p:cNvPr id="64" name="">
            <a:extLst xmlns:a="http://schemas.openxmlformats.org/drawingml/2006/main">
              <a:ext uri="{FF2B5EF4-FFF2-40B4-BE49-F238E27FC236}">
                <a16:creationId xmlns:a16="http://schemas.microsoft.com/office/drawing/2014/main" id="{4A374442-C8E1-4D67-8973-05F739E3C12F}"/>
              </a:ext>
            </a:extLst>
          </p:cNvPr>
          <p:cNvSpPr>
            <a:spLocks xmlns:a="http://schemas.openxmlformats.org/drawingml/2006/main" noGrp="1"/>
          </p:cNvSpPr>
          <p:nvPr/>
        </p:nvSpPr>
        <p:spPr>
          <a:xfrm xmlns:a="http://schemas.openxmlformats.org/drawingml/2006/main">
            <a:off x="247269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Windowed; supply-good deglitch</a:t>
            </a:r>
          </a:p>
        </p:txBody>
      </p:sp>
      <p:sp>
        <p:nvSpPr>
          <p:cNvPr id="65" name="">
            <a:extLst xmlns:a="http://schemas.openxmlformats.org/drawingml/2006/main">
              <a:ext uri="{FF2B5EF4-FFF2-40B4-BE49-F238E27FC236}">
                <a16:creationId xmlns:a16="http://schemas.microsoft.com/office/drawing/2014/main" id="{93F2DDC4-B55F-461F-AFE4-2CF2770FEA05}"/>
              </a:ext>
            </a:extLst>
          </p:cNvPr>
          <p:cNvSpPr>
            <a:spLocks xmlns:a="http://schemas.openxmlformats.org/drawingml/2006/main" noGrp="1"/>
          </p:cNvSpPr>
          <p:nvPr/>
        </p:nvSpPr>
        <p:spPr>
          <a:xfrm xmlns:a="http://schemas.openxmlformats.org/drawingml/2006/main">
            <a:off x="425958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66" name="">
            <a:extLst xmlns:a="http://schemas.openxmlformats.org/drawingml/2006/main">
              <a:ext uri="{FF2B5EF4-FFF2-40B4-BE49-F238E27FC236}">
                <a16:creationId xmlns:a16="http://schemas.microsoft.com/office/drawing/2014/main" id="{3169592F-CFE3-4A6F-ADE2-A785A20A4BDB}"/>
              </a:ext>
            </a:extLst>
          </p:cNvPr>
          <p:cNvSpPr>
            <a:spLocks xmlns:a="http://schemas.openxmlformats.org/drawingml/2006/main" noGrp="1"/>
          </p:cNvSpPr>
          <p:nvPr/>
        </p:nvSpPr>
        <p:spPr>
          <a:xfrm xmlns:a="http://schemas.openxmlformats.org/drawingml/2006/main">
            <a:off x="425958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7" name="">
            <a:extLst xmlns:a="http://schemas.openxmlformats.org/drawingml/2006/main">
              <a:ext uri="{FF2B5EF4-FFF2-40B4-BE49-F238E27FC236}">
                <a16:creationId xmlns:a16="http://schemas.microsoft.com/office/drawing/2014/main" id="{A6418FC1-70C5-4FA8-B039-2EA173626746}"/>
              </a:ext>
            </a:extLst>
          </p:cNvPr>
          <p:cNvSpPr>
            <a:spLocks xmlns:a="http://schemas.openxmlformats.org/drawingml/2006/main" noGrp="1"/>
          </p:cNvSpPr>
          <p:nvPr/>
        </p:nvSpPr>
        <p:spPr>
          <a:xfrm xmlns:a="http://schemas.openxmlformats.org/drawingml/2006/main">
            <a:off x="437388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 register</a:t>
            </a:r>
          </a:p>
        </p:txBody>
      </p:sp>
      <p:sp>
        <p:nvSpPr>
          <p:cNvPr id="68" name="">
            <a:extLst xmlns:a="http://schemas.openxmlformats.org/drawingml/2006/main">
              <a:ext uri="{FF2B5EF4-FFF2-40B4-BE49-F238E27FC236}">
                <a16:creationId xmlns:a16="http://schemas.microsoft.com/office/drawing/2014/main" id="{75E52931-3654-4E30-A473-C8901D6D1008}"/>
              </a:ext>
            </a:extLst>
          </p:cNvPr>
          <p:cNvSpPr>
            <a:spLocks xmlns:a="http://schemas.openxmlformats.org/drawingml/2006/main" noGrp="1"/>
          </p:cNvSpPr>
          <p:nvPr/>
        </p:nvSpPr>
        <p:spPr>
          <a:xfrm xmlns:a="http://schemas.openxmlformats.org/drawingml/2006/main">
            <a:off x="437388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Lockstep fault to FAULTn</a:t>
            </a:r>
          </a:p>
        </p:txBody>
      </p:sp>
      <p:sp>
        <p:nvSpPr>
          <p:cNvPr id="69" name="">
            <a:extLst xmlns:a="http://schemas.openxmlformats.org/drawingml/2006/main">
              <a:ext uri="{FF2B5EF4-FFF2-40B4-BE49-F238E27FC236}">
                <a16:creationId xmlns:a16="http://schemas.microsoft.com/office/drawing/2014/main" id="{A331566C-8419-4788-B09A-DB310342B97A}"/>
              </a:ext>
            </a:extLst>
          </p:cNvPr>
          <p:cNvSpPr>
            <a:spLocks xmlns:a="http://schemas.openxmlformats.org/drawingml/2006/main" noGrp="1"/>
          </p:cNvSpPr>
          <p:nvPr/>
        </p:nvSpPr>
        <p:spPr>
          <a:xfrm xmlns:a="http://schemas.openxmlformats.org/drawingml/2006/main">
            <a:off x="616077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0" name="">
            <a:extLst xmlns:a="http://schemas.openxmlformats.org/drawingml/2006/main">
              <a:ext uri="{FF2B5EF4-FFF2-40B4-BE49-F238E27FC236}">
                <a16:creationId xmlns:a16="http://schemas.microsoft.com/office/drawing/2014/main" id="{0EA76105-FF19-49B9-A4FD-D6F1BA601251}"/>
              </a:ext>
            </a:extLst>
          </p:cNvPr>
          <p:cNvSpPr>
            <a:spLocks xmlns:a="http://schemas.openxmlformats.org/drawingml/2006/main" noGrp="1"/>
          </p:cNvSpPr>
          <p:nvPr/>
        </p:nvSpPr>
        <p:spPr>
          <a:xfrm xmlns:a="http://schemas.openxmlformats.org/drawingml/2006/main">
            <a:off x="616077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1" name="">
            <a:extLst xmlns:a="http://schemas.openxmlformats.org/drawingml/2006/main">
              <a:ext uri="{FF2B5EF4-FFF2-40B4-BE49-F238E27FC236}">
                <a16:creationId xmlns:a16="http://schemas.microsoft.com/office/drawing/2014/main" id="{48C7BBF5-2539-44B7-9666-1C31BFF50402}"/>
              </a:ext>
            </a:extLst>
          </p:cNvPr>
          <p:cNvSpPr>
            <a:spLocks xmlns:a="http://schemas.openxmlformats.org/drawingml/2006/main" noGrp="1"/>
          </p:cNvSpPr>
          <p:nvPr/>
        </p:nvSpPr>
        <p:spPr>
          <a:xfrm xmlns:a="http://schemas.openxmlformats.org/drawingml/2006/main">
            <a:off x="627507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Error slave</a:t>
            </a:r>
          </a:p>
        </p:txBody>
      </p:sp>
      <p:sp>
        <p:nvSpPr>
          <p:cNvPr id="72" name="">
            <a:extLst xmlns:a="http://schemas.openxmlformats.org/drawingml/2006/main">
              <a:ext uri="{FF2B5EF4-FFF2-40B4-BE49-F238E27FC236}">
                <a16:creationId xmlns:a16="http://schemas.microsoft.com/office/drawing/2014/main" id="{1A51D448-A752-42A6-A9C7-9C1AC2EA16F2}"/>
              </a:ext>
            </a:extLst>
          </p:cNvPr>
          <p:cNvSpPr>
            <a:spLocks xmlns:a="http://schemas.openxmlformats.org/drawingml/2006/main" noGrp="1"/>
          </p:cNvSpPr>
          <p:nvPr/>
        </p:nvSpPr>
        <p:spPr>
          <a:xfrm xmlns:a="http://schemas.openxmlformats.org/drawingml/2006/main">
            <a:off x="627507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Undecoded or gated slots</a:t>
            </a:r>
          </a:p>
        </p:txBody>
      </p:sp>
      <p:sp>
        <p:nvSpPr>
          <p:cNvPr id="73" name="">
            <a:extLst xmlns:a="http://schemas.openxmlformats.org/drawingml/2006/main">
              <a:ext uri="{FF2B5EF4-FFF2-40B4-BE49-F238E27FC236}">
                <a16:creationId xmlns:a16="http://schemas.microsoft.com/office/drawing/2014/main" id="{CF1FE4C9-E4EE-45C9-A4B8-90E10D49AFA0}"/>
              </a:ext>
            </a:extLst>
          </p:cNvPr>
          <p:cNvSpPr>
            <a:spLocks xmlns:a="http://schemas.openxmlformats.org/drawingml/2006/main" noGrp="1"/>
          </p:cNvSpPr>
          <p:nvPr/>
        </p:nvSpPr>
        <p:spPr>
          <a:xfrm xmlns:a="http://schemas.openxmlformats.org/drawingml/2006/main">
            <a:off x="806196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4" name="">
            <a:extLst xmlns:a="http://schemas.openxmlformats.org/drawingml/2006/main">
              <a:ext uri="{FF2B5EF4-FFF2-40B4-BE49-F238E27FC236}">
                <a16:creationId xmlns:a16="http://schemas.microsoft.com/office/drawing/2014/main" id="{FC9CA892-E8B5-4D4D-AF91-209A13C37855}"/>
              </a:ext>
            </a:extLst>
          </p:cNvPr>
          <p:cNvSpPr>
            <a:spLocks xmlns:a="http://schemas.openxmlformats.org/drawingml/2006/main" noGrp="1"/>
          </p:cNvSpPr>
          <p:nvPr/>
        </p:nvSpPr>
        <p:spPr>
          <a:xfrm xmlns:a="http://schemas.openxmlformats.org/drawingml/2006/main">
            <a:off x="806196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5" name="">
            <a:extLst xmlns:a="http://schemas.openxmlformats.org/drawingml/2006/main">
              <a:ext uri="{FF2B5EF4-FFF2-40B4-BE49-F238E27FC236}">
                <a16:creationId xmlns:a16="http://schemas.microsoft.com/office/drawing/2014/main" id="{E367A293-D562-45C6-8310-17E7118B0E4B}"/>
              </a:ext>
            </a:extLst>
          </p:cNvPr>
          <p:cNvSpPr>
            <a:spLocks xmlns:a="http://schemas.openxmlformats.org/drawingml/2006/main" noGrp="1"/>
          </p:cNvSpPr>
          <p:nvPr/>
        </p:nvSpPr>
        <p:spPr>
          <a:xfrm xmlns:a="http://schemas.openxmlformats.org/drawingml/2006/main">
            <a:off x="817626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Scan / DFT</a:t>
            </a:r>
          </a:p>
        </p:txBody>
      </p:sp>
      <p:sp>
        <p:nvSpPr>
          <p:cNvPr id="76" name="">
            <a:extLst xmlns:a="http://schemas.openxmlformats.org/drawingml/2006/main">
              <a:ext uri="{FF2B5EF4-FFF2-40B4-BE49-F238E27FC236}">
                <a16:creationId xmlns:a16="http://schemas.microsoft.com/office/drawing/2014/main" id="{CCAFC7AB-3445-492F-8D46-839C2CF55503}"/>
              </a:ext>
            </a:extLst>
          </p:cNvPr>
          <p:cNvSpPr>
            <a:spLocks xmlns:a="http://schemas.openxmlformats.org/drawingml/2006/main" noGrp="1"/>
          </p:cNvSpPr>
          <p:nvPr/>
        </p:nvSpPr>
        <p:spPr>
          <a:xfrm xmlns:a="http://schemas.openxmlformats.org/drawingml/2006/main">
            <a:off x="817626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13 scan chains</a:t>
            </a:r>
          </a:p>
        </p:txBody>
      </p:sp>
      <p:sp>
        <p:nvSpPr>
          <p:cNvPr id="77" name="">
            <a:extLst xmlns:a="http://schemas.openxmlformats.org/drawingml/2006/main">
              <a:ext uri="{FF2B5EF4-FFF2-40B4-BE49-F238E27FC236}">
                <a16:creationId xmlns:a16="http://schemas.microsoft.com/office/drawing/2014/main" id="{BC20CE9F-A936-455F-8262-9525FF250923}"/>
              </a:ext>
            </a:extLst>
          </p:cNvPr>
          <p:cNvSpPr>
            <a:spLocks xmlns:a="http://schemas.openxmlformats.org/drawingml/2006/main" noGrp="1"/>
          </p:cNvSpPr>
          <p:nvPr/>
        </p:nvSpPr>
        <p:spPr>
          <a:xfrm xmlns:a="http://schemas.openxmlformats.org/drawingml/2006/main">
            <a:off x="9963150" y="4076700"/>
            <a:ext cx="1771650" cy="1085850"/>
          </a:xfrm>
          <a:prstGeom xmlns:a="http://schemas.openxmlformats.org/drawingml/2006/main" prst="roundRect">
            <a:avLst>
              <a:gd name="adj" fmla="val 7018"/>
            </a:avLst>
          </a:prstGeom>
          <a:solidFill xmlns:a="http://schemas.openxmlformats.org/drawingml/2006/main">
            <a:srgbClr val="FFFFFF"/>
          </a:solidFill>
          <a:ln xmlns:a="http://schemas.openxmlformats.org/drawingml/2006/main" w="9525">
            <a:solidFill>
              <a:srgbClr val="E2E8F0"/>
            </a:solidFill>
            <a:prstDash val="solid"/>
          </a:ln>
        </p:spPr>
      </p:sp>
      <p:sp>
        <p:nvSpPr>
          <p:cNvPr id="78" name="">
            <a:extLst xmlns:a="http://schemas.openxmlformats.org/drawingml/2006/main">
              <a:ext uri="{FF2B5EF4-FFF2-40B4-BE49-F238E27FC236}">
                <a16:creationId xmlns:a16="http://schemas.microsoft.com/office/drawing/2014/main" id="{C3E4C1FF-4AF3-42EF-BC7A-3E4B15F9F039}"/>
              </a:ext>
            </a:extLst>
          </p:cNvPr>
          <p:cNvSpPr>
            <a:spLocks xmlns:a="http://schemas.openxmlformats.org/drawingml/2006/main" noGrp="1"/>
          </p:cNvSpPr>
          <p:nvPr/>
        </p:nvSpPr>
        <p:spPr>
          <a:xfrm xmlns:a="http://schemas.openxmlformats.org/drawingml/2006/main">
            <a:off x="9963150" y="4076700"/>
            <a:ext cx="1771650" cy="47625"/>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79" name="">
            <a:extLst xmlns:a="http://schemas.openxmlformats.org/drawingml/2006/main">
              <a:ext uri="{FF2B5EF4-FFF2-40B4-BE49-F238E27FC236}">
                <a16:creationId xmlns:a16="http://schemas.microsoft.com/office/drawing/2014/main" id="{20BEC9E2-7C1E-4E01-BCC9-71035D9DBDA8}"/>
              </a:ext>
            </a:extLst>
          </p:cNvPr>
          <p:cNvSpPr>
            <a:spLocks xmlns:a="http://schemas.openxmlformats.org/drawingml/2006/main" noGrp="1"/>
          </p:cNvSpPr>
          <p:nvPr/>
        </p:nvSpPr>
        <p:spPr>
          <a:xfrm xmlns:a="http://schemas.openxmlformats.org/drawingml/2006/main">
            <a:off x="10077450" y="4229100"/>
            <a:ext cx="15430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 TAP</a:t>
            </a:r>
          </a:p>
        </p:txBody>
      </p:sp>
      <p:sp>
        <p:nvSpPr>
          <p:cNvPr id="80" name="">
            <a:extLst xmlns:a="http://schemas.openxmlformats.org/drawingml/2006/main">
              <a:ext uri="{FF2B5EF4-FFF2-40B4-BE49-F238E27FC236}">
                <a16:creationId xmlns:a16="http://schemas.microsoft.com/office/drawing/2014/main" id="{523A7ACD-947E-45EA-B3B2-31AF9351CD65}"/>
              </a:ext>
            </a:extLst>
          </p:cNvPr>
          <p:cNvSpPr>
            <a:spLocks xmlns:a="http://schemas.openxmlformats.org/drawingml/2006/main" noGrp="1"/>
          </p:cNvSpPr>
          <p:nvPr/>
        </p:nvSpPr>
        <p:spPr>
          <a:xfrm xmlns:a="http://schemas.openxmlformats.org/drawingml/2006/main">
            <a:off x="10077450" y="4514850"/>
            <a:ext cx="1543050" cy="571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a:solidFill>
                  <a:srgbClr val="6B7280"/>
                </a:solidFill>
                <a:latin typeface="Arial"/>
                <a:ea typeface="Arial"/>
                <a:cs typeface="Arial"/>
              </a:defRPr>
            </a:pPr>
            <a:r>
              <a:t>In the wrapper; reaches scan</a:t>
            </a:r>
          </a:p>
        </p:txBody>
      </p:sp>
      <p:sp>
        <p:nvSpPr>
          <p:cNvPr id="81" name="">
            <a:extLst xmlns:a="http://schemas.openxmlformats.org/drawingml/2006/main">
              <a:ext uri="{FF2B5EF4-FFF2-40B4-BE49-F238E27FC236}">
                <a16:creationId xmlns:a16="http://schemas.microsoft.com/office/drawing/2014/main" id="{6429D0AB-0B39-4271-B2E0-B8B8BB2A3FBB}"/>
              </a:ext>
            </a:extLst>
          </p:cNvPr>
          <p:cNvSpPr>
            <a:spLocks xmlns:a="http://schemas.openxmlformats.org/drawingml/2006/main" noGrp="1"/>
          </p:cNvSpPr>
          <p:nvPr/>
        </p:nvSpPr>
        <p:spPr>
          <a:xfrm xmlns:a="http://schemas.openxmlformats.org/drawingml/2006/main">
            <a:off x="457200" y="5391150"/>
            <a:ext cx="133350" cy="133350"/>
          </a:xfrm>
          <a:prstGeom xmlns:a="http://schemas.openxmlformats.org/drawingml/2006/main" prst="rect">
            <a:avLst/>
          </a:prstGeom>
          <a:solidFill xmlns:a="http://schemas.openxmlformats.org/drawingml/2006/main">
            <a:srgbClr val="8DB4D4"/>
          </a:solidFill>
          <a:ln xmlns:a="http://schemas.openxmlformats.org/drawingml/2006/main" w="0">
            <a:noFill/>
            <a:prstDash val="solid"/>
          </a:ln>
        </p:spPr>
      </p:sp>
      <p:sp>
        <p:nvSpPr>
          <p:cNvPr id="82" name="">
            <a:extLst xmlns:a="http://schemas.openxmlformats.org/drawingml/2006/main">
              <a:ext uri="{FF2B5EF4-FFF2-40B4-BE49-F238E27FC236}">
                <a16:creationId xmlns:a16="http://schemas.microsoft.com/office/drawing/2014/main" id="{55F315C4-299B-4F1D-8599-A2D931113FCE}"/>
              </a:ext>
            </a:extLst>
          </p:cNvPr>
          <p:cNvSpPr>
            <a:spLocks xmlns:a="http://schemas.openxmlformats.org/drawingml/2006/main" noGrp="1"/>
          </p:cNvSpPr>
          <p:nvPr/>
        </p:nvSpPr>
        <p:spPr>
          <a:xfrm xmlns:a="http://schemas.openxmlformats.org/drawingml/2006/main">
            <a:off x="6667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Connectivity</a:t>
            </a:r>
          </a:p>
        </p:txBody>
      </p:sp>
      <p:sp>
        <p:nvSpPr>
          <p:cNvPr id="83" name="">
            <a:extLst xmlns:a="http://schemas.openxmlformats.org/drawingml/2006/main">
              <a:ext uri="{FF2B5EF4-FFF2-40B4-BE49-F238E27FC236}">
                <a16:creationId xmlns:a16="http://schemas.microsoft.com/office/drawing/2014/main" id="{763F4219-6C07-4599-B25F-743EF2188770}"/>
              </a:ext>
            </a:extLst>
          </p:cNvPr>
          <p:cNvSpPr>
            <a:spLocks xmlns:a="http://schemas.openxmlformats.org/drawingml/2006/main" noGrp="1"/>
          </p:cNvSpPr>
          <p:nvPr/>
        </p:nvSpPr>
        <p:spPr>
          <a:xfrm xmlns:a="http://schemas.openxmlformats.org/drawingml/2006/main">
            <a:off x="2933700" y="5391150"/>
            <a:ext cx="133350" cy="13335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84" name="">
            <a:extLst xmlns:a="http://schemas.openxmlformats.org/drawingml/2006/main">
              <a:ext uri="{FF2B5EF4-FFF2-40B4-BE49-F238E27FC236}">
                <a16:creationId xmlns:a16="http://schemas.microsoft.com/office/drawing/2014/main" id="{D1EC80C1-E09C-4A68-8612-7CDF5BB44C19}"/>
              </a:ext>
            </a:extLst>
          </p:cNvPr>
          <p:cNvSpPr>
            <a:spLocks xmlns:a="http://schemas.openxmlformats.org/drawingml/2006/main" noGrp="1"/>
          </p:cNvSpPr>
          <p:nvPr/>
        </p:nvSpPr>
        <p:spPr>
          <a:xfrm xmlns:a="http://schemas.openxmlformats.org/drawingml/2006/main">
            <a:off x="31432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Motor and sensing</a:t>
            </a:r>
          </a:p>
        </p:txBody>
      </p:sp>
      <p:sp>
        <p:nvSpPr>
          <p:cNvPr id="85" name="">
            <a:extLst xmlns:a="http://schemas.openxmlformats.org/drawingml/2006/main">
              <a:ext uri="{FF2B5EF4-FFF2-40B4-BE49-F238E27FC236}">
                <a16:creationId xmlns:a16="http://schemas.microsoft.com/office/drawing/2014/main" id="{7ECC5EAF-6970-4422-8645-E2B6EE9B0982}"/>
              </a:ext>
            </a:extLst>
          </p:cNvPr>
          <p:cNvSpPr>
            <a:spLocks xmlns:a="http://schemas.openxmlformats.org/drawingml/2006/main" noGrp="1"/>
          </p:cNvSpPr>
          <p:nvPr/>
        </p:nvSpPr>
        <p:spPr>
          <a:xfrm xmlns:a="http://schemas.openxmlformats.org/drawingml/2006/main">
            <a:off x="5410200" y="5391150"/>
            <a:ext cx="133350" cy="1333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86" name="">
            <a:extLst xmlns:a="http://schemas.openxmlformats.org/drawingml/2006/main">
              <a:ext uri="{FF2B5EF4-FFF2-40B4-BE49-F238E27FC236}">
                <a16:creationId xmlns:a16="http://schemas.microsoft.com/office/drawing/2014/main" id="{D186F01A-951D-4283-A3B5-218A5BBEFD8D}"/>
              </a:ext>
            </a:extLst>
          </p:cNvPr>
          <p:cNvSpPr>
            <a:spLocks xmlns:a="http://schemas.openxmlformats.org/drawingml/2006/main" noGrp="1"/>
          </p:cNvSpPr>
          <p:nvPr/>
        </p:nvSpPr>
        <p:spPr>
          <a:xfrm xmlns:a="http://schemas.openxmlformats.org/drawingml/2006/main">
            <a:off x="5619750" y="5343525"/>
            <a:ext cx="219075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1E293B"/>
                </a:solidFill>
                <a:latin typeface="Arial"/>
                <a:ea typeface="Arial"/>
                <a:cs typeface="Arial"/>
              </a:defRPr>
            </a:pPr>
            <a:r>
              <a:t>System, safety and test</a:t>
            </a:r>
          </a:p>
        </p:txBody>
      </p:sp>
      <p:sp>
        <p:nvSpPr>
          <p:cNvPr id="87" name="">
            <a:extLst xmlns:a="http://schemas.openxmlformats.org/drawingml/2006/main">
              <a:ext uri="{FF2B5EF4-FFF2-40B4-BE49-F238E27FC236}">
                <a16:creationId xmlns:a16="http://schemas.microsoft.com/office/drawing/2014/main" id="{77900940-2F39-44DF-9E96-D24934A1100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slave slots.</a:t>
            </a:r>
          </a:p>
        </p:txBody>
      </p:sp>
    </p:spTree>
    <p:extLst>
      <p:ext uri="{BB962C8B-B14F-4D97-AF65-F5344CB8AC3E}">
        <p14:creationId xmlns:p14="http://schemas.microsoft.com/office/powerpoint/2010/main" val="7414976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2" name="">
            <a:extLst xmlns:a="http://schemas.openxmlformats.org/drawingml/2006/main">
              <a:ext uri="{FF2B5EF4-FFF2-40B4-BE49-F238E27FC236}">
                <a16:creationId xmlns:a16="http://schemas.microsoft.com/office/drawing/2014/main" id="{E15FCC05-E0AD-4724-9C20-7903A2F2E8E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E2FCBAD-6E5A-470A-875A-DD6E2D828ED6}"/>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08 · PAD PLAN</a:t>
            </a:r>
          </a:p>
        </p:txBody>
      </p:sp>
      <p:sp>
        <p:nvSpPr>
          <p:cNvPr id="3" name="">
            <a:extLst xmlns:a="http://schemas.openxmlformats.org/drawingml/2006/main">
              <a:ext uri="{FF2B5EF4-FFF2-40B4-BE49-F238E27FC236}">
                <a16:creationId xmlns:a16="http://schemas.microsoft.com/office/drawing/2014/main" id="{59ADD777-43DB-4E23-917C-45FC420F5079}"/>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Every one of the 44 wrapper pads has a job</a:t>
            </a:r>
          </a:p>
        </p:txBody>
      </p:sp>
      <p:sp>
        <p:nvSpPr>
          <p:cNvPr id="4" name="">
            <a:extLst xmlns:a="http://schemas.openxmlformats.org/drawingml/2006/main">
              <a:ext uri="{FF2B5EF4-FFF2-40B4-BE49-F238E27FC236}">
                <a16:creationId xmlns:a16="http://schemas.microsoft.com/office/drawing/2014/main" id="{3813F51B-A876-4CD6-ACE3-ABA6093669D5}"/>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wrapper’s pad plan (rev 2), grouped by function</a:t>
            </a:r>
          </a:p>
        </p:txBody>
      </p:sp>
      <p:sp>
        <p:nvSpPr>
          <p:cNvPr id="5" name="">
            <a:extLst xmlns:a="http://schemas.openxmlformats.org/drawingml/2006/main">
              <a:ext uri="{FF2B5EF4-FFF2-40B4-BE49-F238E27FC236}">
                <a16:creationId xmlns:a16="http://schemas.microsoft.com/office/drawing/2014/main" id="{3FDECB36-7F47-41E4-AE33-4B488AB0B3E6}"/>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5681DE0-AA5A-43AF-BA65-DC631BDA6F2A}"/>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D51F9697-4752-4391-9786-AE086CCBCD87}"/>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FB56594F-68CB-43C4-8552-314B145DB838}"/>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08</a:t>
            </a:r>
          </a:p>
        </p:txBody>
      </p:sp>
      <p:sp>
        <p:nvSpPr>
          <p:cNvPr id="9" name="">
            <a:extLst xmlns:a="http://schemas.openxmlformats.org/drawingml/2006/main">
              <a:ext uri="{FF2B5EF4-FFF2-40B4-BE49-F238E27FC236}">
                <a16:creationId xmlns:a16="http://schemas.microsoft.com/office/drawing/2014/main" id="{22E4A05F-E7AD-49D7-817C-978985C772D7}"/>
              </a:ext>
            </a:extLst>
          </p:cNvPr>
          <p:cNvSpPr>
            <a:spLocks xmlns:a="http://schemas.openxmlformats.org/drawingml/2006/main" noGrp="1"/>
          </p:cNvSpPr>
          <p:nvPr/>
        </p:nvSpPr>
        <p:spPr>
          <a:xfrm xmlns:a="http://schemas.openxmlformats.org/drawingml/2006/main">
            <a:off x="457200" y="1524000"/>
            <a:ext cx="112776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ALL 44 WRAPPER PADS, BY GROUP, TO SCALE</a:t>
            </a:r>
          </a:p>
        </p:txBody>
      </p:sp>
      <p:sp>
        <p:nvSpPr>
          <p:cNvPr id="10" name="">
            <a:extLst xmlns:a="http://schemas.openxmlformats.org/drawingml/2006/main">
              <a:ext uri="{FF2B5EF4-FFF2-40B4-BE49-F238E27FC236}">
                <a16:creationId xmlns:a16="http://schemas.microsoft.com/office/drawing/2014/main" id="{AAE3FF0E-CFD5-4F4D-AFAA-8BE1FB387BBE}"/>
              </a:ext>
            </a:extLst>
          </p:cNvPr>
          <p:cNvSpPr>
            <a:spLocks xmlns:a="http://schemas.openxmlformats.org/drawingml/2006/main" noGrp="1"/>
          </p:cNvSpPr>
          <p:nvPr/>
        </p:nvSpPr>
        <p:spPr>
          <a:xfrm xmlns:a="http://schemas.openxmlformats.org/drawingml/2006/main">
            <a:off x="457200" y="1790700"/>
            <a:ext cx="1794164" cy="609600"/>
          </a:xfrm>
          <a:prstGeom xmlns:a="http://schemas.openxmlformats.org/drawingml/2006/main" prst="rect">
            <a:avLst/>
          </a:prstGeom>
          <a:solidFill xmlns:a="http://schemas.openxmlformats.org/drawingml/2006/main">
            <a:srgbClr val="35607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4F1188-1102-4E75-996E-703B8F5A0AA8}"/>
              </a:ext>
            </a:extLst>
          </p:cNvPr>
          <p:cNvSpPr>
            <a:spLocks xmlns:a="http://schemas.openxmlformats.org/drawingml/2006/main" noGrp="1"/>
          </p:cNvSpPr>
          <p:nvPr/>
        </p:nvSpPr>
        <p:spPr>
          <a:xfrm xmlns:a="http://schemas.openxmlformats.org/drawingml/2006/main">
            <a:off x="571500" y="1981200"/>
            <a:ext cx="1603664"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QSPI 7</a:t>
            </a:r>
          </a:p>
        </p:txBody>
      </p:sp>
      <p:sp>
        <p:nvSpPr>
          <p:cNvPr id="12" name="">
            <a:extLst xmlns:a="http://schemas.openxmlformats.org/drawingml/2006/main">
              <a:ext uri="{FF2B5EF4-FFF2-40B4-BE49-F238E27FC236}">
                <a16:creationId xmlns:a16="http://schemas.microsoft.com/office/drawing/2014/main" id="{3711A8EB-7D67-47D6-AAE1-222F13BA374E}"/>
              </a:ext>
            </a:extLst>
          </p:cNvPr>
          <p:cNvSpPr>
            <a:spLocks xmlns:a="http://schemas.openxmlformats.org/drawingml/2006/main" noGrp="1"/>
          </p:cNvSpPr>
          <p:nvPr/>
        </p:nvSpPr>
        <p:spPr>
          <a:xfrm xmlns:a="http://schemas.openxmlformats.org/drawingml/2006/main">
            <a:off x="2251364" y="1790700"/>
            <a:ext cx="1794164" cy="609600"/>
          </a:xfrm>
          <a:prstGeom xmlns:a="http://schemas.openxmlformats.org/drawingml/2006/main" prst="rect">
            <a:avLst/>
          </a:prstGeom>
          <a:solidFill xmlns:a="http://schemas.openxmlformats.org/drawingml/2006/main">
            <a:srgbClr val="07686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0D62F40-B41D-487F-8871-21B718A1C0B5}"/>
              </a:ext>
            </a:extLst>
          </p:cNvPr>
          <p:cNvSpPr>
            <a:spLocks xmlns:a="http://schemas.openxmlformats.org/drawingml/2006/main" noGrp="1"/>
          </p:cNvSpPr>
          <p:nvPr/>
        </p:nvSpPr>
        <p:spPr>
          <a:xfrm xmlns:a="http://schemas.openxmlformats.org/drawingml/2006/main">
            <a:off x="2365664" y="1981200"/>
            <a:ext cx="1603664"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PWM 7</a:t>
            </a:r>
          </a:p>
        </p:txBody>
      </p:sp>
      <p:sp>
        <p:nvSpPr>
          <p:cNvPr id="14" name="">
            <a:extLst xmlns:a="http://schemas.openxmlformats.org/drawingml/2006/main">
              <a:ext uri="{FF2B5EF4-FFF2-40B4-BE49-F238E27FC236}">
                <a16:creationId xmlns:a16="http://schemas.microsoft.com/office/drawing/2014/main" id="{3EF70D26-3DF4-401B-952C-6AAABB482B35}"/>
              </a:ext>
            </a:extLst>
          </p:cNvPr>
          <p:cNvSpPr>
            <a:spLocks xmlns:a="http://schemas.openxmlformats.org/drawingml/2006/main" noGrp="1"/>
          </p:cNvSpPr>
          <p:nvPr/>
        </p:nvSpPr>
        <p:spPr>
          <a:xfrm xmlns:a="http://schemas.openxmlformats.org/drawingml/2006/main">
            <a:off x="4045527" y="1790700"/>
            <a:ext cx="1537855" cy="609600"/>
          </a:xfrm>
          <a:prstGeom xmlns:a="http://schemas.openxmlformats.org/drawingml/2006/main" prst="rect">
            <a:avLst/>
          </a:prstGeom>
          <a:solidFill xmlns:a="http://schemas.openxmlformats.org/drawingml/2006/main">
            <a:srgbClr val="0A7C7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B35D6A1-426A-4392-A4DE-9A7BDAF3A53E}"/>
              </a:ext>
            </a:extLst>
          </p:cNvPr>
          <p:cNvSpPr>
            <a:spLocks xmlns:a="http://schemas.openxmlformats.org/drawingml/2006/main" noGrp="1"/>
          </p:cNvSpPr>
          <p:nvPr/>
        </p:nvSpPr>
        <p:spPr>
          <a:xfrm xmlns:a="http://schemas.openxmlformats.org/drawingml/2006/main">
            <a:off x="4159827" y="1981200"/>
            <a:ext cx="1347355"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ENC + HALL 6</a:t>
            </a:r>
          </a:p>
        </p:txBody>
      </p:sp>
      <p:sp>
        <p:nvSpPr>
          <p:cNvPr id="16" name="">
            <a:extLst xmlns:a="http://schemas.openxmlformats.org/drawingml/2006/main">
              <a:ext uri="{FF2B5EF4-FFF2-40B4-BE49-F238E27FC236}">
                <a16:creationId xmlns:a16="http://schemas.microsoft.com/office/drawing/2014/main" id="{DF6ACCAF-EA4D-4933-BF00-522446BBB8B8}"/>
              </a:ext>
            </a:extLst>
          </p:cNvPr>
          <p:cNvSpPr>
            <a:spLocks xmlns:a="http://schemas.openxmlformats.org/drawingml/2006/main" noGrp="1"/>
          </p:cNvSpPr>
          <p:nvPr/>
        </p:nvSpPr>
        <p:spPr>
          <a:xfrm xmlns:a="http://schemas.openxmlformats.org/drawingml/2006/main">
            <a:off x="5583382" y="1790700"/>
            <a:ext cx="1025236" cy="609600"/>
          </a:xfrm>
          <a:prstGeom xmlns:a="http://schemas.openxmlformats.org/drawingml/2006/main" prst="rect">
            <a:avLst/>
          </a:prstGeom>
          <a:solidFill xmlns:a="http://schemas.openxmlformats.org/drawingml/2006/main">
            <a:srgbClr val="0077A3"/>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FCE4A82-AF0C-4B3D-B348-D315156C754C}"/>
              </a:ext>
            </a:extLst>
          </p:cNvPr>
          <p:cNvSpPr>
            <a:spLocks xmlns:a="http://schemas.openxmlformats.org/drawingml/2006/main" noGrp="1"/>
          </p:cNvSpPr>
          <p:nvPr/>
        </p:nvSpPr>
        <p:spPr>
          <a:xfrm xmlns:a="http://schemas.openxmlformats.org/drawingml/2006/main">
            <a:off x="5697682"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UART 4</a:t>
            </a:r>
          </a:p>
        </p:txBody>
      </p:sp>
      <p:sp>
        <p:nvSpPr>
          <p:cNvPr id="18" name="">
            <a:extLst xmlns:a="http://schemas.openxmlformats.org/drawingml/2006/main">
              <a:ext uri="{FF2B5EF4-FFF2-40B4-BE49-F238E27FC236}">
                <a16:creationId xmlns:a16="http://schemas.microsoft.com/office/drawing/2014/main" id="{1985A4DE-FFE7-4BAA-8EA6-A7764E25512C}"/>
              </a:ext>
            </a:extLst>
          </p:cNvPr>
          <p:cNvSpPr>
            <a:spLocks xmlns:a="http://schemas.openxmlformats.org/drawingml/2006/main" noGrp="1"/>
          </p:cNvSpPr>
          <p:nvPr/>
        </p:nvSpPr>
        <p:spPr>
          <a:xfrm xmlns:a="http://schemas.openxmlformats.org/drawingml/2006/main">
            <a:off x="6608618" y="1790700"/>
            <a:ext cx="1025236" cy="609600"/>
          </a:xfrm>
          <a:prstGeom xmlns:a="http://schemas.openxmlformats.org/drawingml/2006/main" prst="rect">
            <a:avLst/>
          </a:prstGeom>
          <a:solidFill xmlns:a="http://schemas.openxmlformats.org/drawingml/2006/main">
            <a:srgbClr val="2B527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4C80030-10AC-4B0B-9DC1-1236A5080536}"/>
              </a:ext>
            </a:extLst>
          </p:cNvPr>
          <p:cNvSpPr>
            <a:spLocks xmlns:a="http://schemas.openxmlformats.org/drawingml/2006/main" noGrp="1"/>
          </p:cNvSpPr>
          <p:nvPr/>
        </p:nvSpPr>
        <p:spPr>
          <a:xfrm xmlns:a="http://schemas.openxmlformats.org/drawingml/2006/main">
            <a:off x="6722918"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SPI 4</a:t>
            </a:r>
          </a:p>
        </p:txBody>
      </p:sp>
      <p:sp>
        <p:nvSpPr>
          <p:cNvPr id="20" name="">
            <a:extLst xmlns:a="http://schemas.openxmlformats.org/drawingml/2006/main">
              <a:ext uri="{FF2B5EF4-FFF2-40B4-BE49-F238E27FC236}">
                <a16:creationId xmlns:a16="http://schemas.microsoft.com/office/drawing/2014/main" id="{A17E9BBF-6459-47D2-9B5F-E8180C9E1FBB}"/>
              </a:ext>
            </a:extLst>
          </p:cNvPr>
          <p:cNvSpPr>
            <a:spLocks xmlns:a="http://schemas.openxmlformats.org/drawingml/2006/main" noGrp="1"/>
          </p:cNvSpPr>
          <p:nvPr/>
        </p:nvSpPr>
        <p:spPr>
          <a:xfrm xmlns:a="http://schemas.openxmlformats.org/drawingml/2006/main">
            <a:off x="7633855" y="1790700"/>
            <a:ext cx="1025236" cy="609600"/>
          </a:xfrm>
          <a:prstGeom xmlns:a="http://schemas.openxmlformats.org/drawingml/2006/main" prst="rect">
            <a:avLst/>
          </a:prstGeom>
          <a:solidFill xmlns:a="http://schemas.openxmlformats.org/drawingml/2006/main">
            <a:srgbClr val="4B5563"/>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D55A38B6-B7C8-4113-8840-AB5DF0D1B57A}"/>
              </a:ext>
            </a:extLst>
          </p:cNvPr>
          <p:cNvSpPr>
            <a:spLocks xmlns:a="http://schemas.openxmlformats.org/drawingml/2006/main" noGrp="1"/>
          </p:cNvSpPr>
          <p:nvPr/>
        </p:nvSpPr>
        <p:spPr>
          <a:xfrm xmlns:a="http://schemas.openxmlformats.org/drawingml/2006/main">
            <a:off x="7748155" y="1981200"/>
            <a:ext cx="834736"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JTAG 4</a:t>
            </a:r>
          </a:p>
        </p:txBody>
      </p:sp>
      <p:sp>
        <p:nvSpPr>
          <p:cNvPr id="22" name="">
            <a:extLst xmlns:a="http://schemas.openxmlformats.org/drawingml/2006/main">
              <a:ext uri="{FF2B5EF4-FFF2-40B4-BE49-F238E27FC236}">
                <a16:creationId xmlns:a16="http://schemas.microsoft.com/office/drawing/2014/main" id="{8491F4F1-B7BC-42EA-9767-538AC17E2A44}"/>
              </a:ext>
            </a:extLst>
          </p:cNvPr>
          <p:cNvSpPr>
            <a:spLocks xmlns:a="http://schemas.openxmlformats.org/drawingml/2006/main" noGrp="1"/>
          </p:cNvSpPr>
          <p:nvPr/>
        </p:nvSpPr>
        <p:spPr>
          <a:xfrm xmlns:a="http://schemas.openxmlformats.org/drawingml/2006/main">
            <a:off x="8659091" y="1790700"/>
            <a:ext cx="768927" cy="609600"/>
          </a:xfrm>
          <a:prstGeom xmlns:a="http://schemas.openxmlformats.org/drawingml/2006/main" prst="rect">
            <a:avLst/>
          </a:prstGeom>
          <a:solidFill xmlns:a="http://schemas.openxmlformats.org/drawingml/2006/main">
            <a:srgbClr val="5B6B7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78F84FC-B38F-4E5C-8A42-F5E601E1214C}"/>
              </a:ext>
            </a:extLst>
          </p:cNvPr>
          <p:cNvSpPr>
            <a:spLocks xmlns:a="http://schemas.openxmlformats.org/drawingml/2006/main" noGrp="1"/>
          </p:cNvSpPr>
          <p:nvPr/>
        </p:nvSpPr>
        <p:spPr>
          <a:xfrm xmlns:a="http://schemas.openxmlformats.org/drawingml/2006/main">
            <a:off x="8773391" y="1981200"/>
            <a:ext cx="578427"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a:solidFill>
                  <a:srgbClr val="FFFFFF"/>
                </a:solidFill>
                <a:latin typeface="Arial"/>
                <a:ea typeface="Arial"/>
                <a:cs typeface="Arial"/>
              </a:defRPr>
            </a:pPr>
            <a:r>
              <a:t>GPIO 3</a:t>
            </a:r>
          </a:p>
        </p:txBody>
      </p:sp>
      <p:sp>
        <p:nvSpPr>
          <p:cNvPr id="24" name="">
            <a:extLst xmlns:a="http://schemas.openxmlformats.org/drawingml/2006/main">
              <a:ext uri="{FF2B5EF4-FFF2-40B4-BE49-F238E27FC236}">
                <a16:creationId xmlns:a16="http://schemas.microsoft.com/office/drawing/2014/main" id="{BCAA2AFE-4D0F-4BCF-8DD7-7925EF5C93AB}"/>
              </a:ext>
            </a:extLst>
          </p:cNvPr>
          <p:cNvSpPr>
            <a:spLocks xmlns:a="http://schemas.openxmlformats.org/drawingml/2006/main" noGrp="1"/>
          </p:cNvSpPr>
          <p:nvPr/>
        </p:nvSpPr>
        <p:spPr>
          <a:xfrm xmlns:a="http://schemas.openxmlformats.org/drawingml/2006/main">
            <a:off x="9428018" y="1790700"/>
            <a:ext cx="512618" cy="609600"/>
          </a:xfrm>
          <a:prstGeom xmlns:a="http://schemas.openxmlformats.org/drawingml/2006/main" prst="rect">
            <a:avLst/>
          </a:prstGeom>
          <a:solidFill xmlns:a="http://schemas.openxmlformats.org/drawingml/2006/main">
            <a:srgbClr val="6B728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D821B2A-7300-4DE3-BE9C-701378105146}"/>
              </a:ext>
            </a:extLst>
          </p:cNvPr>
          <p:cNvSpPr>
            <a:spLocks xmlns:a="http://schemas.openxmlformats.org/drawingml/2006/main" noGrp="1"/>
          </p:cNvSpPr>
          <p:nvPr/>
        </p:nvSpPr>
        <p:spPr>
          <a:xfrm xmlns:a="http://schemas.openxmlformats.org/drawingml/2006/main">
            <a:off x="9940636" y="1790700"/>
            <a:ext cx="512618" cy="609600"/>
          </a:xfrm>
          <a:prstGeom xmlns:a="http://schemas.openxmlformats.org/drawingml/2006/main" prst="rect">
            <a:avLst/>
          </a:prstGeom>
          <a:solidFill xmlns:a="http://schemas.openxmlformats.org/drawingml/2006/main">
            <a:srgbClr val="47556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5227DDF-255A-477C-B289-16C7AA71B83B}"/>
              </a:ext>
            </a:extLst>
          </p:cNvPr>
          <p:cNvSpPr>
            <a:spLocks xmlns:a="http://schemas.openxmlformats.org/drawingml/2006/main" noGrp="1"/>
          </p:cNvSpPr>
          <p:nvPr/>
        </p:nvSpPr>
        <p:spPr>
          <a:xfrm xmlns:a="http://schemas.openxmlformats.org/drawingml/2006/main">
            <a:off x="10453255" y="1790700"/>
            <a:ext cx="512618" cy="609600"/>
          </a:xfrm>
          <a:prstGeom xmlns:a="http://schemas.openxmlformats.org/drawingml/2006/main" prst="rect">
            <a:avLst/>
          </a:prstGeom>
          <a:solidFill xmlns:a="http://schemas.openxmlformats.org/drawingml/2006/main">
            <a:srgbClr val="0E749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F2DDF723-C384-4BB2-B7FB-F4603295F3B4}"/>
              </a:ext>
            </a:extLst>
          </p:cNvPr>
          <p:cNvSpPr>
            <a:spLocks xmlns:a="http://schemas.openxmlformats.org/drawingml/2006/main" noGrp="1"/>
          </p:cNvSpPr>
          <p:nvPr/>
        </p:nvSpPr>
        <p:spPr>
          <a:xfrm xmlns:a="http://schemas.openxmlformats.org/drawingml/2006/main">
            <a:off x="10965873" y="1790700"/>
            <a:ext cx="256309" cy="6096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10F9A90B-1AD0-404C-8655-19A78E15C958}"/>
              </a:ext>
            </a:extLst>
          </p:cNvPr>
          <p:cNvSpPr>
            <a:spLocks xmlns:a="http://schemas.openxmlformats.org/drawingml/2006/main" noGrp="1"/>
          </p:cNvSpPr>
          <p:nvPr/>
        </p:nvSpPr>
        <p:spPr>
          <a:xfrm xmlns:a="http://schemas.openxmlformats.org/drawingml/2006/main">
            <a:off x="11222182" y="1790700"/>
            <a:ext cx="256309" cy="609600"/>
          </a:xfrm>
          <a:prstGeom xmlns:a="http://schemas.openxmlformats.org/drawingml/2006/main" prst="rect">
            <a:avLst/>
          </a:prstGeom>
          <a:solidFill xmlns:a="http://schemas.openxmlformats.org/drawingml/2006/main">
            <a:srgbClr val="B4231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3687147-BFDC-4E11-BC7B-79891C621488}"/>
              </a:ext>
            </a:extLst>
          </p:cNvPr>
          <p:cNvSpPr>
            <a:spLocks xmlns:a="http://schemas.openxmlformats.org/drawingml/2006/main" noGrp="1"/>
          </p:cNvSpPr>
          <p:nvPr/>
        </p:nvSpPr>
        <p:spPr>
          <a:xfrm xmlns:a="http://schemas.openxmlformats.org/drawingml/2006/main">
            <a:off x="11478491" y="1790700"/>
            <a:ext cx="256309" cy="60960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C40B02A-99B2-44A5-A606-52A1812B79FD}"/>
              </a:ext>
            </a:extLst>
          </p:cNvPr>
          <p:cNvSpPr>
            <a:spLocks xmlns:a="http://schemas.openxmlformats.org/drawingml/2006/main" noGrp="1"/>
          </p:cNvSpPr>
          <p:nvPr/>
        </p:nvSpPr>
        <p:spPr>
          <a:xfrm xmlns:a="http://schemas.openxmlformats.org/drawingml/2006/main">
            <a:off x="457200" y="2590800"/>
            <a:ext cx="550545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EF88D20-629D-4EA2-A8F0-B098FF832F73}"/>
              </a:ext>
            </a:extLst>
          </p:cNvPr>
          <p:cNvSpPr>
            <a:spLocks xmlns:a="http://schemas.openxmlformats.org/drawingml/2006/main" noGrp="1"/>
          </p:cNvSpPr>
          <p:nvPr/>
        </p:nvSpPr>
        <p:spPr>
          <a:xfrm xmlns:a="http://schemas.openxmlformats.org/drawingml/2006/main">
            <a:off x="590550" y="2705100"/>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32" name="">
            <a:extLst xmlns:a="http://schemas.openxmlformats.org/drawingml/2006/main">
              <a:ext uri="{FF2B5EF4-FFF2-40B4-BE49-F238E27FC236}">
                <a16:creationId xmlns:a16="http://schemas.microsoft.com/office/drawing/2014/main" id="{F344E624-19E3-4050-82D1-68B718C0337A}"/>
              </a:ext>
            </a:extLst>
          </p:cNvPr>
          <p:cNvSpPr>
            <a:spLocks xmlns:a="http://schemas.openxmlformats.org/drawingml/2006/main" noGrp="1"/>
          </p:cNvSpPr>
          <p:nvPr/>
        </p:nvSpPr>
        <p:spPr>
          <a:xfrm xmlns:a="http://schemas.openxmlformats.org/drawingml/2006/main">
            <a:off x="2400300" y="2705100"/>
            <a:ext cx="476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PADS</a:t>
            </a:r>
          </a:p>
        </p:txBody>
      </p:sp>
      <p:sp>
        <p:nvSpPr>
          <p:cNvPr id="33" name="">
            <a:extLst xmlns:a="http://schemas.openxmlformats.org/drawingml/2006/main">
              <a:ext uri="{FF2B5EF4-FFF2-40B4-BE49-F238E27FC236}">
                <a16:creationId xmlns:a16="http://schemas.microsoft.com/office/drawing/2014/main" id="{9AFD7640-CFA6-4462-88BE-32114A909981}"/>
              </a:ext>
            </a:extLst>
          </p:cNvPr>
          <p:cNvSpPr>
            <a:spLocks xmlns:a="http://schemas.openxmlformats.org/drawingml/2006/main" noGrp="1"/>
          </p:cNvSpPr>
          <p:nvPr/>
        </p:nvSpPr>
        <p:spPr>
          <a:xfrm xmlns:a="http://schemas.openxmlformats.org/drawingml/2006/main">
            <a:off x="3067050" y="2705100"/>
            <a:ext cx="2838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CARRIES</a:t>
            </a:r>
          </a:p>
        </p:txBody>
      </p:sp>
      <p:sp>
        <p:nvSpPr>
          <p:cNvPr id="34" name="">
            <a:extLst xmlns:a="http://schemas.openxmlformats.org/drawingml/2006/main">
              <a:ext uri="{FF2B5EF4-FFF2-40B4-BE49-F238E27FC236}">
                <a16:creationId xmlns:a16="http://schemas.microsoft.com/office/drawing/2014/main" id="{E297AFDB-68FF-43C8-9E70-5AC4149A6E4B}"/>
              </a:ext>
            </a:extLst>
          </p:cNvPr>
          <p:cNvSpPr>
            <a:spLocks xmlns:a="http://schemas.openxmlformats.org/drawingml/2006/main" noGrp="1"/>
          </p:cNvSpPr>
          <p:nvPr/>
        </p:nvSpPr>
        <p:spPr>
          <a:xfrm xmlns:a="http://schemas.openxmlformats.org/drawingml/2006/main">
            <a:off x="457200" y="2933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6122B38D-4F3C-43AF-ADA2-93D73E6CBC17}"/>
              </a:ext>
            </a:extLst>
          </p:cNvPr>
          <p:cNvSpPr>
            <a:spLocks xmlns:a="http://schemas.openxmlformats.org/drawingml/2006/main" noGrp="1"/>
          </p:cNvSpPr>
          <p:nvPr/>
        </p:nvSpPr>
        <p:spPr>
          <a:xfrm xmlns:a="http://schemas.openxmlformats.org/drawingml/2006/main">
            <a:off x="590550" y="3038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Clock</a:t>
            </a:r>
          </a:p>
        </p:txBody>
      </p:sp>
      <p:sp>
        <p:nvSpPr>
          <p:cNvPr id="36" name="">
            <a:extLst xmlns:a="http://schemas.openxmlformats.org/drawingml/2006/main">
              <a:ext uri="{FF2B5EF4-FFF2-40B4-BE49-F238E27FC236}">
                <a16:creationId xmlns:a16="http://schemas.microsoft.com/office/drawing/2014/main" id="{E439614C-1C9E-42F5-AF4C-6FAD21890812}"/>
              </a:ext>
            </a:extLst>
          </p:cNvPr>
          <p:cNvSpPr>
            <a:spLocks xmlns:a="http://schemas.openxmlformats.org/drawingml/2006/main" noGrp="1"/>
          </p:cNvSpPr>
          <p:nvPr/>
        </p:nvSpPr>
        <p:spPr>
          <a:xfrm xmlns:a="http://schemas.openxmlformats.org/drawingml/2006/main">
            <a:off x="2400300" y="3038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37" name="">
            <a:extLst xmlns:a="http://schemas.openxmlformats.org/drawingml/2006/main">
              <a:ext uri="{FF2B5EF4-FFF2-40B4-BE49-F238E27FC236}">
                <a16:creationId xmlns:a16="http://schemas.microsoft.com/office/drawing/2014/main" id="{00355CC6-AF47-473A-9E0E-AFE166A63565}"/>
              </a:ext>
            </a:extLst>
          </p:cNvPr>
          <p:cNvSpPr>
            <a:spLocks xmlns:a="http://schemas.openxmlformats.org/drawingml/2006/main" noGrp="1"/>
          </p:cNvSpPr>
          <p:nvPr/>
        </p:nvSpPr>
        <p:spPr>
          <a:xfrm xmlns:a="http://schemas.openxmlformats.org/drawingml/2006/main">
            <a:off x="3067050" y="3038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50 MHz clock in</a:t>
            </a:r>
          </a:p>
        </p:txBody>
      </p:sp>
      <p:sp>
        <p:nvSpPr>
          <p:cNvPr id="38" name="">
            <a:extLst xmlns:a="http://schemas.openxmlformats.org/drawingml/2006/main">
              <a:ext uri="{FF2B5EF4-FFF2-40B4-BE49-F238E27FC236}">
                <a16:creationId xmlns:a16="http://schemas.microsoft.com/office/drawing/2014/main" id="{3D1766C1-97EB-49F2-8B57-6C570563F3B4}"/>
              </a:ext>
            </a:extLst>
          </p:cNvPr>
          <p:cNvSpPr>
            <a:spLocks xmlns:a="http://schemas.openxmlformats.org/drawingml/2006/main" noGrp="1"/>
          </p:cNvSpPr>
          <p:nvPr/>
        </p:nvSpPr>
        <p:spPr>
          <a:xfrm xmlns:a="http://schemas.openxmlformats.org/drawingml/2006/main">
            <a:off x="457200" y="3314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B6F17486-B2BF-4B82-9E3E-813AA7071BC3}"/>
              </a:ext>
            </a:extLst>
          </p:cNvPr>
          <p:cNvSpPr>
            <a:spLocks xmlns:a="http://schemas.openxmlformats.org/drawingml/2006/main" noGrp="1"/>
          </p:cNvSpPr>
          <p:nvPr/>
        </p:nvSpPr>
        <p:spPr>
          <a:xfrm xmlns:a="http://schemas.openxmlformats.org/drawingml/2006/main">
            <a:off x="590550" y="3419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QSPI flash</a:t>
            </a:r>
          </a:p>
        </p:txBody>
      </p:sp>
      <p:sp>
        <p:nvSpPr>
          <p:cNvPr id="40" name="">
            <a:extLst xmlns:a="http://schemas.openxmlformats.org/drawingml/2006/main">
              <a:ext uri="{FF2B5EF4-FFF2-40B4-BE49-F238E27FC236}">
                <a16:creationId xmlns:a16="http://schemas.microsoft.com/office/drawing/2014/main" id="{E65C60CF-E147-46BA-BA13-3DC4B2A9F89B}"/>
              </a:ext>
            </a:extLst>
          </p:cNvPr>
          <p:cNvSpPr>
            <a:spLocks xmlns:a="http://schemas.openxmlformats.org/drawingml/2006/main" noGrp="1"/>
          </p:cNvSpPr>
          <p:nvPr/>
        </p:nvSpPr>
        <p:spPr>
          <a:xfrm xmlns:a="http://schemas.openxmlformats.org/drawingml/2006/main">
            <a:off x="2400300" y="3419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41" name="">
            <a:extLst xmlns:a="http://schemas.openxmlformats.org/drawingml/2006/main">
              <a:ext uri="{FF2B5EF4-FFF2-40B4-BE49-F238E27FC236}">
                <a16:creationId xmlns:a16="http://schemas.microsoft.com/office/drawing/2014/main" id="{8ECF0BB5-671B-4A69-A7BE-27B5D19614F0}"/>
              </a:ext>
            </a:extLst>
          </p:cNvPr>
          <p:cNvSpPr>
            <a:spLocks xmlns:a="http://schemas.openxmlformats.org/drawingml/2006/main" noGrp="1"/>
          </p:cNvSpPr>
          <p:nvPr/>
        </p:nvSpPr>
        <p:spPr>
          <a:xfrm xmlns:a="http://schemas.openxmlformats.org/drawingml/2006/main">
            <a:off x="3067050" y="3419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4 data, 2 selects</a:t>
            </a:r>
          </a:p>
        </p:txBody>
      </p:sp>
      <p:sp>
        <p:nvSpPr>
          <p:cNvPr id="42" name="">
            <a:extLst xmlns:a="http://schemas.openxmlformats.org/drawingml/2006/main">
              <a:ext uri="{FF2B5EF4-FFF2-40B4-BE49-F238E27FC236}">
                <a16:creationId xmlns:a16="http://schemas.microsoft.com/office/drawing/2014/main" id="{01F0AABF-ED18-4AA6-B4B7-5652D5F0747F}"/>
              </a:ext>
            </a:extLst>
          </p:cNvPr>
          <p:cNvSpPr>
            <a:spLocks xmlns:a="http://schemas.openxmlformats.org/drawingml/2006/main" noGrp="1"/>
          </p:cNvSpPr>
          <p:nvPr/>
        </p:nvSpPr>
        <p:spPr>
          <a:xfrm xmlns:a="http://schemas.openxmlformats.org/drawingml/2006/main">
            <a:off x="457200" y="3695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EBD0786E-CB61-4A1E-86C2-E14674231595}"/>
              </a:ext>
            </a:extLst>
          </p:cNvPr>
          <p:cNvSpPr>
            <a:spLocks xmlns:a="http://schemas.openxmlformats.org/drawingml/2006/main" noGrp="1"/>
          </p:cNvSpPr>
          <p:nvPr/>
        </p:nvSpPr>
        <p:spPr>
          <a:xfrm xmlns:a="http://schemas.openxmlformats.org/drawingml/2006/main">
            <a:off x="590550" y="3800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UART0 / UART1</a:t>
            </a:r>
          </a:p>
        </p:txBody>
      </p:sp>
      <p:sp>
        <p:nvSpPr>
          <p:cNvPr id="44" name="">
            <a:extLst xmlns:a="http://schemas.openxmlformats.org/drawingml/2006/main">
              <a:ext uri="{FF2B5EF4-FFF2-40B4-BE49-F238E27FC236}">
                <a16:creationId xmlns:a16="http://schemas.microsoft.com/office/drawing/2014/main" id="{BD709727-7084-4953-B8E1-1EF11FBF4D57}"/>
              </a:ext>
            </a:extLst>
          </p:cNvPr>
          <p:cNvSpPr>
            <a:spLocks xmlns:a="http://schemas.openxmlformats.org/drawingml/2006/main" noGrp="1"/>
          </p:cNvSpPr>
          <p:nvPr/>
        </p:nvSpPr>
        <p:spPr>
          <a:xfrm xmlns:a="http://schemas.openxmlformats.org/drawingml/2006/main">
            <a:off x="2400300" y="3800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45" name="">
            <a:extLst xmlns:a="http://schemas.openxmlformats.org/drawingml/2006/main">
              <a:ext uri="{FF2B5EF4-FFF2-40B4-BE49-F238E27FC236}">
                <a16:creationId xmlns:a16="http://schemas.microsoft.com/office/drawing/2014/main" id="{C2371986-ECD6-45E7-AF5F-6F12DD718E70}"/>
              </a:ext>
            </a:extLst>
          </p:cNvPr>
          <p:cNvSpPr>
            <a:spLocks xmlns:a="http://schemas.openxmlformats.org/drawingml/2006/main" noGrp="1"/>
          </p:cNvSpPr>
          <p:nvPr/>
        </p:nvSpPr>
        <p:spPr>
          <a:xfrm xmlns:a="http://schemas.openxmlformats.org/drawingml/2006/main">
            <a:off x="3067050" y="3800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Console and telemetry</a:t>
            </a:r>
          </a:p>
        </p:txBody>
      </p:sp>
      <p:sp>
        <p:nvSpPr>
          <p:cNvPr id="46" name="">
            <a:extLst xmlns:a="http://schemas.openxmlformats.org/drawingml/2006/main">
              <a:ext uri="{FF2B5EF4-FFF2-40B4-BE49-F238E27FC236}">
                <a16:creationId xmlns:a16="http://schemas.microsoft.com/office/drawing/2014/main" id="{7190A2B3-54DF-46CB-B50F-1E79401CB839}"/>
              </a:ext>
            </a:extLst>
          </p:cNvPr>
          <p:cNvSpPr>
            <a:spLocks xmlns:a="http://schemas.openxmlformats.org/drawingml/2006/main" noGrp="1"/>
          </p:cNvSpPr>
          <p:nvPr/>
        </p:nvSpPr>
        <p:spPr>
          <a:xfrm xmlns:a="http://schemas.openxmlformats.org/drawingml/2006/main">
            <a:off x="457200" y="4076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612C8271-15A5-4E5A-8DD3-B3E548C4DC85}"/>
              </a:ext>
            </a:extLst>
          </p:cNvPr>
          <p:cNvSpPr>
            <a:spLocks xmlns:a="http://schemas.openxmlformats.org/drawingml/2006/main" noGrp="1"/>
          </p:cNvSpPr>
          <p:nvPr/>
        </p:nvSpPr>
        <p:spPr>
          <a:xfrm xmlns:a="http://schemas.openxmlformats.org/drawingml/2006/main">
            <a:off x="590550" y="4181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SPI</a:t>
            </a:r>
          </a:p>
        </p:txBody>
      </p:sp>
      <p:sp>
        <p:nvSpPr>
          <p:cNvPr id="48" name="">
            <a:extLst xmlns:a="http://schemas.openxmlformats.org/drawingml/2006/main">
              <a:ext uri="{FF2B5EF4-FFF2-40B4-BE49-F238E27FC236}">
                <a16:creationId xmlns:a16="http://schemas.microsoft.com/office/drawing/2014/main" id="{5AF8335F-0C03-40AC-811A-24D05D284289}"/>
              </a:ext>
            </a:extLst>
          </p:cNvPr>
          <p:cNvSpPr>
            <a:spLocks xmlns:a="http://schemas.openxmlformats.org/drawingml/2006/main" noGrp="1"/>
          </p:cNvSpPr>
          <p:nvPr/>
        </p:nvSpPr>
        <p:spPr>
          <a:xfrm xmlns:a="http://schemas.openxmlformats.org/drawingml/2006/main">
            <a:off x="2400300" y="4181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49" name="">
            <a:extLst xmlns:a="http://schemas.openxmlformats.org/drawingml/2006/main">
              <a:ext uri="{FF2B5EF4-FFF2-40B4-BE49-F238E27FC236}">
                <a16:creationId xmlns:a16="http://schemas.microsoft.com/office/drawing/2014/main" id="{902E7C9C-3329-4A18-B156-650315512D47}"/>
              </a:ext>
            </a:extLst>
          </p:cNvPr>
          <p:cNvSpPr>
            <a:spLocks xmlns:a="http://schemas.openxmlformats.org/drawingml/2006/main" noGrp="1"/>
          </p:cNvSpPr>
          <p:nvPr/>
        </p:nvSpPr>
        <p:spPr>
          <a:xfrm xmlns:a="http://schemas.openxmlformats.org/drawingml/2006/main">
            <a:off x="3067050" y="4181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Master clock, data, select</a:t>
            </a:r>
          </a:p>
        </p:txBody>
      </p:sp>
      <p:sp>
        <p:nvSpPr>
          <p:cNvPr id="50" name="">
            <a:extLst xmlns:a="http://schemas.openxmlformats.org/drawingml/2006/main">
              <a:ext uri="{FF2B5EF4-FFF2-40B4-BE49-F238E27FC236}">
                <a16:creationId xmlns:a16="http://schemas.microsoft.com/office/drawing/2014/main" id="{3BA58B92-F92D-4DB7-8341-499469614137}"/>
              </a:ext>
            </a:extLst>
          </p:cNvPr>
          <p:cNvSpPr>
            <a:spLocks xmlns:a="http://schemas.openxmlformats.org/drawingml/2006/main" noGrp="1"/>
          </p:cNvSpPr>
          <p:nvPr/>
        </p:nvSpPr>
        <p:spPr>
          <a:xfrm xmlns:a="http://schemas.openxmlformats.org/drawingml/2006/main">
            <a:off x="457200" y="4457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EA6873DD-77FA-46BD-A09E-B1C68C20F09B}"/>
              </a:ext>
            </a:extLst>
          </p:cNvPr>
          <p:cNvSpPr>
            <a:spLocks xmlns:a="http://schemas.openxmlformats.org/drawingml/2006/main" noGrp="1"/>
          </p:cNvSpPr>
          <p:nvPr/>
        </p:nvSpPr>
        <p:spPr>
          <a:xfrm xmlns:a="http://schemas.openxmlformats.org/drawingml/2006/main">
            <a:off x="590550" y="4562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I²C</a:t>
            </a:r>
          </a:p>
        </p:txBody>
      </p:sp>
      <p:sp>
        <p:nvSpPr>
          <p:cNvPr id="52" name="">
            <a:extLst xmlns:a="http://schemas.openxmlformats.org/drawingml/2006/main">
              <a:ext uri="{FF2B5EF4-FFF2-40B4-BE49-F238E27FC236}">
                <a16:creationId xmlns:a16="http://schemas.microsoft.com/office/drawing/2014/main" id="{5BCB543F-01C9-416B-BF81-041EAC79425C}"/>
              </a:ext>
            </a:extLst>
          </p:cNvPr>
          <p:cNvSpPr>
            <a:spLocks xmlns:a="http://schemas.openxmlformats.org/drawingml/2006/main" noGrp="1"/>
          </p:cNvSpPr>
          <p:nvPr/>
        </p:nvSpPr>
        <p:spPr>
          <a:xfrm xmlns:a="http://schemas.openxmlformats.org/drawingml/2006/main">
            <a:off x="2400300" y="4562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53" name="">
            <a:extLst xmlns:a="http://schemas.openxmlformats.org/drawingml/2006/main">
              <a:ext uri="{FF2B5EF4-FFF2-40B4-BE49-F238E27FC236}">
                <a16:creationId xmlns:a16="http://schemas.microsoft.com/office/drawing/2014/main" id="{923A8C57-67BD-4BD8-A1E4-10D2FD9237CF}"/>
              </a:ext>
            </a:extLst>
          </p:cNvPr>
          <p:cNvSpPr>
            <a:spLocks xmlns:a="http://schemas.openxmlformats.org/drawingml/2006/main" noGrp="1"/>
          </p:cNvSpPr>
          <p:nvPr/>
        </p:nvSpPr>
        <p:spPr>
          <a:xfrm xmlns:a="http://schemas.openxmlformats.org/drawingml/2006/main">
            <a:off x="3067050" y="4562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Clock and data, open-drain</a:t>
            </a:r>
          </a:p>
        </p:txBody>
      </p:sp>
      <p:sp>
        <p:nvSpPr>
          <p:cNvPr id="54" name="">
            <a:extLst xmlns:a="http://schemas.openxmlformats.org/drawingml/2006/main">
              <a:ext uri="{FF2B5EF4-FFF2-40B4-BE49-F238E27FC236}">
                <a16:creationId xmlns:a16="http://schemas.microsoft.com/office/drawing/2014/main" id="{EBD95C93-8296-4A04-82D3-969C6DB20D64}"/>
              </a:ext>
            </a:extLst>
          </p:cNvPr>
          <p:cNvSpPr>
            <a:spLocks xmlns:a="http://schemas.openxmlformats.org/drawingml/2006/main" noGrp="1"/>
          </p:cNvSpPr>
          <p:nvPr/>
        </p:nvSpPr>
        <p:spPr>
          <a:xfrm xmlns:a="http://schemas.openxmlformats.org/drawingml/2006/main">
            <a:off x="457200" y="4838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A8B01F3A-3DE4-4B6A-A9AD-AB8343CBDE9F}"/>
              </a:ext>
            </a:extLst>
          </p:cNvPr>
          <p:cNvSpPr>
            <a:spLocks xmlns:a="http://schemas.openxmlformats.org/drawingml/2006/main" noGrp="1"/>
          </p:cNvSpPr>
          <p:nvPr/>
        </p:nvSpPr>
        <p:spPr>
          <a:xfrm xmlns:a="http://schemas.openxmlformats.org/drawingml/2006/main">
            <a:off x="590550" y="4943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GPIO</a:t>
            </a:r>
          </a:p>
        </p:txBody>
      </p:sp>
      <p:sp>
        <p:nvSpPr>
          <p:cNvPr id="56" name="">
            <a:extLst xmlns:a="http://schemas.openxmlformats.org/drawingml/2006/main">
              <a:ext uri="{FF2B5EF4-FFF2-40B4-BE49-F238E27FC236}">
                <a16:creationId xmlns:a16="http://schemas.microsoft.com/office/drawing/2014/main" id="{9C59CCCC-6996-4B05-A916-BE7F5EE5B08E}"/>
              </a:ext>
            </a:extLst>
          </p:cNvPr>
          <p:cNvSpPr>
            <a:spLocks xmlns:a="http://schemas.openxmlformats.org/drawingml/2006/main" noGrp="1"/>
          </p:cNvSpPr>
          <p:nvPr/>
        </p:nvSpPr>
        <p:spPr>
          <a:xfrm xmlns:a="http://schemas.openxmlformats.org/drawingml/2006/main">
            <a:off x="2400300" y="4943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3</a:t>
            </a:r>
          </a:p>
        </p:txBody>
      </p:sp>
      <p:sp>
        <p:nvSpPr>
          <p:cNvPr id="57" name="">
            <a:extLst xmlns:a="http://schemas.openxmlformats.org/drawingml/2006/main">
              <a:ext uri="{FF2B5EF4-FFF2-40B4-BE49-F238E27FC236}">
                <a16:creationId xmlns:a16="http://schemas.microsoft.com/office/drawing/2014/main" id="{98AC9748-6C83-4B98-BB67-2F8C33A8CF2D}"/>
              </a:ext>
            </a:extLst>
          </p:cNvPr>
          <p:cNvSpPr>
            <a:spLocks xmlns:a="http://schemas.openxmlformats.org/drawingml/2006/main" noGrp="1"/>
          </p:cNvSpPr>
          <p:nvPr/>
        </p:nvSpPr>
        <p:spPr>
          <a:xfrm xmlns:a="http://schemas.openxmlformats.org/drawingml/2006/main">
            <a:off x="3067050" y="4943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General-purpose pins</a:t>
            </a:r>
          </a:p>
        </p:txBody>
      </p:sp>
      <p:sp>
        <p:nvSpPr>
          <p:cNvPr id="58" name="">
            <a:extLst xmlns:a="http://schemas.openxmlformats.org/drawingml/2006/main">
              <a:ext uri="{FF2B5EF4-FFF2-40B4-BE49-F238E27FC236}">
                <a16:creationId xmlns:a16="http://schemas.microsoft.com/office/drawing/2014/main" id="{B9C77FE4-EA4D-4282-AB59-E2BD7102970D}"/>
              </a:ext>
            </a:extLst>
          </p:cNvPr>
          <p:cNvSpPr>
            <a:spLocks xmlns:a="http://schemas.openxmlformats.org/drawingml/2006/main" noGrp="1"/>
          </p:cNvSpPr>
          <p:nvPr/>
        </p:nvSpPr>
        <p:spPr>
          <a:xfrm xmlns:a="http://schemas.openxmlformats.org/drawingml/2006/main">
            <a:off x="457200" y="5219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9" name="">
            <a:extLst xmlns:a="http://schemas.openxmlformats.org/drawingml/2006/main">
              <a:ext uri="{FF2B5EF4-FFF2-40B4-BE49-F238E27FC236}">
                <a16:creationId xmlns:a16="http://schemas.microsoft.com/office/drawing/2014/main" id="{5CFDAD5B-7F5C-47AD-8469-EEB1414994C0}"/>
              </a:ext>
            </a:extLst>
          </p:cNvPr>
          <p:cNvSpPr>
            <a:spLocks xmlns:a="http://schemas.openxmlformats.org/drawingml/2006/main" noGrp="1"/>
          </p:cNvSpPr>
          <p:nvPr/>
        </p:nvSpPr>
        <p:spPr>
          <a:xfrm xmlns:a="http://schemas.openxmlformats.org/drawingml/2006/main">
            <a:off x="590550" y="5324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FAULTn</a:t>
            </a:r>
          </a:p>
        </p:txBody>
      </p:sp>
      <p:sp>
        <p:nvSpPr>
          <p:cNvPr id="60" name="">
            <a:extLst xmlns:a="http://schemas.openxmlformats.org/drawingml/2006/main">
              <a:ext uri="{FF2B5EF4-FFF2-40B4-BE49-F238E27FC236}">
                <a16:creationId xmlns:a16="http://schemas.microsoft.com/office/drawing/2014/main" id="{70A904B6-94BF-4CE6-AF3F-B4E5C3B006E4}"/>
              </a:ext>
            </a:extLst>
          </p:cNvPr>
          <p:cNvSpPr>
            <a:spLocks xmlns:a="http://schemas.openxmlformats.org/drawingml/2006/main" noGrp="1"/>
          </p:cNvSpPr>
          <p:nvPr/>
        </p:nvSpPr>
        <p:spPr>
          <a:xfrm xmlns:a="http://schemas.openxmlformats.org/drawingml/2006/main">
            <a:off x="2400300" y="5324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61" name="">
            <a:extLst xmlns:a="http://schemas.openxmlformats.org/drawingml/2006/main">
              <a:ext uri="{FF2B5EF4-FFF2-40B4-BE49-F238E27FC236}">
                <a16:creationId xmlns:a16="http://schemas.microsoft.com/office/drawing/2014/main" id="{B7DC4110-616E-4952-8DF9-C1673F679FD2}"/>
              </a:ext>
            </a:extLst>
          </p:cNvPr>
          <p:cNvSpPr>
            <a:spLocks xmlns:a="http://schemas.openxmlformats.org/drawingml/2006/main" noGrp="1"/>
          </p:cNvSpPr>
          <p:nvPr/>
        </p:nvSpPr>
        <p:spPr>
          <a:xfrm xmlns:a="http://schemas.openxmlformats.org/drawingml/2006/main">
            <a:off x="3067050" y="5324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Lockstep fault output</a:t>
            </a:r>
          </a:p>
        </p:txBody>
      </p:sp>
      <p:sp>
        <p:nvSpPr>
          <p:cNvPr id="62" name="">
            <a:extLst xmlns:a="http://schemas.openxmlformats.org/drawingml/2006/main">
              <a:ext uri="{FF2B5EF4-FFF2-40B4-BE49-F238E27FC236}">
                <a16:creationId xmlns:a16="http://schemas.microsoft.com/office/drawing/2014/main" id="{5E648F65-13C8-47B7-B179-2E9F72E126A1}"/>
              </a:ext>
            </a:extLst>
          </p:cNvPr>
          <p:cNvSpPr>
            <a:spLocks xmlns:a="http://schemas.openxmlformats.org/drawingml/2006/main" noGrp="1"/>
          </p:cNvSpPr>
          <p:nvPr/>
        </p:nvSpPr>
        <p:spPr>
          <a:xfrm xmlns:a="http://schemas.openxmlformats.org/drawingml/2006/main">
            <a:off x="6229350" y="2590800"/>
            <a:ext cx="5505450" cy="3429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63" name="">
            <a:extLst xmlns:a="http://schemas.openxmlformats.org/drawingml/2006/main">
              <a:ext uri="{FF2B5EF4-FFF2-40B4-BE49-F238E27FC236}">
                <a16:creationId xmlns:a16="http://schemas.microsoft.com/office/drawing/2014/main" id="{CEB79E4B-2A0C-4C56-9CE3-BBCFB4D6425A}"/>
              </a:ext>
            </a:extLst>
          </p:cNvPr>
          <p:cNvSpPr>
            <a:spLocks xmlns:a="http://schemas.openxmlformats.org/drawingml/2006/main" noGrp="1"/>
          </p:cNvSpPr>
          <p:nvPr/>
        </p:nvSpPr>
        <p:spPr>
          <a:xfrm xmlns:a="http://schemas.openxmlformats.org/drawingml/2006/main">
            <a:off x="6362700" y="2705100"/>
            <a:ext cx="1619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GROUP</a:t>
            </a:r>
          </a:p>
        </p:txBody>
      </p:sp>
      <p:sp>
        <p:nvSpPr>
          <p:cNvPr id="64" name="">
            <a:extLst xmlns:a="http://schemas.openxmlformats.org/drawingml/2006/main">
              <a:ext uri="{FF2B5EF4-FFF2-40B4-BE49-F238E27FC236}">
                <a16:creationId xmlns:a16="http://schemas.microsoft.com/office/drawing/2014/main" id="{CCA4F33C-F770-4E28-A8AB-5120EF29ED88}"/>
              </a:ext>
            </a:extLst>
          </p:cNvPr>
          <p:cNvSpPr>
            <a:spLocks xmlns:a="http://schemas.openxmlformats.org/drawingml/2006/main" noGrp="1"/>
          </p:cNvSpPr>
          <p:nvPr/>
        </p:nvSpPr>
        <p:spPr>
          <a:xfrm xmlns:a="http://schemas.openxmlformats.org/drawingml/2006/main">
            <a:off x="8172450" y="2705100"/>
            <a:ext cx="4762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1">
                <a:solidFill>
                  <a:srgbClr val="FFFFFF"/>
                </a:solidFill>
                <a:latin typeface="Arial"/>
                <a:ea typeface="Arial"/>
                <a:cs typeface="Arial"/>
              </a:defRPr>
            </a:pPr>
            <a:r>
              <a:t>PADS</a:t>
            </a:r>
          </a:p>
        </p:txBody>
      </p:sp>
      <p:sp>
        <p:nvSpPr>
          <p:cNvPr id="65" name="">
            <a:extLst xmlns:a="http://schemas.openxmlformats.org/drawingml/2006/main">
              <a:ext uri="{FF2B5EF4-FFF2-40B4-BE49-F238E27FC236}">
                <a16:creationId xmlns:a16="http://schemas.microsoft.com/office/drawing/2014/main" id="{8D1AA399-E08A-4E0F-9337-F269BEE9990D}"/>
              </a:ext>
            </a:extLst>
          </p:cNvPr>
          <p:cNvSpPr>
            <a:spLocks xmlns:a="http://schemas.openxmlformats.org/drawingml/2006/main" noGrp="1"/>
          </p:cNvSpPr>
          <p:nvPr/>
        </p:nvSpPr>
        <p:spPr>
          <a:xfrm xmlns:a="http://schemas.openxmlformats.org/drawingml/2006/main">
            <a:off x="8839200" y="2705100"/>
            <a:ext cx="283845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FFFFFF"/>
                </a:solidFill>
                <a:latin typeface="Arial"/>
                <a:ea typeface="Arial"/>
                <a:cs typeface="Arial"/>
              </a:defRPr>
            </a:pPr>
            <a:r>
              <a:t>CARRIES</a:t>
            </a:r>
          </a:p>
        </p:txBody>
      </p:sp>
      <p:sp>
        <p:nvSpPr>
          <p:cNvPr id="66" name="">
            <a:extLst xmlns:a="http://schemas.openxmlformats.org/drawingml/2006/main">
              <a:ext uri="{FF2B5EF4-FFF2-40B4-BE49-F238E27FC236}">
                <a16:creationId xmlns:a16="http://schemas.microsoft.com/office/drawing/2014/main" id="{8741EFB2-DE36-4C5A-8DA6-796E1095D551}"/>
              </a:ext>
            </a:extLst>
          </p:cNvPr>
          <p:cNvSpPr>
            <a:spLocks xmlns:a="http://schemas.openxmlformats.org/drawingml/2006/main" noGrp="1"/>
          </p:cNvSpPr>
          <p:nvPr/>
        </p:nvSpPr>
        <p:spPr>
          <a:xfrm xmlns:a="http://schemas.openxmlformats.org/drawingml/2006/main">
            <a:off x="6229350" y="2933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759B0B9D-74F1-442B-9D73-38E4DB24DA3E}"/>
              </a:ext>
            </a:extLst>
          </p:cNvPr>
          <p:cNvSpPr>
            <a:spLocks xmlns:a="http://schemas.openxmlformats.org/drawingml/2006/main" noGrp="1"/>
          </p:cNvSpPr>
          <p:nvPr/>
        </p:nvSpPr>
        <p:spPr>
          <a:xfrm xmlns:a="http://schemas.openxmlformats.org/drawingml/2006/main">
            <a:off x="6362700" y="3038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Supply-good</a:t>
            </a:r>
          </a:p>
        </p:txBody>
      </p:sp>
      <p:sp>
        <p:nvSpPr>
          <p:cNvPr id="68" name="">
            <a:extLst xmlns:a="http://schemas.openxmlformats.org/drawingml/2006/main">
              <a:ext uri="{FF2B5EF4-FFF2-40B4-BE49-F238E27FC236}">
                <a16:creationId xmlns:a16="http://schemas.microsoft.com/office/drawing/2014/main" id="{52832CE1-3C72-4E8C-9C7C-165E2CC78C84}"/>
              </a:ext>
            </a:extLst>
          </p:cNvPr>
          <p:cNvSpPr>
            <a:spLocks xmlns:a="http://schemas.openxmlformats.org/drawingml/2006/main" noGrp="1"/>
          </p:cNvSpPr>
          <p:nvPr/>
        </p:nvSpPr>
        <p:spPr>
          <a:xfrm xmlns:a="http://schemas.openxmlformats.org/drawingml/2006/main">
            <a:off x="8172450" y="3038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69" name="">
            <a:extLst xmlns:a="http://schemas.openxmlformats.org/drawingml/2006/main">
              <a:ext uri="{FF2B5EF4-FFF2-40B4-BE49-F238E27FC236}">
                <a16:creationId xmlns:a16="http://schemas.microsoft.com/office/drawing/2014/main" id="{4E05B11D-0321-49EE-B3D7-FE0D4E0D63EB}"/>
              </a:ext>
            </a:extLst>
          </p:cNvPr>
          <p:cNvSpPr>
            <a:spLocks xmlns:a="http://schemas.openxmlformats.org/drawingml/2006/main" noGrp="1"/>
          </p:cNvSpPr>
          <p:nvPr/>
        </p:nvSpPr>
        <p:spPr>
          <a:xfrm xmlns:a="http://schemas.openxmlformats.org/drawingml/2006/main">
            <a:off x="8839200" y="3038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Supervisor inputs</a:t>
            </a:r>
          </a:p>
        </p:txBody>
      </p:sp>
      <p:sp>
        <p:nvSpPr>
          <p:cNvPr id="70" name="">
            <a:extLst xmlns:a="http://schemas.openxmlformats.org/drawingml/2006/main">
              <a:ext uri="{FF2B5EF4-FFF2-40B4-BE49-F238E27FC236}">
                <a16:creationId xmlns:a16="http://schemas.microsoft.com/office/drawing/2014/main" id="{22A68354-BFEA-41EB-93BA-3BA6207135F7}"/>
              </a:ext>
            </a:extLst>
          </p:cNvPr>
          <p:cNvSpPr>
            <a:spLocks xmlns:a="http://schemas.openxmlformats.org/drawingml/2006/main" noGrp="1"/>
          </p:cNvSpPr>
          <p:nvPr/>
        </p:nvSpPr>
        <p:spPr>
          <a:xfrm xmlns:a="http://schemas.openxmlformats.org/drawingml/2006/main">
            <a:off x="6229350" y="3314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1" name="">
            <a:extLst xmlns:a="http://schemas.openxmlformats.org/drawingml/2006/main">
              <a:ext uri="{FF2B5EF4-FFF2-40B4-BE49-F238E27FC236}">
                <a16:creationId xmlns:a16="http://schemas.microsoft.com/office/drawing/2014/main" id="{83E02CCC-20CD-4C33-A8A4-9F89A3127F63}"/>
              </a:ext>
            </a:extLst>
          </p:cNvPr>
          <p:cNvSpPr>
            <a:spLocks xmlns:a="http://schemas.openxmlformats.org/drawingml/2006/main" noGrp="1"/>
          </p:cNvSpPr>
          <p:nvPr/>
        </p:nvSpPr>
        <p:spPr>
          <a:xfrm xmlns:a="http://schemas.openxmlformats.org/drawingml/2006/main">
            <a:off x="6362700" y="3419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ADC</a:t>
            </a:r>
          </a:p>
        </p:txBody>
      </p:sp>
      <p:sp>
        <p:nvSpPr>
          <p:cNvPr id="72" name="">
            <a:extLst xmlns:a="http://schemas.openxmlformats.org/drawingml/2006/main">
              <a:ext uri="{FF2B5EF4-FFF2-40B4-BE49-F238E27FC236}">
                <a16:creationId xmlns:a16="http://schemas.microsoft.com/office/drawing/2014/main" id="{CC760786-BF67-4EBE-8702-4FA123690924}"/>
              </a:ext>
            </a:extLst>
          </p:cNvPr>
          <p:cNvSpPr>
            <a:spLocks xmlns:a="http://schemas.openxmlformats.org/drawingml/2006/main" noGrp="1"/>
          </p:cNvSpPr>
          <p:nvPr/>
        </p:nvSpPr>
        <p:spPr>
          <a:xfrm xmlns:a="http://schemas.openxmlformats.org/drawingml/2006/main">
            <a:off x="8172450" y="3419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2</a:t>
            </a:r>
          </a:p>
        </p:txBody>
      </p:sp>
      <p:sp>
        <p:nvSpPr>
          <p:cNvPr id="73" name="">
            <a:extLst xmlns:a="http://schemas.openxmlformats.org/drawingml/2006/main">
              <a:ext uri="{FF2B5EF4-FFF2-40B4-BE49-F238E27FC236}">
                <a16:creationId xmlns:a16="http://schemas.microsoft.com/office/drawing/2014/main" id="{DBBA2404-7468-473F-9AF7-F3C90D97AC8B}"/>
              </a:ext>
            </a:extLst>
          </p:cNvPr>
          <p:cNvSpPr>
            <a:spLocks xmlns:a="http://schemas.openxmlformats.org/drawingml/2006/main" noGrp="1"/>
          </p:cNvSpPr>
          <p:nvPr/>
        </p:nvSpPr>
        <p:spPr>
          <a:xfrm xmlns:a="http://schemas.openxmlformats.org/drawingml/2006/main">
            <a:off x="8839200" y="3419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Differential analog inputs</a:t>
            </a:r>
          </a:p>
        </p:txBody>
      </p:sp>
      <p:sp>
        <p:nvSpPr>
          <p:cNvPr id="74" name="">
            <a:extLst xmlns:a="http://schemas.openxmlformats.org/drawingml/2006/main">
              <a:ext uri="{FF2B5EF4-FFF2-40B4-BE49-F238E27FC236}">
                <a16:creationId xmlns:a16="http://schemas.microsoft.com/office/drawing/2014/main" id="{60A61883-AACF-4638-839F-6015C2AB96FD}"/>
              </a:ext>
            </a:extLst>
          </p:cNvPr>
          <p:cNvSpPr>
            <a:spLocks xmlns:a="http://schemas.openxmlformats.org/drawingml/2006/main" noGrp="1"/>
          </p:cNvSpPr>
          <p:nvPr/>
        </p:nvSpPr>
        <p:spPr>
          <a:xfrm xmlns:a="http://schemas.openxmlformats.org/drawingml/2006/main">
            <a:off x="6229350" y="3695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5" name="">
            <a:extLst xmlns:a="http://schemas.openxmlformats.org/drawingml/2006/main">
              <a:ext uri="{FF2B5EF4-FFF2-40B4-BE49-F238E27FC236}">
                <a16:creationId xmlns:a16="http://schemas.microsoft.com/office/drawing/2014/main" id="{D3BE000A-B7DA-4F08-9582-9C01BC291E95}"/>
              </a:ext>
            </a:extLst>
          </p:cNvPr>
          <p:cNvSpPr>
            <a:spLocks xmlns:a="http://schemas.openxmlformats.org/drawingml/2006/main" noGrp="1"/>
          </p:cNvSpPr>
          <p:nvPr/>
        </p:nvSpPr>
        <p:spPr>
          <a:xfrm xmlns:a="http://schemas.openxmlformats.org/drawingml/2006/main">
            <a:off x="6362700" y="3800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PWM + trigger</a:t>
            </a:r>
          </a:p>
        </p:txBody>
      </p:sp>
      <p:sp>
        <p:nvSpPr>
          <p:cNvPr id="76" name="">
            <a:extLst xmlns:a="http://schemas.openxmlformats.org/drawingml/2006/main">
              <a:ext uri="{FF2B5EF4-FFF2-40B4-BE49-F238E27FC236}">
                <a16:creationId xmlns:a16="http://schemas.microsoft.com/office/drawing/2014/main" id="{7BB126E0-58C3-4B5D-AA68-81AF9675F113}"/>
              </a:ext>
            </a:extLst>
          </p:cNvPr>
          <p:cNvSpPr>
            <a:spLocks xmlns:a="http://schemas.openxmlformats.org/drawingml/2006/main" noGrp="1"/>
          </p:cNvSpPr>
          <p:nvPr/>
        </p:nvSpPr>
        <p:spPr>
          <a:xfrm xmlns:a="http://schemas.openxmlformats.org/drawingml/2006/main">
            <a:off x="8172450" y="3800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7</a:t>
            </a:r>
          </a:p>
        </p:txBody>
      </p:sp>
      <p:sp>
        <p:nvSpPr>
          <p:cNvPr id="77" name="">
            <a:extLst xmlns:a="http://schemas.openxmlformats.org/drawingml/2006/main">
              <a:ext uri="{FF2B5EF4-FFF2-40B4-BE49-F238E27FC236}">
                <a16:creationId xmlns:a16="http://schemas.microsoft.com/office/drawing/2014/main" id="{7885E97D-A0E4-4C3A-A9AF-5EB7F9B58100}"/>
              </a:ext>
            </a:extLst>
          </p:cNvPr>
          <p:cNvSpPr>
            <a:spLocks xmlns:a="http://schemas.openxmlformats.org/drawingml/2006/main" noGrp="1"/>
          </p:cNvSpPr>
          <p:nvPr/>
        </p:nvSpPr>
        <p:spPr>
          <a:xfrm xmlns:a="http://schemas.openxmlformats.org/drawingml/2006/main">
            <a:off x="8839200" y="3800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Six gate outputs, ADC trigger</a:t>
            </a:r>
          </a:p>
        </p:txBody>
      </p:sp>
      <p:sp>
        <p:nvSpPr>
          <p:cNvPr id="78" name="">
            <a:extLst xmlns:a="http://schemas.openxmlformats.org/drawingml/2006/main">
              <a:ext uri="{FF2B5EF4-FFF2-40B4-BE49-F238E27FC236}">
                <a16:creationId xmlns:a16="http://schemas.microsoft.com/office/drawing/2014/main" id="{87F90280-05E6-4060-948A-0B9A6C27D056}"/>
              </a:ext>
            </a:extLst>
          </p:cNvPr>
          <p:cNvSpPr>
            <a:spLocks xmlns:a="http://schemas.openxmlformats.org/drawingml/2006/main" noGrp="1"/>
          </p:cNvSpPr>
          <p:nvPr/>
        </p:nvSpPr>
        <p:spPr>
          <a:xfrm xmlns:a="http://schemas.openxmlformats.org/drawingml/2006/main">
            <a:off x="6229350" y="4076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79" name="">
            <a:extLst xmlns:a="http://schemas.openxmlformats.org/drawingml/2006/main">
              <a:ext uri="{FF2B5EF4-FFF2-40B4-BE49-F238E27FC236}">
                <a16:creationId xmlns:a16="http://schemas.microsoft.com/office/drawing/2014/main" id="{BFF5CE97-6E03-4A5F-AD84-C59F87AC0A71}"/>
              </a:ext>
            </a:extLst>
          </p:cNvPr>
          <p:cNvSpPr>
            <a:spLocks xmlns:a="http://schemas.openxmlformats.org/drawingml/2006/main" noGrp="1"/>
          </p:cNvSpPr>
          <p:nvPr/>
        </p:nvSpPr>
        <p:spPr>
          <a:xfrm xmlns:a="http://schemas.openxmlformats.org/drawingml/2006/main">
            <a:off x="6362700" y="4181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Encoder + Hall</a:t>
            </a:r>
          </a:p>
        </p:txBody>
      </p:sp>
      <p:sp>
        <p:nvSpPr>
          <p:cNvPr id="80" name="">
            <a:extLst xmlns:a="http://schemas.openxmlformats.org/drawingml/2006/main">
              <a:ext uri="{FF2B5EF4-FFF2-40B4-BE49-F238E27FC236}">
                <a16:creationId xmlns:a16="http://schemas.microsoft.com/office/drawing/2014/main" id="{159E63B9-5BB7-4AA5-9180-1E4BAF9477AA}"/>
              </a:ext>
            </a:extLst>
          </p:cNvPr>
          <p:cNvSpPr>
            <a:spLocks xmlns:a="http://schemas.openxmlformats.org/drawingml/2006/main" noGrp="1"/>
          </p:cNvSpPr>
          <p:nvPr/>
        </p:nvSpPr>
        <p:spPr>
          <a:xfrm xmlns:a="http://schemas.openxmlformats.org/drawingml/2006/main">
            <a:off x="8172450" y="4181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6</a:t>
            </a:r>
          </a:p>
        </p:txBody>
      </p:sp>
      <p:sp>
        <p:nvSpPr>
          <p:cNvPr id="81" name="">
            <a:extLst xmlns:a="http://schemas.openxmlformats.org/drawingml/2006/main">
              <a:ext uri="{FF2B5EF4-FFF2-40B4-BE49-F238E27FC236}">
                <a16:creationId xmlns:a16="http://schemas.microsoft.com/office/drawing/2014/main" id="{7C5B19D5-7F07-40DB-ACC2-F95DE5E7516E}"/>
              </a:ext>
            </a:extLst>
          </p:cNvPr>
          <p:cNvSpPr>
            <a:spLocks xmlns:a="http://schemas.openxmlformats.org/drawingml/2006/main" noGrp="1"/>
          </p:cNvSpPr>
          <p:nvPr/>
        </p:nvSpPr>
        <p:spPr>
          <a:xfrm xmlns:a="http://schemas.openxmlformats.org/drawingml/2006/main">
            <a:off x="8839200" y="4181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 B, Z and three Hall inputs</a:t>
            </a:r>
          </a:p>
        </p:txBody>
      </p:sp>
      <p:sp>
        <p:nvSpPr>
          <p:cNvPr id="82" name="">
            <a:extLst xmlns:a="http://schemas.openxmlformats.org/drawingml/2006/main">
              <a:ext uri="{FF2B5EF4-FFF2-40B4-BE49-F238E27FC236}">
                <a16:creationId xmlns:a16="http://schemas.microsoft.com/office/drawing/2014/main" id="{D4D00237-5433-462C-9E5F-3ED36357E784}"/>
              </a:ext>
            </a:extLst>
          </p:cNvPr>
          <p:cNvSpPr>
            <a:spLocks xmlns:a="http://schemas.openxmlformats.org/drawingml/2006/main" noGrp="1"/>
          </p:cNvSpPr>
          <p:nvPr/>
        </p:nvSpPr>
        <p:spPr>
          <a:xfrm xmlns:a="http://schemas.openxmlformats.org/drawingml/2006/main">
            <a:off x="6229350" y="4457700"/>
            <a:ext cx="5505450" cy="3810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83" name="">
            <a:extLst xmlns:a="http://schemas.openxmlformats.org/drawingml/2006/main">
              <a:ext uri="{FF2B5EF4-FFF2-40B4-BE49-F238E27FC236}">
                <a16:creationId xmlns:a16="http://schemas.microsoft.com/office/drawing/2014/main" id="{C9083E43-FD06-4D6B-96CA-33E590695FD3}"/>
              </a:ext>
            </a:extLst>
          </p:cNvPr>
          <p:cNvSpPr>
            <a:spLocks xmlns:a="http://schemas.openxmlformats.org/drawingml/2006/main" noGrp="1"/>
          </p:cNvSpPr>
          <p:nvPr/>
        </p:nvSpPr>
        <p:spPr>
          <a:xfrm xmlns:a="http://schemas.openxmlformats.org/drawingml/2006/main">
            <a:off x="6362700" y="4562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JTAG</a:t>
            </a:r>
          </a:p>
        </p:txBody>
      </p:sp>
      <p:sp>
        <p:nvSpPr>
          <p:cNvPr id="84" name="">
            <a:extLst xmlns:a="http://schemas.openxmlformats.org/drawingml/2006/main">
              <a:ext uri="{FF2B5EF4-FFF2-40B4-BE49-F238E27FC236}">
                <a16:creationId xmlns:a16="http://schemas.microsoft.com/office/drawing/2014/main" id="{264F1783-4583-49F8-B183-54573ADCF633}"/>
              </a:ext>
            </a:extLst>
          </p:cNvPr>
          <p:cNvSpPr>
            <a:spLocks xmlns:a="http://schemas.openxmlformats.org/drawingml/2006/main" noGrp="1"/>
          </p:cNvSpPr>
          <p:nvPr/>
        </p:nvSpPr>
        <p:spPr>
          <a:xfrm xmlns:a="http://schemas.openxmlformats.org/drawingml/2006/main">
            <a:off x="8172450" y="4562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4</a:t>
            </a:r>
          </a:p>
        </p:txBody>
      </p:sp>
      <p:sp>
        <p:nvSpPr>
          <p:cNvPr id="85" name="">
            <a:extLst xmlns:a="http://schemas.openxmlformats.org/drawingml/2006/main">
              <a:ext uri="{FF2B5EF4-FFF2-40B4-BE49-F238E27FC236}">
                <a16:creationId xmlns:a16="http://schemas.microsoft.com/office/drawing/2014/main" id="{1A6BA389-F633-41EA-8F93-A4EF8DBD38C3}"/>
              </a:ext>
            </a:extLst>
          </p:cNvPr>
          <p:cNvSpPr>
            <a:spLocks xmlns:a="http://schemas.openxmlformats.org/drawingml/2006/main" noGrp="1"/>
          </p:cNvSpPr>
          <p:nvPr/>
        </p:nvSpPr>
        <p:spPr>
          <a:xfrm xmlns:a="http://schemas.openxmlformats.org/drawingml/2006/main">
            <a:off x="8839200" y="4562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TCK, TMS, TDI, TDO</a:t>
            </a:r>
          </a:p>
        </p:txBody>
      </p:sp>
      <p:sp>
        <p:nvSpPr>
          <p:cNvPr id="86" name="">
            <a:extLst xmlns:a="http://schemas.openxmlformats.org/drawingml/2006/main">
              <a:ext uri="{FF2B5EF4-FFF2-40B4-BE49-F238E27FC236}">
                <a16:creationId xmlns:a16="http://schemas.microsoft.com/office/drawing/2014/main" id="{218979A0-8D65-49EB-B667-88E874B925BA}"/>
              </a:ext>
            </a:extLst>
          </p:cNvPr>
          <p:cNvSpPr>
            <a:spLocks xmlns:a="http://schemas.openxmlformats.org/drawingml/2006/main" noGrp="1"/>
          </p:cNvSpPr>
          <p:nvPr/>
        </p:nvSpPr>
        <p:spPr>
          <a:xfrm xmlns:a="http://schemas.openxmlformats.org/drawingml/2006/main">
            <a:off x="6229350" y="4838700"/>
            <a:ext cx="5505450" cy="3810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87" name="">
            <a:extLst xmlns:a="http://schemas.openxmlformats.org/drawingml/2006/main">
              <a:ext uri="{FF2B5EF4-FFF2-40B4-BE49-F238E27FC236}">
                <a16:creationId xmlns:a16="http://schemas.microsoft.com/office/drawing/2014/main" id="{EADD9FC1-1354-4136-B789-FD7DCD1229F8}"/>
              </a:ext>
            </a:extLst>
          </p:cNvPr>
          <p:cNvSpPr>
            <a:spLocks xmlns:a="http://schemas.openxmlformats.org/drawingml/2006/main" noGrp="1"/>
          </p:cNvSpPr>
          <p:nvPr/>
        </p:nvSpPr>
        <p:spPr>
          <a:xfrm xmlns:a="http://schemas.openxmlformats.org/drawingml/2006/main">
            <a:off x="6362700" y="4943475"/>
            <a:ext cx="1600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a:solidFill>
                  <a:srgbClr val="1E293B"/>
                </a:solidFill>
                <a:latin typeface="Arial"/>
                <a:ea typeface="Arial"/>
                <a:cs typeface="Arial"/>
              </a:defRPr>
            </a:pPr>
            <a:r>
              <a:t>Reset</a:t>
            </a:r>
          </a:p>
        </p:txBody>
      </p:sp>
      <p:sp>
        <p:nvSpPr>
          <p:cNvPr id="88" name="">
            <a:extLst xmlns:a="http://schemas.openxmlformats.org/drawingml/2006/main">
              <a:ext uri="{FF2B5EF4-FFF2-40B4-BE49-F238E27FC236}">
                <a16:creationId xmlns:a16="http://schemas.microsoft.com/office/drawing/2014/main" id="{75E44F9B-F6B0-4D22-8664-42BB3FE08CD6}"/>
              </a:ext>
            </a:extLst>
          </p:cNvPr>
          <p:cNvSpPr>
            <a:spLocks xmlns:a="http://schemas.openxmlformats.org/drawingml/2006/main" noGrp="1"/>
          </p:cNvSpPr>
          <p:nvPr/>
        </p:nvSpPr>
        <p:spPr>
          <a:xfrm xmlns:a="http://schemas.openxmlformats.org/drawingml/2006/main">
            <a:off x="8172450" y="4943475"/>
            <a:ext cx="4572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a:solidFill>
                  <a:srgbClr val="6B7280"/>
                </a:solidFill>
                <a:latin typeface="Arial"/>
                <a:ea typeface="Arial"/>
                <a:cs typeface="Arial"/>
              </a:defRPr>
            </a:pPr>
            <a:r>
              <a:t>1</a:t>
            </a:r>
          </a:p>
        </p:txBody>
      </p:sp>
      <p:sp>
        <p:nvSpPr>
          <p:cNvPr id="89" name="">
            <a:extLst xmlns:a="http://schemas.openxmlformats.org/drawingml/2006/main">
              <a:ext uri="{FF2B5EF4-FFF2-40B4-BE49-F238E27FC236}">
                <a16:creationId xmlns:a16="http://schemas.microsoft.com/office/drawing/2014/main" id="{9FC002DF-492F-4EBB-A27C-D65A008D4A94}"/>
              </a:ext>
            </a:extLst>
          </p:cNvPr>
          <p:cNvSpPr>
            <a:spLocks xmlns:a="http://schemas.openxmlformats.org/drawingml/2006/main" noGrp="1"/>
          </p:cNvSpPr>
          <p:nvPr/>
        </p:nvSpPr>
        <p:spPr>
          <a:xfrm xmlns:a="http://schemas.openxmlformats.org/drawingml/2006/main">
            <a:off x="8839200" y="4943475"/>
            <a:ext cx="2819400" cy="2286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Active-low reset in</a:t>
            </a:r>
          </a:p>
        </p:txBody>
      </p:sp>
      <p:sp>
        <p:nvSpPr>
          <p:cNvPr id="90" name="">
            <a:extLst xmlns:a="http://schemas.openxmlformats.org/drawingml/2006/main">
              <a:ext uri="{FF2B5EF4-FFF2-40B4-BE49-F238E27FC236}">
                <a16:creationId xmlns:a16="http://schemas.microsoft.com/office/drawing/2014/main" id="{CA37ED5E-8CEF-4AF0-8FA4-1BA34D9B21FB}"/>
              </a:ext>
            </a:extLst>
          </p:cNvPr>
          <p:cNvSpPr>
            <a:spLocks xmlns:a="http://schemas.openxmlformats.org/drawingml/2006/main" noGrp="1"/>
          </p:cNvSpPr>
          <p:nvPr/>
        </p:nvSpPr>
        <p:spPr>
          <a:xfrm xmlns:a="http://schemas.openxmlformats.org/drawingml/2006/main">
            <a:off x="457200" y="5810250"/>
            <a:ext cx="112776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a:solidFill>
                  <a:srgbClr val="6B7280"/>
                </a:solidFill>
                <a:latin typeface="Arial"/>
                <a:ea typeface="Arial"/>
                <a:cs typeface="Arial"/>
              </a:defRPr>
            </a:pPr>
            <a:r>
              <a:t>The wrapper also holds the JTAG TAP and the power connections; the block and the wrapper are hardened in separate flows.</a:t>
            </a:r>
          </a:p>
        </p:txBody>
      </p:sp>
      <p:sp>
        <p:nvSpPr>
          <p:cNvPr id="91" name="">
            <a:extLst xmlns:a="http://schemas.openxmlformats.org/drawingml/2006/main">
              <a:ext uri="{FF2B5EF4-FFF2-40B4-BE49-F238E27FC236}">
                <a16:creationId xmlns:a16="http://schemas.microsoft.com/office/drawing/2014/main" id="{17B933B9-0B84-4FB7-A725-BFD33969A7E0}"/>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wrapper pad plan (rev 2).</a:t>
            </a:r>
          </a:p>
        </p:txBody>
      </p:sp>
    </p:spTree>
    <p:extLst>
      <p:ext uri="{BB962C8B-B14F-4D97-AF65-F5344CB8AC3E}">
        <p14:creationId xmlns:p14="http://schemas.microsoft.com/office/powerpoint/2010/main" val="159528109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3A7385BF-AE3A-4541-A55F-BB875310CD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1A63AE1-357A-497B-A6EA-DDD4753DCDDC}"/>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09 · PRODUCTION TEST</a:t>
            </a:r>
          </a:p>
        </p:txBody>
      </p:sp>
      <p:sp>
        <p:nvSpPr>
          <p:cNvPr id="3" name="">
            <a:extLst xmlns:a="http://schemas.openxmlformats.org/drawingml/2006/main">
              <a:ext uri="{FF2B5EF4-FFF2-40B4-BE49-F238E27FC236}">
                <a16:creationId xmlns:a16="http://schemas.microsoft.com/office/drawing/2014/main" id="{D9BACD2A-1BE0-491B-A6AD-09C5789318F8}"/>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Production test reaches 13 scan chains via JTAG</a:t>
            </a:r>
          </a:p>
        </p:txBody>
      </p:sp>
      <p:sp>
        <p:nvSpPr>
          <p:cNvPr id="4" name="">
            <a:extLst xmlns:a="http://schemas.openxmlformats.org/drawingml/2006/main">
              <a:ext uri="{FF2B5EF4-FFF2-40B4-BE49-F238E27FC236}">
                <a16:creationId xmlns:a16="http://schemas.microsoft.com/office/drawing/2014/main" id="{21CBAA00-2FC4-4C1F-AEFB-5FC7D313907D}"/>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Scan serves manufacturing test; interactive CPU debug is a separate roadmap item</a:t>
            </a:r>
          </a:p>
        </p:txBody>
      </p:sp>
      <p:sp>
        <p:nvSpPr>
          <p:cNvPr id="5" name="">
            <a:extLst xmlns:a="http://schemas.openxmlformats.org/drawingml/2006/main">
              <a:ext uri="{FF2B5EF4-FFF2-40B4-BE49-F238E27FC236}">
                <a16:creationId xmlns:a16="http://schemas.microsoft.com/office/drawing/2014/main" id="{F9A09BA9-1D03-42B2-94AF-FD1CF1A4384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8FF1DDE-21DE-4C10-81E2-B449C269297D}"/>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AA32B3-4A6F-48F8-A57F-9670AC84AF36}"/>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E56D5490-1766-48A5-9EA3-F468D7700FD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09</a:t>
            </a:r>
          </a:p>
        </p:txBody>
      </p:sp>
      <p:sp>
        <p:nvSpPr>
          <p:cNvPr id="9" name="">
            <a:extLst xmlns:a="http://schemas.openxmlformats.org/drawingml/2006/main">
              <a:ext uri="{FF2B5EF4-FFF2-40B4-BE49-F238E27FC236}">
                <a16:creationId xmlns:a16="http://schemas.microsoft.com/office/drawing/2014/main" id="{4A66AC89-D872-4C7C-9A3F-A6E1EB75961E}"/>
              </a:ext>
            </a:extLst>
          </p:cNvPr>
          <p:cNvSpPr>
            <a:spLocks xmlns:a="http://schemas.openxmlformats.org/drawingml/2006/main" noGrp="1"/>
          </p:cNvSpPr>
          <p:nvPr/>
        </p:nvSpPr>
        <p:spPr>
          <a:xfrm xmlns:a="http://schemas.openxmlformats.org/drawingml/2006/main">
            <a:off x="457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10" name="">
            <a:extLst xmlns:a="http://schemas.openxmlformats.org/drawingml/2006/main">
              <a:ext uri="{FF2B5EF4-FFF2-40B4-BE49-F238E27FC236}">
                <a16:creationId xmlns:a16="http://schemas.microsoft.com/office/drawing/2014/main" id="{8C92F0AC-C7E0-424A-8AEB-3A4C246B42EC}"/>
              </a:ext>
            </a:extLst>
          </p:cNvPr>
          <p:cNvSpPr>
            <a:spLocks xmlns:a="http://schemas.openxmlformats.org/drawingml/2006/main" noGrp="1"/>
          </p:cNvSpPr>
          <p:nvPr/>
        </p:nvSpPr>
        <p:spPr>
          <a:xfrm xmlns:a="http://schemas.openxmlformats.org/drawingml/2006/main">
            <a:off x="457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AA8E246-3988-41BB-9AE2-B97D4B34CD8A}"/>
              </a:ext>
            </a:extLst>
          </p:cNvPr>
          <p:cNvSpPr>
            <a:spLocks xmlns:a="http://schemas.openxmlformats.org/drawingml/2006/main" noGrp="1"/>
          </p:cNvSpPr>
          <p:nvPr/>
        </p:nvSpPr>
        <p:spPr>
          <a:xfrm xmlns:a="http://schemas.openxmlformats.org/drawingml/2006/main">
            <a:off x="590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Tester</a:t>
            </a:r>
          </a:p>
        </p:txBody>
      </p:sp>
      <p:sp>
        <p:nvSpPr>
          <p:cNvPr id="12" name="">
            <a:extLst xmlns:a="http://schemas.openxmlformats.org/drawingml/2006/main">
              <a:ext uri="{FF2B5EF4-FFF2-40B4-BE49-F238E27FC236}">
                <a16:creationId xmlns:a16="http://schemas.microsoft.com/office/drawing/2014/main" id="{8658B603-9F54-475A-961B-050F378AAB8D}"/>
              </a:ext>
            </a:extLst>
          </p:cNvPr>
          <p:cNvSpPr>
            <a:spLocks xmlns:a="http://schemas.openxmlformats.org/drawingml/2006/main" noGrp="1"/>
          </p:cNvSpPr>
          <p:nvPr/>
        </p:nvSpPr>
        <p:spPr>
          <a:xfrm xmlns:a="http://schemas.openxmlformats.org/drawingml/2006/main">
            <a:off x="590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Drives the four JTAG pins</a:t>
            </a:r>
          </a:p>
        </p:txBody>
      </p:sp>
      <p:sp>
        <p:nvSpPr>
          <p:cNvPr id="13" name="">
            <a:extLst xmlns:a="http://schemas.openxmlformats.org/drawingml/2006/main">
              <a:ext uri="{FF2B5EF4-FFF2-40B4-BE49-F238E27FC236}">
                <a16:creationId xmlns:a16="http://schemas.microsoft.com/office/drawing/2014/main" id="{61F9C1E5-E25C-41A2-8DBC-854F8093BC0A}"/>
              </a:ext>
            </a:extLst>
          </p:cNvPr>
          <p:cNvSpPr>
            <a:spLocks xmlns:a="http://schemas.openxmlformats.org/drawingml/2006/main" noGrp="1"/>
          </p:cNvSpPr>
          <p:nvPr/>
        </p:nvSpPr>
        <p:spPr>
          <a:xfrm xmlns:a="http://schemas.openxmlformats.org/drawingml/2006/main">
            <a:off x="3965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4" name="">
            <a:extLst xmlns:a="http://schemas.openxmlformats.org/drawingml/2006/main">
              <a:ext uri="{FF2B5EF4-FFF2-40B4-BE49-F238E27FC236}">
                <a16:creationId xmlns:a16="http://schemas.microsoft.com/office/drawing/2014/main" id="{653B3B02-E315-443B-A1F4-EBEE6D99EBA8}"/>
              </a:ext>
            </a:extLst>
          </p:cNvPr>
          <p:cNvSpPr>
            <a:spLocks xmlns:a="http://schemas.openxmlformats.org/drawingml/2006/main" noGrp="1"/>
          </p:cNvSpPr>
          <p:nvPr/>
        </p:nvSpPr>
        <p:spPr>
          <a:xfrm xmlns:a="http://schemas.openxmlformats.org/drawingml/2006/main">
            <a:off x="4394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0B4D8"/>
            </a:solidFill>
            <a:prstDash val="solid"/>
          </a:ln>
        </p:spPr>
      </p:sp>
      <p:sp>
        <p:nvSpPr>
          <p:cNvPr id="15" name="">
            <a:extLst xmlns:a="http://schemas.openxmlformats.org/drawingml/2006/main">
              <a:ext uri="{FF2B5EF4-FFF2-40B4-BE49-F238E27FC236}">
                <a16:creationId xmlns:a16="http://schemas.microsoft.com/office/drawing/2014/main" id="{A04265B1-BC24-4356-AFB0-8602BBBCF295}"/>
              </a:ext>
            </a:extLst>
          </p:cNvPr>
          <p:cNvSpPr>
            <a:spLocks xmlns:a="http://schemas.openxmlformats.org/drawingml/2006/main" noGrp="1"/>
          </p:cNvSpPr>
          <p:nvPr/>
        </p:nvSpPr>
        <p:spPr>
          <a:xfrm xmlns:a="http://schemas.openxmlformats.org/drawingml/2006/main">
            <a:off x="4394200" y="1695450"/>
            <a:ext cx="3403600" cy="476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0F0E822-A268-4740-BE46-99F395EF7062}"/>
              </a:ext>
            </a:extLst>
          </p:cNvPr>
          <p:cNvSpPr>
            <a:spLocks xmlns:a="http://schemas.openxmlformats.org/drawingml/2006/main" noGrp="1"/>
          </p:cNvSpPr>
          <p:nvPr/>
        </p:nvSpPr>
        <p:spPr>
          <a:xfrm xmlns:a="http://schemas.openxmlformats.org/drawingml/2006/main">
            <a:off x="4527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JTAG TAP</a:t>
            </a:r>
          </a:p>
        </p:txBody>
      </p:sp>
      <p:sp>
        <p:nvSpPr>
          <p:cNvPr id="17" name="">
            <a:extLst xmlns:a="http://schemas.openxmlformats.org/drawingml/2006/main">
              <a:ext uri="{FF2B5EF4-FFF2-40B4-BE49-F238E27FC236}">
                <a16:creationId xmlns:a16="http://schemas.microsoft.com/office/drawing/2014/main" id="{651C0DD5-EF49-44AE-8996-2B698C31384B}"/>
              </a:ext>
            </a:extLst>
          </p:cNvPr>
          <p:cNvSpPr>
            <a:spLocks xmlns:a="http://schemas.openxmlformats.org/drawingml/2006/main" noGrp="1"/>
          </p:cNvSpPr>
          <p:nvPr/>
        </p:nvSpPr>
        <p:spPr>
          <a:xfrm xmlns:a="http://schemas.openxmlformats.org/drawingml/2006/main">
            <a:off x="4527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Scan enable, mode, chain select, bypass</a:t>
            </a:r>
          </a:p>
        </p:txBody>
      </p:sp>
      <p:sp>
        <p:nvSpPr>
          <p:cNvPr id="18" name="">
            <a:extLst xmlns:a="http://schemas.openxmlformats.org/drawingml/2006/main">
              <a:ext uri="{FF2B5EF4-FFF2-40B4-BE49-F238E27FC236}">
                <a16:creationId xmlns:a16="http://schemas.microsoft.com/office/drawing/2014/main" id="{7CC97A69-FC42-4386-8EDF-9D017B517C6E}"/>
              </a:ext>
            </a:extLst>
          </p:cNvPr>
          <p:cNvSpPr>
            <a:spLocks xmlns:a="http://schemas.openxmlformats.org/drawingml/2006/main" noGrp="1"/>
          </p:cNvSpPr>
          <p:nvPr/>
        </p:nvSpPr>
        <p:spPr>
          <a:xfrm xmlns:a="http://schemas.openxmlformats.org/drawingml/2006/main">
            <a:off x="7902575" y="2085975"/>
            <a:ext cx="323850" cy="209550"/>
          </a:xfrm>
          <a:prstGeom xmlns:a="http://schemas.openxmlformats.org/drawingml/2006/main" prst="rightArrow">
            <a:avLst/>
          </a:prstGeom>
          <a:solidFill xmlns:a="http://schemas.openxmlformats.org/drawingml/2006/main">
            <a:srgbClr val="00B4D8"/>
          </a:solidFill>
          <a:ln xmlns:a="http://schemas.openxmlformats.org/drawingml/2006/main" w="9525">
            <a:solidFill>
              <a:srgbClr val="00B4D8"/>
            </a:solidFill>
            <a:prstDash val="solid"/>
          </a:ln>
        </p:spPr>
      </p:sp>
      <p:sp>
        <p:nvSpPr>
          <p:cNvPr id="19" name="">
            <a:extLst xmlns:a="http://schemas.openxmlformats.org/drawingml/2006/main">
              <a:ext uri="{FF2B5EF4-FFF2-40B4-BE49-F238E27FC236}">
                <a16:creationId xmlns:a16="http://schemas.microsoft.com/office/drawing/2014/main" id="{C6490EBC-194B-4709-8F82-5C82182496A4}"/>
              </a:ext>
            </a:extLst>
          </p:cNvPr>
          <p:cNvSpPr>
            <a:spLocks xmlns:a="http://schemas.openxmlformats.org/drawingml/2006/main" noGrp="1"/>
          </p:cNvSpPr>
          <p:nvPr/>
        </p:nvSpPr>
        <p:spPr>
          <a:xfrm xmlns:a="http://schemas.openxmlformats.org/drawingml/2006/main">
            <a:off x="8331200" y="1695450"/>
            <a:ext cx="3403600" cy="990600"/>
          </a:xfrm>
          <a:prstGeom xmlns:a="http://schemas.openxmlformats.org/drawingml/2006/main" prst="flowChartProcess">
            <a:avLst/>
          </a:prstGeom>
          <a:solidFill xmlns:a="http://schemas.openxmlformats.org/drawingml/2006/main">
            <a:srgbClr val="FFFFFF"/>
          </a:solidFill>
          <a:ln xmlns:a="http://schemas.openxmlformats.org/drawingml/2006/main" w="19050">
            <a:solidFill>
              <a:srgbClr val="0A9396"/>
            </a:solidFill>
            <a:prstDash val="solid"/>
          </a:ln>
        </p:spPr>
      </p:sp>
      <p:sp>
        <p:nvSpPr>
          <p:cNvPr id="20" name="">
            <a:extLst xmlns:a="http://schemas.openxmlformats.org/drawingml/2006/main">
              <a:ext uri="{FF2B5EF4-FFF2-40B4-BE49-F238E27FC236}">
                <a16:creationId xmlns:a16="http://schemas.microsoft.com/office/drawing/2014/main" id="{07122B2A-2FED-4D2B-8BAA-3583CB24A006}"/>
              </a:ext>
            </a:extLst>
          </p:cNvPr>
          <p:cNvSpPr>
            <a:spLocks xmlns:a="http://schemas.openxmlformats.org/drawingml/2006/main" noGrp="1"/>
          </p:cNvSpPr>
          <p:nvPr/>
        </p:nvSpPr>
        <p:spPr>
          <a:xfrm xmlns:a="http://schemas.openxmlformats.org/drawingml/2006/main">
            <a:off x="8331200" y="1695450"/>
            <a:ext cx="3403600" cy="4762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17AEE6C-EFF3-4B6D-94CF-6E96387C69F2}"/>
              </a:ext>
            </a:extLst>
          </p:cNvPr>
          <p:cNvSpPr>
            <a:spLocks xmlns:a="http://schemas.openxmlformats.org/drawingml/2006/main" noGrp="1"/>
          </p:cNvSpPr>
          <p:nvPr/>
        </p:nvSpPr>
        <p:spPr>
          <a:xfrm xmlns:a="http://schemas.openxmlformats.org/drawingml/2006/main">
            <a:off x="8464550" y="1885950"/>
            <a:ext cx="31369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13 scan chains</a:t>
            </a:r>
          </a:p>
        </p:txBody>
      </p:sp>
      <p:sp>
        <p:nvSpPr>
          <p:cNvPr id="22" name="">
            <a:extLst xmlns:a="http://schemas.openxmlformats.org/drawingml/2006/main">
              <a:ext uri="{FF2B5EF4-FFF2-40B4-BE49-F238E27FC236}">
                <a16:creationId xmlns:a16="http://schemas.microsoft.com/office/drawing/2014/main" id="{C40CDF0B-4380-403D-B005-011B98354989}"/>
              </a:ext>
            </a:extLst>
          </p:cNvPr>
          <p:cNvSpPr>
            <a:spLocks xmlns:a="http://schemas.openxmlformats.org/drawingml/2006/main" noGrp="1"/>
          </p:cNvSpPr>
          <p:nvPr/>
        </p:nvSpPr>
        <p:spPr>
          <a:xfrm xmlns:a="http://schemas.openxmlformats.org/drawingml/2006/main">
            <a:off x="8464550" y="2171700"/>
            <a:ext cx="3136900" cy="4572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050">
                <a:solidFill>
                  <a:srgbClr val="6B7280"/>
                </a:solidFill>
                <a:latin typeface="Arial"/>
                <a:ea typeface="Arial"/>
                <a:cs typeface="Arial"/>
              </a:defRPr>
            </a:pPr>
            <a:r>
              <a:t>Through the hardened block</a:t>
            </a:r>
          </a:p>
        </p:txBody>
      </p:sp>
      <p:sp>
        <p:nvSpPr>
          <p:cNvPr id="23" name="">
            <a:extLst xmlns:a="http://schemas.openxmlformats.org/drawingml/2006/main">
              <a:ext uri="{FF2B5EF4-FFF2-40B4-BE49-F238E27FC236}">
                <a16:creationId xmlns:a16="http://schemas.microsoft.com/office/drawing/2014/main" id="{17D6B736-4F24-4367-860B-83C2812CC56E}"/>
              </a:ext>
            </a:extLst>
          </p:cNvPr>
          <p:cNvSpPr>
            <a:spLocks xmlns:a="http://schemas.openxmlformats.org/drawingml/2006/main" noGrp="1"/>
          </p:cNvSpPr>
          <p:nvPr/>
        </p:nvSpPr>
        <p:spPr>
          <a:xfrm xmlns:a="http://schemas.openxmlformats.org/drawingml/2006/main">
            <a:off x="45720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4" name="">
            <a:extLst xmlns:a="http://schemas.openxmlformats.org/drawingml/2006/main">
              <a:ext uri="{FF2B5EF4-FFF2-40B4-BE49-F238E27FC236}">
                <a16:creationId xmlns:a16="http://schemas.microsoft.com/office/drawing/2014/main" id="{E0A90373-ADC0-46C8-A764-14C6B596C2B5}"/>
              </a:ext>
            </a:extLst>
          </p:cNvPr>
          <p:cNvSpPr>
            <a:spLocks xmlns:a="http://schemas.openxmlformats.org/drawingml/2006/main" noGrp="1"/>
          </p:cNvSpPr>
          <p:nvPr/>
        </p:nvSpPr>
        <p:spPr>
          <a:xfrm xmlns:a="http://schemas.openxmlformats.org/drawingml/2006/main">
            <a:off x="457200" y="31432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82E6E28E-2B15-457E-9D3D-C888B1A0145F}"/>
              </a:ext>
            </a:extLst>
          </p:cNvPr>
          <p:cNvSpPr>
            <a:spLocks xmlns:a="http://schemas.openxmlformats.org/drawingml/2006/main" noGrp="1"/>
          </p:cNvSpPr>
          <p:nvPr/>
        </p:nvSpPr>
        <p:spPr>
          <a:xfrm xmlns:a="http://schemas.openxmlformats.org/drawingml/2006/main">
            <a:off x="68580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Test mode opens every gate</a:t>
            </a:r>
          </a:p>
        </p:txBody>
      </p:sp>
      <p:sp>
        <p:nvSpPr>
          <p:cNvPr id="26" name="">
            <a:extLst xmlns:a="http://schemas.openxmlformats.org/drawingml/2006/main">
              <a:ext uri="{FF2B5EF4-FFF2-40B4-BE49-F238E27FC236}">
                <a16:creationId xmlns:a16="http://schemas.microsoft.com/office/drawing/2014/main" id="{7B104262-490C-42BF-ACA4-55CE4FC23225}"/>
              </a:ext>
            </a:extLst>
          </p:cNvPr>
          <p:cNvSpPr>
            <a:spLocks xmlns:a="http://schemas.openxmlformats.org/drawingml/2006/main" noGrp="1"/>
          </p:cNvSpPr>
          <p:nvPr/>
        </p:nvSpPr>
        <p:spPr>
          <a:xfrm xmlns:a="http://schemas.openxmlformats.org/drawingml/2006/main">
            <a:off x="68580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Clock gates are forced open and gated slots decode normally, so scan reaches every block.</a:t>
            </a:r>
          </a:p>
        </p:txBody>
      </p:sp>
      <p:sp>
        <p:nvSpPr>
          <p:cNvPr id="27" name="">
            <a:extLst xmlns:a="http://schemas.openxmlformats.org/drawingml/2006/main">
              <a:ext uri="{FF2B5EF4-FFF2-40B4-BE49-F238E27FC236}">
                <a16:creationId xmlns:a16="http://schemas.microsoft.com/office/drawing/2014/main" id="{3FC1AB06-50FD-4BD5-98F2-18875EF17E31}"/>
              </a:ext>
            </a:extLst>
          </p:cNvPr>
          <p:cNvSpPr>
            <a:spLocks xmlns:a="http://schemas.openxmlformats.org/drawingml/2006/main" noGrp="1"/>
          </p:cNvSpPr>
          <p:nvPr/>
        </p:nvSpPr>
        <p:spPr>
          <a:xfrm xmlns:a="http://schemas.openxmlformats.org/drawingml/2006/main">
            <a:off x="6229350" y="31432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28" name="">
            <a:extLst xmlns:a="http://schemas.openxmlformats.org/drawingml/2006/main">
              <a:ext uri="{FF2B5EF4-FFF2-40B4-BE49-F238E27FC236}">
                <a16:creationId xmlns:a16="http://schemas.microsoft.com/office/drawing/2014/main" id="{9A245365-2218-4EF9-92E3-CBBBDEF9BEB5}"/>
              </a:ext>
            </a:extLst>
          </p:cNvPr>
          <p:cNvSpPr>
            <a:spLocks xmlns:a="http://schemas.openxmlformats.org/drawingml/2006/main" noGrp="1"/>
          </p:cNvSpPr>
          <p:nvPr/>
        </p:nvSpPr>
        <p:spPr>
          <a:xfrm xmlns:a="http://schemas.openxmlformats.org/drawingml/2006/main">
            <a:off x="6229350" y="31432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8F0A72A-E509-4F63-A150-0704AB08EA9F}"/>
              </a:ext>
            </a:extLst>
          </p:cNvPr>
          <p:cNvSpPr>
            <a:spLocks xmlns:a="http://schemas.openxmlformats.org/drawingml/2006/main" noGrp="1"/>
          </p:cNvSpPr>
          <p:nvPr/>
        </p:nvSpPr>
        <p:spPr>
          <a:xfrm xmlns:a="http://schemas.openxmlformats.org/drawingml/2006/main">
            <a:off x="6457950" y="33337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Separate from debug</a:t>
            </a:r>
          </a:p>
        </p:txBody>
      </p:sp>
      <p:sp>
        <p:nvSpPr>
          <p:cNvPr id="30" name="">
            <a:extLst xmlns:a="http://schemas.openxmlformats.org/drawingml/2006/main">
              <a:ext uri="{FF2B5EF4-FFF2-40B4-BE49-F238E27FC236}">
                <a16:creationId xmlns:a16="http://schemas.microsoft.com/office/drawing/2014/main" id="{22D633BF-21C1-4236-B0D1-487B2EB17CDE}"/>
              </a:ext>
            </a:extLst>
          </p:cNvPr>
          <p:cNvSpPr>
            <a:spLocks xmlns:a="http://schemas.openxmlformats.org/drawingml/2006/main" noGrp="1"/>
          </p:cNvSpPr>
          <p:nvPr/>
        </p:nvSpPr>
        <p:spPr>
          <a:xfrm xmlns:a="http://schemas.openxmlformats.org/drawingml/2006/main">
            <a:off x="6457950" y="36957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Scan is for production test; interactive CPU debug over JTAG is on the roadmap.</a:t>
            </a:r>
          </a:p>
        </p:txBody>
      </p:sp>
      <p:sp>
        <p:nvSpPr>
          <p:cNvPr id="31" name="">
            <a:extLst xmlns:a="http://schemas.openxmlformats.org/drawingml/2006/main">
              <a:ext uri="{FF2B5EF4-FFF2-40B4-BE49-F238E27FC236}">
                <a16:creationId xmlns:a16="http://schemas.microsoft.com/office/drawing/2014/main" id="{46EDA11F-BA82-4F87-8B4B-C9B7FB281D68}"/>
              </a:ext>
            </a:extLst>
          </p:cNvPr>
          <p:cNvSpPr>
            <a:spLocks xmlns:a="http://schemas.openxmlformats.org/drawingml/2006/main" noGrp="1"/>
          </p:cNvSpPr>
          <p:nvPr/>
        </p:nvSpPr>
        <p:spPr>
          <a:xfrm xmlns:a="http://schemas.openxmlformats.org/drawingml/2006/main">
            <a:off x="4572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2" name="">
            <a:extLst xmlns:a="http://schemas.openxmlformats.org/drawingml/2006/main">
              <a:ext uri="{FF2B5EF4-FFF2-40B4-BE49-F238E27FC236}">
                <a16:creationId xmlns:a16="http://schemas.microsoft.com/office/drawing/2014/main" id="{A6DD8B9F-5D94-4BF7-9455-DE7927C02863}"/>
              </a:ext>
            </a:extLst>
          </p:cNvPr>
          <p:cNvSpPr>
            <a:spLocks xmlns:a="http://schemas.openxmlformats.org/drawingml/2006/main" noGrp="1"/>
          </p:cNvSpPr>
          <p:nvPr/>
        </p:nvSpPr>
        <p:spPr>
          <a:xfrm xmlns:a="http://schemas.openxmlformats.org/drawingml/2006/main">
            <a:off x="5715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077A3"/>
                </a:solidFill>
                <a:latin typeface="Georgia"/>
                <a:ea typeface="Georgia"/>
                <a:cs typeface="Georgia"/>
              </a:defRPr>
            </a:pPr>
            <a:r>
              <a:t>13</a:t>
            </a:r>
          </a:p>
        </p:txBody>
      </p:sp>
      <p:sp>
        <p:nvSpPr>
          <p:cNvPr id="33" name="">
            <a:extLst xmlns:a="http://schemas.openxmlformats.org/drawingml/2006/main">
              <a:ext uri="{FF2B5EF4-FFF2-40B4-BE49-F238E27FC236}">
                <a16:creationId xmlns:a16="http://schemas.microsoft.com/office/drawing/2014/main" id="{16862466-E4B2-4C86-A6B7-F58CE3FECB71}"/>
              </a:ext>
            </a:extLst>
          </p:cNvPr>
          <p:cNvSpPr>
            <a:spLocks xmlns:a="http://schemas.openxmlformats.org/drawingml/2006/main" noGrp="1"/>
          </p:cNvSpPr>
          <p:nvPr/>
        </p:nvSpPr>
        <p:spPr>
          <a:xfrm xmlns:a="http://schemas.openxmlformats.org/drawingml/2006/main">
            <a:off x="5715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SCAN CHAINS</a:t>
            </a:r>
          </a:p>
        </p:txBody>
      </p:sp>
      <p:sp>
        <p:nvSpPr>
          <p:cNvPr id="34" name="">
            <a:extLst xmlns:a="http://schemas.openxmlformats.org/drawingml/2006/main">
              <a:ext uri="{FF2B5EF4-FFF2-40B4-BE49-F238E27FC236}">
                <a16:creationId xmlns:a16="http://schemas.microsoft.com/office/drawing/2014/main" id="{8BBDFFE2-BD43-4590-8DCE-38C801D8D999}"/>
              </a:ext>
            </a:extLst>
          </p:cNvPr>
          <p:cNvSpPr>
            <a:spLocks xmlns:a="http://schemas.openxmlformats.org/drawingml/2006/main" noGrp="1"/>
          </p:cNvSpPr>
          <p:nvPr/>
        </p:nvSpPr>
        <p:spPr>
          <a:xfrm xmlns:a="http://schemas.openxmlformats.org/drawingml/2006/main">
            <a:off x="5905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Inside the hardened block</a:t>
            </a:r>
          </a:p>
        </p:txBody>
      </p:sp>
      <p:sp>
        <p:nvSpPr>
          <p:cNvPr id="35" name="">
            <a:extLst xmlns:a="http://schemas.openxmlformats.org/drawingml/2006/main">
              <a:ext uri="{FF2B5EF4-FFF2-40B4-BE49-F238E27FC236}">
                <a16:creationId xmlns:a16="http://schemas.microsoft.com/office/drawing/2014/main" id="{D4C6BF5E-66D5-4295-B41A-94EEC74F5A5B}"/>
              </a:ext>
            </a:extLst>
          </p:cNvPr>
          <p:cNvSpPr>
            <a:spLocks xmlns:a="http://schemas.openxmlformats.org/drawingml/2006/main" noGrp="1"/>
          </p:cNvSpPr>
          <p:nvPr/>
        </p:nvSpPr>
        <p:spPr>
          <a:xfrm xmlns:a="http://schemas.openxmlformats.org/drawingml/2006/main">
            <a:off x="43053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36" name="">
            <a:extLst xmlns:a="http://schemas.openxmlformats.org/drawingml/2006/main">
              <a:ext uri="{FF2B5EF4-FFF2-40B4-BE49-F238E27FC236}">
                <a16:creationId xmlns:a16="http://schemas.microsoft.com/office/drawing/2014/main" id="{1DD76D2C-EFF1-4D1F-9828-7EF01FA6DBD5}"/>
              </a:ext>
            </a:extLst>
          </p:cNvPr>
          <p:cNvSpPr>
            <a:spLocks xmlns:a="http://schemas.openxmlformats.org/drawingml/2006/main" noGrp="1"/>
          </p:cNvSpPr>
          <p:nvPr/>
        </p:nvSpPr>
        <p:spPr>
          <a:xfrm xmlns:a="http://schemas.openxmlformats.org/drawingml/2006/main">
            <a:off x="44196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4</a:t>
            </a:r>
          </a:p>
        </p:txBody>
      </p:sp>
      <p:sp>
        <p:nvSpPr>
          <p:cNvPr id="37" name="">
            <a:extLst xmlns:a="http://schemas.openxmlformats.org/drawingml/2006/main">
              <a:ext uri="{FF2B5EF4-FFF2-40B4-BE49-F238E27FC236}">
                <a16:creationId xmlns:a16="http://schemas.microsoft.com/office/drawing/2014/main" id="{2E3438A2-4B28-4A82-A4C1-4F5A81409CF9}"/>
              </a:ext>
            </a:extLst>
          </p:cNvPr>
          <p:cNvSpPr>
            <a:spLocks xmlns:a="http://schemas.openxmlformats.org/drawingml/2006/main" noGrp="1"/>
          </p:cNvSpPr>
          <p:nvPr/>
        </p:nvSpPr>
        <p:spPr>
          <a:xfrm xmlns:a="http://schemas.openxmlformats.org/drawingml/2006/main">
            <a:off x="44196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JTAG PINS</a:t>
            </a:r>
          </a:p>
        </p:txBody>
      </p:sp>
      <p:sp>
        <p:nvSpPr>
          <p:cNvPr id="38" name="">
            <a:extLst xmlns:a="http://schemas.openxmlformats.org/drawingml/2006/main">
              <a:ext uri="{FF2B5EF4-FFF2-40B4-BE49-F238E27FC236}">
                <a16:creationId xmlns:a16="http://schemas.microsoft.com/office/drawing/2014/main" id="{8D34A708-814A-42A6-B642-144D567915ED}"/>
              </a:ext>
            </a:extLst>
          </p:cNvPr>
          <p:cNvSpPr>
            <a:spLocks xmlns:a="http://schemas.openxmlformats.org/drawingml/2006/main" noGrp="1"/>
          </p:cNvSpPr>
          <p:nvPr/>
        </p:nvSpPr>
        <p:spPr>
          <a:xfrm xmlns:a="http://schemas.openxmlformats.org/drawingml/2006/main">
            <a:off x="44386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TCK, TMS, TDI, TDO</a:t>
            </a:r>
          </a:p>
        </p:txBody>
      </p:sp>
      <p:sp>
        <p:nvSpPr>
          <p:cNvPr id="39" name="">
            <a:extLst xmlns:a="http://schemas.openxmlformats.org/drawingml/2006/main">
              <a:ext uri="{FF2B5EF4-FFF2-40B4-BE49-F238E27FC236}">
                <a16:creationId xmlns:a16="http://schemas.microsoft.com/office/drawing/2014/main" id="{CFD7E31E-3111-47B7-9F98-50DCB49FF441}"/>
              </a:ext>
            </a:extLst>
          </p:cNvPr>
          <p:cNvSpPr>
            <a:spLocks xmlns:a="http://schemas.openxmlformats.org/drawingml/2006/main" noGrp="1"/>
          </p:cNvSpPr>
          <p:nvPr/>
        </p:nvSpPr>
        <p:spPr>
          <a:xfrm xmlns:a="http://schemas.openxmlformats.org/drawingml/2006/main">
            <a:off x="8153400" y="4705350"/>
            <a:ext cx="3581400" cy="1333500"/>
          </a:xfrm>
          <a:prstGeom xmlns:a="http://schemas.openxmlformats.org/drawingml/2006/main" prst="roundRect">
            <a:avLst>
              <a:gd name="adj" fmla="val 5714"/>
            </a:avLst>
          </a:prstGeom>
          <a:solidFill xmlns:a="http://schemas.openxmlformats.org/drawingml/2006/main">
            <a:srgbClr val="F8FAFC"/>
          </a:solidFill>
          <a:ln xmlns:a="http://schemas.openxmlformats.org/drawingml/2006/main" w="9525">
            <a:solidFill>
              <a:srgbClr val="E2E8F0"/>
            </a:solidFill>
            <a:prstDash val="solid"/>
          </a:ln>
        </p:spPr>
      </p:sp>
      <p:sp>
        <p:nvSpPr>
          <p:cNvPr id="40" name="">
            <a:extLst xmlns:a="http://schemas.openxmlformats.org/drawingml/2006/main">
              <a:ext uri="{FF2B5EF4-FFF2-40B4-BE49-F238E27FC236}">
                <a16:creationId xmlns:a16="http://schemas.microsoft.com/office/drawing/2014/main" id="{2201C230-AF44-47B9-9E70-E1DAC92A36A0}"/>
              </a:ext>
            </a:extLst>
          </p:cNvPr>
          <p:cNvSpPr>
            <a:spLocks xmlns:a="http://schemas.openxmlformats.org/drawingml/2006/main" noGrp="1"/>
          </p:cNvSpPr>
          <p:nvPr/>
        </p:nvSpPr>
        <p:spPr>
          <a:xfrm xmlns:a="http://schemas.openxmlformats.org/drawingml/2006/main">
            <a:off x="8267700" y="4857750"/>
            <a:ext cx="3352800" cy="4667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625" b="1">
                <a:solidFill>
                  <a:srgbClr val="07686A"/>
                </a:solidFill>
                <a:latin typeface="Georgia"/>
                <a:ea typeface="Georgia"/>
                <a:cs typeface="Georgia"/>
              </a:defRPr>
            </a:pPr>
            <a:r>
              <a:t>All</a:t>
            </a:r>
          </a:p>
        </p:txBody>
      </p:sp>
      <p:sp>
        <p:nvSpPr>
          <p:cNvPr id="41" name="">
            <a:extLst xmlns:a="http://schemas.openxmlformats.org/drawingml/2006/main">
              <a:ext uri="{FF2B5EF4-FFF2-40B4-BE49-F238E27FC236}">
                <a16:creationId xmlns:a16="http://schemas.microsoft.com/office/drawing/2014/main" id="{D0DBA497-4749-4712-8D48-BBB33E48DE5F}"/>
              </a:ext>
            </a:extLst>
          </p:cNvPr>
          <p:cNvSpPr>
            <a:spLocks xmlns:a="http://schemas.openxmlformats.org/drawingml/2006/main" noGrp="1"/>
          </p:cNvSpPr>
          <p:nvPr/>
        </p:nvSpPr>
        <p:spPr>
          <a:xfrm xmlns:a="http://schemas.openxmlformats.org/drawingml/2006/main">
            <a:off x="8267700" y="5343525"/>
            <a:ext cx="3352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b="1">
                <a:solidFill>
                  <a:srgbClr val="1E293B"/>
                </a:solidFill>
                <a:latin typeface="Arial"/>
                <a:ea typeface="Arial"/>
                <a:cs typeface="Arial"/>
              </a:defRPr>
            </a:pPr>
            <a:r>
              <a:t>CLOCK GATES OPEN</a:t>
            </a:r>
          </a:p>
        </p:txBody>
      </p:sp>
      <p:sp>
        <p:nvSpPr>
          <p:cNvPr id="42" name="">
            <a:extLst xmlns:a="http://schemas.openxmlformats.org/drawingml/2006/main">
              <a:ext uri="{FF2B5EF4-FFF2-40B4-BE49-F238E27FC236}">
                <a16:creationId xmlns:a16="http://schemas.microsoft.com/office/drawing/2014/main" id="{AEEB2020-6746-41E1-AB73-F901AEB3C8DD}"/>
              </a:ext>
            </a:extLst>
          </p:cNvPr>
          <p:cNvSpPr>
            <a:spLocks xmlns:a="http://schemas.openxmlformats.org/drawingml/2006/main" noGrp="1"/>
          </p:cNvSpPr>
          <p:nvPr/>
        </p:nvSpPr>
        <p:spPr>
          <a:xfrm xmlns:a="http://schemas.openxmlformats.org/drawingml/2006/main">
            <a:off x="8286750" y="5591175"/>
            <a:ext cx="3314700" cy="3905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In test mode</a:t>
            </a:r>
          </a:p>
        </p:txBody>
      </p:sp>
      <p:sp>
        <p:nvSpPr>
          <p:cNvPr id="43" name="">
            <a:extLst xmlns:a="http://schemas.openxmlformats.org/drawingml/2006/main">
              <a:ext uri="{FF2B5EF4-FFF2-40B4-BE49-F238E27FC236}">
                <a16:creationId xmlns:a16="http://schemas.microsoft.com/office/drawing/2014/main" id="{6C09CD72-C66E-4E2B-AD98-B969A4AD5C8D}"/>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Sources: DG32-LITE tape-in block diagram (scan/DFT, JTAG TAP); investor block diagram p2 (debug roadmap).</a:t>
            </a:r>
          </a:p>
        </p:txBody>
      </p:sp>
    </p:spTree>
    <p:extLst>
      <p:ext uri="{BB962C8B-B14F-4D97-AF65-F5344CB8AC3E}">
        <p14:creationId xmlns:p14="http://schemas.microsoft.com/office/powerpoint/2010/main" val="138778477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C33619E-9818-4D62-B8D3-5CFBB271C5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6492BDF-1674-404B-B665-AD1328CE2435}"/>
              </a:ext>
            </a:extLst>
          </p:cNvPr>
          <p:cNvSpPr>
            <a:spLocks xmlns:a="http://schemas.openxmlformats.org/drawingml/2006/main" noGrp="1"/>
          </p:cNvSpPr>
          <p:nvPr/>
        </p:nvSpPr>
        <p:spPr>
          <a:xfrm xmlns:a="http://schemas.openxmlformats.org/drawingml/2006/main">
            <a:off x="457200" y="228600"/>
            <a:ext cx="762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77A3"/>
                </a:solidFill>
                <a:latin typeface="Arial"/>
                <a:ea typeface="Arial"/>
                <a:cs typeface="Arial"/>
              </a:defRPr>
            </a:pPr>
            <a:r>
              <a:t>10 · SIGN-OFF GATES</a:t>
            </a:r>
          </a:p>
        </p:txBody>
      </p:sp>
      <p:sp>
        <p:nvSpPr>
          <p:cNvPr id="3" name="">
            <a:extLst xmlns:a="http://schemas.openxmlformats.org/drawingml/2006/main">
              <a:ext uri="{FF2B5EF4-FFF2-40B4-BE49-F238E27FC236}">
                <a16:creationId xmlns:a16="http://schemas.microsoft.com/office/drawing/2014/main" id="{47DFD0F2-D2A3-4E05-AEDC-297B3462E95F}"/>
              </a:ext>
            </a:extLst>
          </p:cNvPr>
          <p:cNvSpPr>
            <a:spLocks xmlns:a="http://schemas.openxmlformats.org/drawingml/2006/main" noGrp="1"/>
          </p:cNvSpPr>
          <p:nvPr/>
        </p:nvSpPr>
        <p:spPr>
          <a:xfrm xmlns:a="http://schemas.openxmlformats.org/drawingml/2006/main">
            <a:off x="457200" y="457200"/>
            <a:ext cx="11049000" cy="5334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775" b="1">
                <a:solidFill>
                  <a:srgbClr val="1E293B"/>
                </a:solidFill>
                <a:latin typeface="Georgia"/>
                <a:ea typeface="Georgia"/>
                <a:cs typeface="Georgia"/>
              </a:defRPr>
            </a:pPr>
            <a:r>
              <a:t>Four gates must all pass before tape-in</a:t>
            </a:r>
          </a:p>
        </p:txBody>
      </p:sp>
      <p:sp>
        <p:nvSpPr>
          <p:cNvPr id="4" name="">
            <a:extLst xmlns:a="http://schemas.openxmlformats.org/drawingml/2006/main">
              <a:ext uri="{FF2B5EF4-FFF2-40B4-BE49-F238E27FC236}">
                <a16:creationId xmlns:a16="http://schemas.microsoft.com/office/drawing/2014/main" id="{8D217E26-EE99-4866-B823-B9EBBD900AE5}"/>
              </a:ext>
            </a:extLst>
          </p:cNvPr>
          <p:cNvSpPr>
            <a:spLocks xmlns:a="http://schemas.openxmlformats.org/drawingml/2006/main" noGrp="1"/>
          </p:cNvSpPr>
          <p:nvPr/>
        </p:nvSpPr>
        <p:spPr>
          <a:xfrm xmlns:a="http://schemas.openxmlformats.org/drawingml/2006/main">
            <a:off x="457200" y="1028700"/>
            <a:ext cx="10858500" cy="285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Every gate runs on the final hardened die; passing three is not enough</a:t>
            </a:r>
          </a:p>
        </p:txBody>
      </p:sp>
      <p:sp>
        <p:nvSpPr>
          <p:cNvPr id="5" name="">
            <a:extLst xmlns:a="http://schemas.openxmlformats.org/drawingml/2006/main">
              <a:ext uri="{FF2B5EF4-FFF2-40B4-BE49-F238E27FC236}">
                <a16:creationId xmlns:a16="http://schemas.microsoft.com/office/drawing/2014/main" id="{4D893A5D-E440-410D-9E31-1FABFEAAAB91}"/>
              </a:ext>
            </a:extLst>
          </p:cNvPr>
          <p:cNvSpPr>
            <a:spLocks xmlns:a="http://schemas.openxmlformats.org/drawingml/2006/main" noGrp="1"/>
          </p:cNvSpPr>
          <p:nvPr/>
        </p:nvSpPr>
        <p:spPr>
          <a:xfrm xmlns:a="http://schemas.openxmlformats.org/drawingml/2006/main">
            <a:off x="457200" y="1390650"/>
            <a:ext cx="11277600" cy="19050"/>
          </a:xfrm>
          <a:prstGeom xmlns:a="http://schemas.openxmlformats.org/drawingml/2006/main" prst="rect">
            <a:avLst/>
          </a:prstGeom>
          <a:solidFill xmlns:a="http://schemas.openxmlformats.org/drawingml/2006/main">
            <a:srgbClr val="1E293B"/>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6E6B04-0E17-40AB-A4DC-ECE91CD53105}"/>
              </a:ext>
            </a:extLst>
          </p:cNvPr>
          <p:cNvSpPr>
            <a:spLocks xmlns:a="http://schemas.openxmlformats.org/drawingml/2006/main" noGrp="1"/>
          </p:cNvSpPr>
          <p:nvPr/>
        </p:nvSpPr>
        <p:spPr>
          <a:xfrm xmlns:a="http://schemas.openxmlformats.org/drawingml/2006/main">
            <a:off x="457200" y="6486525"/>
            <a:ext cx="112776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1AF8E60-8D2E-4618-AF78-07BFED04A8EF}"/>
              </a:ext>
            </a:extLst>
          </p:cNvPr>
          <p:cNvSpPr>
            <a:spLocks xmlns:a="http://schemas.openxmlformats.org/drawingml/2006/main" noGrp="1"/>
          </p:cNvSpPr>
          <p:nvPr/>
        </p:nvSpPr>
        <p:spPr>
          <a:xfrm xmlns:a="http://schemas.openxmlformats.org/drawingml/2006/main">
            <a:off x="457200" y="6572250"/>
            <a:ext cx="7620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6B7280"/>
                </a:solidFill>
                <a:latin typeface="Arial"/>
                <a:ea typeface="Arial"/>
                <a:cs typeface="Arial"/>
              </a:defRPr>
            </a:pPr>
            <a:r>
              <a:t>DEEPGRID SEMI  ·  DG32-LITE TAPE-IN BLOCK DIAGRAM  ·  SEPTEMBER 2026  ·  PRE-SILICON</a:t>
            </a:r>
          </a:p>
        </p:txBody>
      </p:sp>
      <p:sp>
        <p:nvSpPr>
          <p:cNvPr id="8" name="">
            <a:extLst xmlns:a="http://schemas.openxmlformats.org/drawingml/2006/main">
              <a:ext uri="{FF2B5EF4-FFF2-40B4-BE49-F238E27FC236}">
                <a16:creationId xmlns:a16="http://schemas.microsoft.com/office/drawing/2014/main" id="{7E467C64-0611-4368-A69C-F2F72E789BFC}"/>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10</a:t>
            </a:r>
          </a:p>
        </p:txBody>
      </p:sp>
      <p:sp>
        <p:nvSpPr>
          <p:cNvPr id="9" name="">
            <a:extLst xmlns:a="http://schemas.openxmlformats.org/drawingml/2006/main">
              <a:ext uri="{FF2B5EF4-FFF2-40B4-BE49-F238E27FC236}">
                <a16:creationId xmlns:a16="http://schemas.microsoft.com/office/drawing/2014/main" id="{5822D2B6-70D2-43FD-8DD8-5BA36B5478F8}"/>
              </a:ext>
            </a:extLst>
          </p:cNvPr>
          <p:cNvSpPr>
            <a:spLocks xmlns:a="http://schemas.openxmlformats.org/drawingml/2006/main" noGrp="1"/>
          </p:cNvSpPr>
          <p:nvPr/>
        </p:nvSpPr>
        <p:spPr>
          <a:xfrm xmlns:a="http://schemas.openxmlformats.org/drawingml/2006/main">
            <a:off x="647700" y="2286000"/>
            <a:ext cx="10896600" cy="19050"/>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C950C8-8472-4A26-962D-D261FC1067C0}"/>
              </a:ext>
            </a:extLst>
          </p:cNvPr>
          <p:cNvSpPr>
            <a:spLocks xmlns:a="http://schemas.openxmlformats.org/drawingml/2006/main" noGrp="1"/>
          </p:cNvSpPr>
          <p:nvPr/>
        </p:nvSpPr>
        <p:spPr>
          <a:xfrm xmlns:a="http://schemas.openxmlformats.org/drawingml/2006/main">
            <a:off x="4572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11" name="">
            <a:extLst xmlns:a="http://schemas.openxmlformats.org/drawingml/2006/main">
              <a:ext uri="{FF2B5EF4-FFF2-40B4-BE49-F238E27FC236}">
                <a16:creationId xmlns:a16="http://schemas.microsoft.com/office/drawing/2014/main" id="{270A1F1F-3E5A-4D4F-82BC-68774C0BDFD7}"/>
              </a:ext>
            </a:extLst>
          </p:cNvPr>
          <p:cNvSpPr>
            <a:spLocks xmlns:a="http://schemas.openxmlformats.org/drawingml/2006/main" noGrp="1"/>
          </p:cNvSpPr>
          <p:nvPr/>
        </p:nvSpPr>
        <p:spPr>
          <a:xfrm xmlns:a="http://schemas.openxmlformats.org/drawingml/2006/main">
            <a:off x="4572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1</a:t>
            </a:r>
          </a:p>
        </p:txBody>
      </p:sp>
      <p:sp>
        <p:nvSpPr>
          <p:cNvPr id="12" name="">
            <a:extLst xmlns:a="http://schemas.openxmlformats.org/drawingml/2006/main">
              <a:ext uri="{FF2B5EF4-FFF2-40B4-BE49-F238E27FC236}">
                <a16:creationId xmlns:a16="http://schemas.microsoft.com/office/drawing/2014/main" id="{442D4F76-F6E0-4DC3-BB63-D804E363642A}"/>
              </a:ext>
            </a:extLst>
          </p:cNvPr>
          <p:cNvSpPr>
            <a:spLocks xmlns:a="http://schemas.openxmlformats.org/drawingml/2006/main" noGrp="1"/>
          </p:cNvSpPr>
          <p:nvPr/>
        </p:nvSpPr>
        <p:spPr>
          <a:xfrm xmlns:a="http://schemas.openxmlformats.org/drawingml/2006/main">
            <a:off x="16954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13" name="">
            <a:extLst xmlns:a="http://schemas.openxmlformats.org/drawingml/2006/main">
              <a:ext uri="{FF2B5EF4-FFF2-40B4-BE49-F238E27FC236}">
                <a16:creationId xmlns:a16="http://schemas.microsoft.com/office/drawing/2014/main" id="{253C555E-44E4-48C2-AFE5-D40C3C92FDF4}"/>
              </a:ext>
            </a:extLst>
          </p:cNvPr>
          <p:cNvSpPr>
            <a:spLocks xmlns:a="http://schemas.openxmlformats.org/drawingml/2006/main" noGrp="1"/>
          </p:cNvSpPr>
          <p:nvPr/>
        </p:nvSpPr>
        <p:spPr>
          <a:xfrm xmlns:a="http://schemas.openxmlformats.org/drawingml/2006/main">
            <a:off x="3810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DRC clean</a:t>
            </a:r>
          </a:p>
        </p:txBody>
      </p:sp>
      <p:sp>
        <p:nvSpPr>
          <p:cNvPr id="14" name="">
            <a:extLst xmlns:a="http://schemas.openxmlformats.org/drawingml/2006/main">
              <a:ext uri="{FF2B5EF4-FFF2-40B4-BE49-F238E27FC236}">
                <a16:creationId xmlns:a16="http://schemas.microsoft.com/office/drawing/2014/main" id="{3789C3BA-D3E1-429E-8F69-437B734B559A}"/>
              </a:ext>
            </a:extLst>
          </p:cNvPr>
          <p:cNvSpPr>
            <a:spLocks xmlns:a="http://schemas.openxmlformats.org/drawingml/2006/main" noGrp="1"/>
          </p:cNvSpPr>
          <p:nvPr/>
        </p:nvSpPr>
        <p:spPr>
          <a:xfrm xmlns:a="http://schemas.openxmlformats.org/drawingml/2006/main">
            <a:off x="3810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design rule, the whole die</a:t>
            </a:r>
          </a:p>
        </p:txBody>
      </p:sp>
      <p:sp>
        <p:nvSpPr>
          <p:cNvPr id="15" name="">
            <a:extLst xmlns:a="http://schemas.openxmlformats.org/drawingml/2006/main">
              <a:ext uri="{FF2B5EF4-FFF2-40B4-BE49-F238E27FC236}">
                <a16:creationId xmlns:a16="http://schemas.microsoft.com/office/drawing/2014/main" id="{E12567C9-E7C7-4639-974A-4B062E3E5D34}"/>
              </a:ext>
            </a:extLst>
          </p:cNvPr>
          <p:cNvSpPr>
            <a:spLocks xmlns:a="http://schemas.openxmlformats.org/drawingml/2006/main" noGrp="1"/>
          </p:cNvSpPr>
          <p:nvPr/>
        </p:nvSpPr>
        <p:spPr>
          <a:xfrm xmlns:a="http://schemas.openxmlformats.org/drawingml/2006/main">
            <a:off x="32766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16" name="">
            <a:extLst xmlns:a="http://schemas.openxmlformats.org/drawingml/2006/main">
              <a:ext uri="{FF2B5EF4-FFF2-40B4-BE49-F238E27FC236}">
                <a16:creationId xmlns:a16="http://schemas.microsoft.com/office/drawing/2014/main" id="{B3D46BAA-DABA-4E48-8BF5-4193EE7E2341}"/>
              </a:ext>
            </a:extLst>
          </p:cNvPr>
          <p:cNvSpPr>
            <a:spLocks xmlns:a="http://schemas.openxmlformats.org/drawingml/2006/main" noGrp="1"/>
          </p:cNvSpPr>
          <p:nvPr/>
        </p:nvSpPr>
        <p:spPr>
          <a:xfrm xmlns:a="http://schemas.openxmlformats.org/drawingml/2006/main">
            <a:off x="32766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2</a:t>
            </a:r>
          </a:p>
        </p:txBody>
      </p:sp>
      <p:sp>
        <p:nvSpPr>
          <p:cNvPr id="17" name="">
            <a:extLst xmlns:a="http://schemas.openxmlformats.org/drawingml/2006/main">
              <a:ext uri="{FF2B5EF4-FFF2-40B4-BE49-F238E27FC236}">
                <a16:creationId xmlns:a16="http://schemas.microsoft.com/office/drawing/2014/main" id="{B584B46A-1229-4723-9BA5-4C00F6FE4813}"/>
              </a:ext>
            </a:extLst>
          </p:cNvPr>
          <p:cNvSpPr>
            <a:spLocks xmlns:a="http://schemas.openxmlformats.org/drawingml/2006/main" noGrp="1"/>
          </p:cNvSpPr>
          <p:nvPr/>
        </p:nvSpPr>
        <p:spPr>
          <a:xfrm xmlns:a="http://schemas.openxmlformats.org/drawingml/2006/main">
            <a:off x="45148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18" name="">
            <a:extLst xmlns:a="http://schemas.openxmlformats.org/drawingml/2006/main">
              <a:ext uri="{FF2B5EF4-FFF2-40B4-BE49-F238E27FC236}">
                <a16:creationId xmlns:a16="http://schemas.microsoft.com/office/drawing/2014/main" id="{EADB7F5D-C1B2-49BA-BF43-09FA4CE73334}"/>
              </a:ext>
            </a:extLst>
          </p:cNvPr>
          <p:cNvSpPr>
            <a:spLocks xmlns:a="http://schemas.openxmlformats.org/drawingml/2006/main" noGrp="1"/>
          </p:cNvSpPr>
          <p:nvPr/>
        </p:nvSpPr>
        <p:spPr>
          <a:xfrm xmlns:a="http://schemas.openxmlformats.org/drawingml/2006/main">
            <a:off x="32004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LVS match</a:t>
            </a:r>
          </a:p>
        </p:txBody>
      </p:sp>
      <p:sp>
        <p:nvSpPr>
          <p:cNvPr id="19" name="">
            <a:extLst xmlns:a="http://schemas.openxmlformats.org/drawingml/2006/main">
              <a:ext uri="{FF2B5EF4-FFF2-40B4-BE49-F238E27FC236}">
                <a16:creationId xmlns:a16="http://schemas.microsoft.com/office/drawing/2014/main" id="{8B7FDBE1-3FC4-45AD-AAB1-475EA175CC7F}"/>
              </a:ext>
            </a:extLst>
          </p:cNvPr>
          <p:cNvSpPr>
            <a:spLocks xmlns:a="http://schemas.openxmlformats.org/drawingml/2006/main" noGrp="1"/>
          </p:cNvSpPr>
          <p:nvPr/>
        </p:nvSpPr>
        <p:spPr>
          <a:xfrm xmlns:a="http://schemas.openxmlformats.org/drawingml/2006/main">
            <a:off x="32004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Circuits match uniquely, pins included</a:t>
            </a:r>
          </a:p>
        </p:txBody>
      </p:sp>
      <p:sp>
        <p:nvSpPr>
          <p:cNvPr id="20" name="">
            <a:extLst xmlns:a="http://schemas.openxmlformats.org/drawingml/2006/main">
              <a:ext uri="{FF2B5EF4-FFF2-40B4-BE49-F238E27FC236}">
                <a16:creationId xmlns:a16="http://schemas.microsoft.com/office/drawing/2014/main" id="{7D520152-BEC3-45B8-B3E0-13308E24A7BF}"/>
              </a:ext>
            </a:extLst>
          </p:cNvPr>
          <p:cNvSpPr>
            <a:spLocks xmlns:a="http://schemas.openxmlformats.org/drawingml/2006/main" noGrp="1"/>
          </p:cNvSpPr>
          <p:nvPr/>
        </p:nvSpPr>
        <p:spPr>
          <a:xfrm xmlns:a="http://schemas.openxmlformats.org/drawingml/2006/main">
            <a:off x="60960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7686A"/>
            </a:solidFill>
            <a:prstDash val="solid"/>
          </a:ln>
        </p:spPr>
      </p:sp>
      <p:sp>
        <p:nvSpPr>
          <p:cNvPr id="21" name="">
            <a:extLst xmlns:a="http://schemas.openxmlformats.org/drawingml/2006/main">
              <a:ext uri="{FF2B5EF4-FFF2-40B4-BE49-F238E27FC236}">
                <a16:creationId xmlns:a16="http://schemas.microsoft.com/office/drawing/2014/main" id="{01FCAF41-B5FB-4CB1-931C-A8A0E08211FE}"/>
              </a:ext>
            </a:extLst>
          </p:cNvPr>
          <p:cNvSpPr>
            <a:spLocks xmlns:a="http://schemas.openxmlformats.org/drawingml/2006/main" noGrp="1"/>
          </p:cNvSpPr>
          <p:nvPr/>
        </p:nvSpPr>
        <p:spPr>
          <a:xfrm xmlns:a="http://schemas.openxmlformats.org/drawingml/2006/main">
            <a:off x="60960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7686A"/>
                </a:solidFill>
                <a:latin typeface="Arial"/>
                <a:ea typeface="Arial"/>
                <a:cs typeface="Arial"/>
              </a:defRPr>
            </a:pPr>
            <a:r>
              <a:t>GATE 3</a:t>
            </a:r>
          </a:p>
        </p:txBody>
      </p:sp>
      <p:sp>
        <p:nvSpPr>
          <p:cNvPr id="22" name="">
            <a:extLst xmlns:a="http://schemas.openxmlformats.org/drawingml/2006/main">
              <a:ext uri="{FF2B5EF4-FFF2-40B4-BE49-F238E27FC236}">
                <a16:creationId xmlns:a16="http://schemas.microsoft.com/office/drawing/2014/main" id="{444E4C19-3995-4E83-900C-82EE9AD9641C}"/>
              </a:ext>
            </a:extLst>
          </p:cNvPr>
          <p:cNvSpPr>
            <a:spLocks xmlns:a="http://schemas.openxmlformats.org/drawingml/2006/main" noGrp="1"/>
          </p:cNvSpPr>
          <p:nvPr/>
        </p:nvSpPr>
        <p:spPr>
          <a:xfrm xmlns:a="http://schemas.openxmlformats.org/drawingml/2006/main">
            <a:off x="73342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7686A"/>
            </a:solidFill>
            <a:prstDash val="solid"/>
          </a:ln>
        </p:spPr>
      </p:sp>
      <p:sp>
        <p:nvSpPr>
          <p:cNvPr id="23" name="">
            <a:extLst xmlns:a="http://schemas.openxmlformats.org/drawingml/2006/main">
              <a:ext uri="{FF2B5EF4-FFF2-40B4-BE49-F238E27FC236}">
                <a16:creationId xmlns:a16="http://schemas.microsoft.com/office/drawing/2014/main" id="{EB014EE7-86CD-477F-A34B-0F351AC492F2}"/>
              </a:ext>
            </a:extLst>
          </p:cNvPr>
          <p:cNvSpPr>
            <a:spLocks xmlns:a="http://schemas.openxmlformats.org/drawingml/2006/main" noGrp="1"/>
          </p:cNvSpPr>
          <p:nvPr/>
        </p:nvSpPr>
        <p:spPr>
          <a:xfrm xmlns:a="http://schemas.openxmlformats.org/drawingml/2006/main">
            <a:off x="60198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Connectivity</a:t>
            </a:r>
          </a:p>
        </p:txBody>
      </p:sp>
      <p:sp>
        <p:nvSpPr>
          <p:cNvPr id="24" name="">
            <a:extLst xmlns:a="http://schemas.openxmlformats.org/drawingml/2006/main">
              <a:ext uri="{FF2B5EF4-FFF2-40B4-BE49-F238E27FC236}">
                <a16:creationId xmlns:a16="http://schemas.microsoft.com/office/drawing/2014/main" id="{481F0525-2A5F-479E-921D-962D538875B2}"/>
              </a:ext>
            </a:extLst>
          </p:cNvPr>
          <p:cNvSpPr>
            <a:spLocks xmlns:a="http://schemas.openxmlformats.org/drawingml/2006/main" noGrp="1"/>
          </p:cNvSpPr>
          <p:nvPr/>
        </p:nvSpPr>
        <p:spPr>
          <a:xfrm xmlns:a="http://schemas.openxmlformats.org/drawingml/2006/main">
            <a:off x="60198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Every pad reaches logic; no floating net</a:t>
            </a:r>
          </a:p>
        </p:txBody>
      </p:sp>
      <p:sp>
        <p:nvSpPr>
          <p:cNvPr id="25" name="">
            <a:extLst xmlns:a="http://schemas.openxmlformats.org/drawingml/2006/main">
              <a:ext uri="{FF2B5EF4-FFF2-40B4-BE49-F238E27FC236}">
                <a16:creationId xmlns:a16="http://schemas.microsoft.com/office/drawing/2014/main" id="{6CA347CC-45B3-4BDB-A199-745BDBDE6937}"/>
              </a:ext>
            </a:extLst>
          </p:cNvPr>
          <p:cNvSpPr>
            <a:spLocks xmlns:a="http://schemas.openxmlformats.org/drawingml/2006/main" noGrp="1"/>
          </p:cNvSpPr>
          <p:nvPr/>
        </p:nvSpPr>
        <p:spPr>
          <a:xfrm xmlns:a="http://schemas.openxmlformats.org/drawingml/2006/main">
            <a:off x="8915400" y="1790700"/>
            <a:ext cx="2628900" cy="285750"/>
          </a:xfrm>
          <a:prstGeom xmlns:a="http://schemas.openxmlformats.org/drawingml/2006/main" prst="rect">
            <a:avLst/>
          </a:prstGeom>
          <a:solidFill xmlns:a="http://schemas.openxmlformats.org/drawingml/2006/main">
            <a:srgbClr val="F8FAFC"/>
          </a:solidFill>
          <a:ln xmlns:a="http://schemas.openxmlformats.org/drawingml/2006/main" w="9525">
            <a:solidFill>
              <a:srgbClr val="0077A3"/>
            </a:solidFill>
            <a:prstDash val="solid"/>
          </a:ln>
        </p:spPr>
      </p:sp>
      <p:sp>
        <p:nvSpPr>
          <p:cNvPr id="26" name="">
            <a:extLst xmlns:a="http://schemas.openxmlformats.org/drawingml/2006/main">
              <a:ext uri="{FF2B5EF4-FFF2-40B4-BE49-F238E27FC236}">
                <a16:creationId xmlns:a16="http://schemas.microsoft.com/office/drawing/2014/main" id="{1F977942-230D-43C5-A421-C39B2D80BF5B}"/>
              </a:ext>
            </a:extLst>
          </p:cNvPr>
          <p:cNvSpPr>
            <a:spLocks xmlns:a="http://schemas.openxmlformats.org/drawingml/2006/main" noGrp="1"/>
          </p:cNvSpPr>
          <p:nvPr/>
        </p:nvSpPr>
        <p:spPr>
          <a:xfrm xmlns:a="http://schemas.openxmlformats.org/drawingml/2006/main">
            <a:off x="8915400" y="1857375"/>
            <a:ext cx="26289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00" b="1">
                <a:solidFill>
                  <a:srgbClr val="0077A3"/>
                </a:solidFill>
                <a:latin typeface="Arial"/>
                <a:ea typeface="Arial"/>
                <a:cs typeface="Arial"/>
              </a:defRPr>
            </a:pPr>
            <a:r>
              <a:t>GATE 4</a:t>
            </a:r>
          </a:p>
        </p:txBody>
      </p:sp>
      <p:sp>
        <p:nvSpPr>
          <p:cNvPr id="27" name="">
            <a:extLst xmlns:a="http://schemas.openxmlformats.org/drawingml/2006/main">
              <a:ext uri="{FF2B5EF4-FFF2-40B4-BE49-F238E27FC236}">
                <a16:creationId xmlns:a16="http://schemas.microsoft.com/office/drawing/2014/main" id="{35D333E5-5BD2-474E-B2C0-A4B6C1583010}"/>
              </a:ext>
            </a:extLst>
          </p:cNvPr>
          <p:cNvSpPr>
            <a:spLocks xmlns:a="http://schemas.openxmlformats.org/drawingml/2006/main" noGrp="1"/>
          </p:cNvSpPr>
          <p:nvPr/>
        </p:nvSpPr>
        <p:spPr>
          <a:xfrm xmlns:a="http://schemas.openxmlformats.org/drawingml/2006/main">
            <a:off x="10153650" y="2219325"/>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0077A3"/>
            </a:solidFill>
            <a:prstDash val="solid"/>
          </a:ln>
        </p:spPr>
      </p:sp>
      <p:sp>
        <p:nvSpPr>
          <p:cNvPr id="28" name="">
            <a:extLst xmlns:a="http://schemas.openxmlformats.org/drawingml/2006/main">
              <a:ext uri="{FF2B5EF4-FFF2-40B4-BE49-F238E27FC236}">
                <a16:creationId xmlns:a16="http://schemas.microsoft.com/office/drawing/2014/main" id="{246DAA16-D03C-40FB-A457-E1DF4D609CD5}"/>
              </a:ext>
            </a:extLst>
          </p:cNvPr>
          <p:cNvSpPr>
            <a:spLocks xmlns:a="http://schemas.openxmlformats.org/drawingml/2006/main" noGrp="1"/>
          </p:cNvSpPr>
          <p:nvPr/>
        </p:nvSpPr>
        <p:spPr>
          <a:xfrm xmlns:a="http://schemas.openxmlformats.org/drawingml/2006/main">
            <a:off x="8839200" y="2495550"/>
            <a:ext cx="2781300" cy="2476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275" b="1">
                <a:solidFill>
                  <a:srgbClr val="1E293B"/>
                </a:solidFill>
                <a:latin typeface="Arial"/>
                <a:ea typeface="Arial"/>
                <a:cs typeface="Arial"/>
              </a:defRPr>
            </a:pPr>
            <a:r>
              <a:t>Boot simulation</a:t>
            </a:r>
          </a:p>
        </p:txBody>
      </p:sp>
      <p:sp>
        <p:nvSpPr>
          <p:cNvPr id="29" name="">
            <a:extLst xmlns:a="http://schemas.openxmlformats.org/drawingml/2006/main">
              <a:ext uri="{FF2B5EF4-FFF2-40B4-BE49-F238E27FC236}">
                <a16:creationId xmlns:a16="http://schemas.microsoft.com/office/drawing/2014/main" id="{A93C28A9-D4A6-490A-BEC8-9580C6F3ACAD}"/>
              </a:ext>
            </a:extLst>
          </p:cNvPr>
          <p:cNvSpPr>
            <a:spLocks xmlns:a="http://schemas.openxmlformats.org/drawingml/2006/main" noGrp="1"/>
          </p:cNvSpPr>
          <p:nvPr/>
        </p:nvSpPr>
        <p:spPr>
          <a:xfrm xmlns:a="http://schemas.openxmlformats.org/drawingml/2006/main">
            <a:off x="8839200" y="2762250"/>
            <a:ext cx="2781300" cy="4191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975">
                <a:solidFill>
                  <a:srgbClr val="6B7280"/>
                </a:solidFill>
                <a:latin typeface="Arial"/>
                <a:ea typeface="Arial"/>
                <a:cs typeface="Arial"/>
              </a:defRPr>
            </a:pPr>
            <a:r>
              <a:t>Routed netlist prints the banner</a:t>
            </a:r>
          </a:p>
        </p:txBody>
      </p:sp>
      <p:sp>
        <p:nvSpPr>
          <p:cNvPr id="30" name="">
            <a:extLst xmlns:a="http://schemas.openxmlformats.org/drawingml/2006/main">
              <a:ext uri="{FF2B5EF4-FFF2-40B4-BE49-F238E27FC236}">
                <a16:creationId xmlns:a16="http://schemas.microsoft.com/office/drawing/2014/main" id="{1F270BC4-6A9C-4EB4-929D-BCD2451C5818}"/>
              </a:ext>
            </a:extLst>
          </p:cNvPr>
          <p:cNvSpPr>
            <a:spLocks xmlns:a="http://schemas.openxmlformats.org/drawingml/2006/main" noGrp="1"/>
          </p:cNvSpPr>
          <p:nvPr/>
        </p:nvSpPr>
        <p:spPr>
          <a:xfrm xmlns:a="http://schemas.openxmlformats.org/drawingml/2006/main">
            <a:off x="457200" y="3714750"/>
            <a:ext cx="5505450" cy="1495425"/>
          </a:xfrm>
          <a:prstGeom xmlns:a="http://schemas.openxmlformats.org/drawingml/2006/main" prst="roundRect">
            <a:avLst>
              <a:gd name="adj" fmla="val 5096"/>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182A1512-4592-4F4F-9320-1A4F79C98E01}"/>
              </a:ext>
            </a:extLst>
          </p:cNvPr>
          <p:cNvSpPr>
            <a:spLocks xmlns:a="http://schemas.openxmlformats.org/drawingml/2006/main" noGrp="1"/>
          </p:cNvSpPr>
          <p:nvPr/>
        </p:nvSpPr>
        <p:spPr>
          <a:xfrm xmlns:a="http://schemas.openxmlformats.org/drawingml/2006/main">
            <a:off x="457200" y="3714750"/>
            <a:ext cx="57150" cy="149542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04654988-86AC-40E8-86A0-5DE8185071FE}"/>
              </a:ext>
            </a:extLst>
          </p:cNvPr>
          <p:cNvSpPr>
            <a:spLocks xmlns:a="http://schemas.openxmlformats.org/drawingml/2006/main" noGrp="1"/>
          </p:cNvSpPr>
          <p:nvPr/>
        </p:nvSpPr>
        <p:spPr>
          <a:xfrm xmlns:a="http://schemas.openxmlformats.org/drawingml/2006/main">
            <a:off x="68580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Why a connectivity gate</a:t>
            </a:r>
          </a:p>
        </p:txBody>
      </p:sp>
      <p:sp>
        <p:nvSpPr>
          <p:cNvPr id="33" name="">
            <a:extLst xmlns:a="http://schemas.openxmlformats.org/drawingml/2006/main">
              <a:ext uri="{FF2B5EF4-FFF2-40B4-BE49-F238E27FC236}">
                <a16:creationId xmlns:a16="http://schemas.microsoft.com/office/drawing/2014/main" id="{E7F7EFB7-7ED6-4F54-9455-28C35E616C7E}"/>
              </a:ext>
            </a:extLst>
          </p:cNvPr>
          <p:cNvSpPr>
            <a:spLocks xmlns:a="http://schemas.openxmlformats.org/drawingml/2006/main" noGrp="1"/>
          </p:cNvSpPr>
          <p:nvPr/>
        </p:nvSpPr>
        <p:spPr>
          <a:xfrm xmlns:a="http://schemas.openxmlformats.org/drawingml/2006/main">
            <a:off x="685800" y="4267200"/>
            <a:ext cx="5048250" cy="80962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Design-rule and layout-versus-schematic checks can both pass while a pad pin floats. Only a pin-level check on the final layout catches it.</a:t>
            </a:r>
          </a:p>
        </p:txBody>
      </p:sp>
      <p:sp>
        <p:nvSpPr>
          <p:cNvPr id="34" name="">
            <a:extLst xmlns:a="http://schemas.openxmlformats.org/drawingml/2006/main">
              <a:ext uri="{FF2B5EF4-FFF2-40B4-BE49-F238E27FC236}">
                <a16:creationId xmlns:a16="http://schemas.microsoft.com/office/drawing/2014/main" id="{B3CC61DE-FB0D-45F0-8229-243F39A6FB26}"/>
              </a:ext>
            </a:extLst>
          </p:cNvPr>
          <p:cNvSpPr>
            <a:spLocks xmlns:a="http://schemas.openxmlformats.org/drawingml/2006/main" noGrp="1"/>
          </p:cNvSpPr>
          <p:nvPr/>
        </p:nvSpPr>
        <p:spPr>
          <a:xfrm xmlns:a="http://schemas.openxmlformats.org/drawingml/2006/main">
            <a:off x="6229350" y="3714750"/>
            <a:ext cx="550545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0F1D1C66-81FF-4CB1-9640-7191F055E6F5}"/>
              </a:ext>
            </a:extLst>
          </p:cNvPr>
          <p:cNvSpPr>
            <a:spLocks xmlns:a="http://schemas.openxmlformats.org/drawingml/2006/main" noGrp="1"/>
          </p:cNvSpPr>
          <p:nvPr/>
        </p:nvSpPr>
        <p:spPr>
          <a:xfrm xmlns:a="http://schemas.openxmlformats.org/drawingml/2006/main">
            <a:off x="6229350" y="3714750"/>
            <a:ext cx="57150" cy="12477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A792C11-372D-4FF1-8107-9BED8A6178C1}"/>
              </a:ext>
            </a:extLst>
          </p:cNvPr>
          <p:cNvSpPr>
            <a:spLocks xmlns:a="http://schemas.openxmlformats.org/drawingml/2006/main" noGrp="1"/>
          </p:cNvSpPr>
          <p:nvPr/>
        </p:nvSpPr>
        <p:spPr>
          <a:xfrm xmlns:a="http://schemas.openxmlformats.org/drawingml/2006/main">
            <a:off x="6457950" y="3905250"/>
            <a:ext cx="508635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What this deck states</a:t>
            </a:r>
          </a:p>
        </p:txBody>
      </p:sp>
      <p:sp>
        <p:nvSpPr>
          <p:cNvPr id="37" name="">
            <a:extLst xmlns:a="http://schemas.openxmlformats.org/drawingml/2006/main">
              <a:ext uri="{FF2B5EF4-FFF2-40B4-BE49-F238E27FC236}">
                <a16:creationId xmlns:a16="http://schemas.microsoft.com/office/drawing/2014/main" id="{C1FC5566-2195-4624-90D2-10B7C496AD77}"/>
              </a:ext>
            </a:extLst>
          </p:cNvPr>
          <p:cNvSpPr>
            <a:spLocks xmlns:a="http://schemas.openxmlformats.org/drawingml/2006/main" noGrp="1"/>
          </p:cNvSpPr>
          <p:nvPr/>
        </p:nvSpPr>
        <p:spPr>
          <a:xfrm xmlns:a="http://schemas.openxmlformats.org/drawingml/2006/main">
            <a:off x="6457950" y="4267200"/>
            <a:ext cx="504825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The gates the die must pass, not their results. It makes no tapeout-ready claim.</a:t>
            </a:r>
          </a:p>
        </p:txBody>
      </p:sp>
      <p:sp>
        <p:nvSpPr>
          <p:cNvPr id="38" name="">
            <a:extLst xmlns:a="http://schemas.openxmlformats.org/drawingml/2006/main">
              <a:ext uri="{FF2B5EF4-FFF2-40B4-BE49-F238E27FC236}">
                <a16:creationId xmlns:a16="http://schemas.microsoft.com/office/drawing/2014/main" id="{26D2A7DC-0A8A-42A1-A6FD-E059743BDBD9}"/>
              </a:ext>
            </a:extLst>
          </p:cNvPr>
          <p:cNvSpPr>
            <a:spLocks xmlns:a="http://schemas.openxmlformats.org/drawingml/2006/main" noGrp="1"/>
          </p:cNvSpPr>
          <p:nvPr/>
        </p:nvSpPr>
        <p:spPr>
          <a:xfrm xmlns:a="http://schemas.openxmlformats.org/drawingml/2006/main">
            <a:off x="457200" y="6248400"/>
            <a:ext cx="10477500" cy="1714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i="1">
                <a:solidFill>
                  <a:srgbClr val="6B7280"/>
                </a:solidFill>
                <a:latin typeface="Arial"/>
                <a:ea typeface="Arial"/>
                <a:cs typeface="Arial"/>
              </a:defRPr>
            </a:pPr>
            <a:r>
              <a:t>Source: DG32-LITE tape-in block diagram, sign-off gates.</a:t>
            </a:r>
          </a:p>
        </p:txBody>
      </p:sp>
    </p:spTree>
    <p:extLst>
      <p:ext uri="{BB962C8B-B14F-4D97-AF65-F5344CB8AC3E}">
        <p14:creationId xmlns:p14="http://schemas.microsoft.com/office/powerpoint/2010/main" val="107050506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A9269AD-284E-4C23-884F-E5AB4B7A279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6977E88-8290-44A4-BB8F-D6CEDE42E967}"/>
              </a:ext>
            </a:extLst>
          </p:cNvPr>
          <p:cNvSpPr>
            <a:spLocks xmlns:a="http://schemas.openxmlformats.org/drawingml/2006/main" noGrp="1"/>
          </p:cNvSpPr>
          <p:nvPr/>
        </p:nvSpPr>
        <p:spPr>
          <a:xfrm xmlns:a="http://schemas.openxmlformats.org/drawingml/2006/main">
            <a:off x="0" y="0"/>
            <a:ext cx="4876800" cy="6858000"/>
          </a:xfrm>
          <a:prstGeom xmlns:a="http://schemas.openxmlformats.org/drawingml/2006/main" prst="rect">
            <a:avLst/>
          </a:prstGeom>
          <a:solidFill xmlns:a="http://schemas.openxmlformats.org/drawingml/2006/main">
            <a:srgbClr val="0A16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CDCC95D-F8C1-4B79-A96C-087614ED1BDB}"/>
              </a:ext>
            </a:extLst>
          </p:cNvPr>
          <p:cNvSpPr>
            <a:spLocks xmlns:a="http://schemas.openxmlformats.org/drawingml/2006/main" noGrp="1"/>
          </p:cNvSpPr>
          <p:nvPr/>
        </p:nvSpPr>
        <p:spPr>
          <a:xfrm xmlns:a="http://schemas.openxmlformats.org/drawingml/2006/main">
            <a:off x="457200" y="609600"/>
            <a:ext cx="38100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00B4D8"/>
                </a:solidFill>
                <a:latin typeface="Arial"/>
                <a:ea typeface="Arial"/>
                <a:cs typeface="Arial"/>
              </a:defRPr>
            </a:pPr>
            <a:r>
              <a:t>11 · CLOSE</a:t>
            </a:r>
          </a:p>
        </p:txBody>
      </p:sp>
      <p:sp>
        <p:nvSpPr>
          <p:cNvPr id="4" name="">
            <a:extLst xmlns:a="http://schemas.openxmlformats.org/drawingml/2006/main">
              <a:ext uri="{FF2B5EF4-FFF2-40B4-BE49-F238E27FC236}">
                <a16:creationId xmlns:a16="http://schemas.microsoft.com/office/drawing/2014/main" id="{4C382780-B389-4BA9-BD39-ABF50C516CDF}"/>
              </a:ext>
            </a:extLst>
          </p:cNvPr>
          <p:cNvSpPr>
            <a:spLocks xmlns:a="http://schemas.openxmlformats.org/drawingml/2006/main" noGrp="1"/>
          </p:cNvSpPr>
          <p:nvPr/>
        </p:nvSpPr>
        <p:spPr>
          <a:xfrm xmlns:a="http://schemas.openxmlformats.org/drawingml/2006/main">
            <a:off x="457200" y="990600"/>
            <a:ext cx="4000500" cy="19050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375" b="1">
                <a:solidFill>
                  <a:srgbClr val="FFFFFF"/>
                </a:solidFill>
                <a:latin typeface="Georgia"/>
                <a:ea typeface="Georgia"/>
                <a:cs typeface="Georgia"/>
              </a:defRPr>
            </a:pPr>
            <a:r>
              <a:t>Built to be checked, not assumed.</a:t>
            </a:r>
          </a:p>
        </p:txBody>
      </p:sp>
      <p:sp>
        <p:nvSpPr>
          <p:cNvPr id="5" name="">
            <a:extLst xmlns:a="http://schemas.openxmlformats.org/drawingml/2006/main">
              <a:ext uri="{FF2B5EF4-FFF2-40B4-BE49-F238E27FC236}">
                <a16:creationId xmlns:a16="http://schemas.microsoft.com/office/drawing/2014/main" id="{3F7A59F0-8089-41AB-8710-B7EF4D9ED635}"/>
              </a:ext>
            </a:extLst>
          </p:cNvPr>
          <p:cNvSpPr>
            <a:spLocks xmlns:a="http://schemas.openxmlformats.org/drawingml/2006/main" noGrp="1"/>
          </p:cNvSpPr>
          <p:nvPr/>
        </p:nvSpPr>
        <p:spPr>
          <a:xfrm xmlns:a="http://schemas.openxmlformats.org/drawingml/2006/main">
            <a:off x="457200" y="3028950"/>
            <a:ext cx="1143000" cy="38100"/>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1CACBDC-7F09-4C17-8793-9C3D6A2C21D9}"/>
              </a:ext>
            </a:extLst>
          </p:cNvPr>
          <p:cNvSpPr>
            <a:spLocks xmlns:a="http://schemas.openxmlformats.org/drawingml/2006/main" noGrp="1"/>
          </p:cNvSpPr>
          <p:nvPr/>
        </p:nvSpPr>
        <p:spPr>
          <a:xfrm xmlns:a="http://schemas.openxmlformats.org/drawingml/2006/main">
            <a:off x="457200" y="3276600"/>
            <a:ext cx="4000500" cy="14287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A9BACD"/>
                </a:solidFill>
                <a:latin typeface="Arial"/>
                <a:ea typeface="Arial"/>
                <a:cs typeface="Arial"/>
              </a:defRPr>
            </a:pPr>
            <a:r>
              <a:t>Next milestone: first silicon on the September 2026 multi-project shuttle.</a:t>
            </a:r>
          </a:p>
        </p:txBody>
      </p:sp>
      <p:sp>
        <p:nvSpPr>
          <p:cNvPr id="7" name="">
            <a:extLst xmlns:a="http://schemas.openxmlformats.org/drawingml/2006/main">
              <a:ext uri="{FF2B5EF4-FFF2-40B4-BE49-F238E27FC236}">
                <a16:creationId xmlns:a16="http://schemas.microsoft.com/office/drawing/2014/main" id="{47A1DB5A-3C55-427B-914D-7DDAB0428ACA}"/>
              </a:ext>
            </a:extLst>
          </p:cNvPr>
          <p:cNvSpPr>
            <a:spLocks xmlns:a="http://schemas.openxmlformats.org/drawingml/2006/main" noGrp="1"/>
          </p:cNvSpPr>
          <p:nvPr/>
        </p:nvSpPr>
        <p:spPr>
          <a:xfrm xmlns:a="http://schemas.openxmlformats.org/drawingml/2006/main">
            <a:off x="5334000" y="609600"/>
            <a:ext cx="6400800" cy="20955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a:solidFill>
                  <a:srgbClr val="1E293B"/>
                </a:solidFill>
                <a:latin typeface="Arial"/>
                <a:ea typeface="Arial"/>
                <a:cs typeface="Arial"/>
              </a:defRPr>
            </a:pPr>
            <a:r>
              <a:t>THREE THINGS TO REMEMBER</a:t>
            </a:r>
          </a:p>
        </p:txBody>
      </p:sp>
      <p:sp>
        <p:nvSpPr>
          <p:cNvPr id="8" name="">
            <a:extLst xmlns:a="http://schemas.openxmlformats.org/drawingml/2006/main">
              <a:ext uri="{FF2B5EF4-FFF2-40B4-BE49-F238E27FC236}">
                <a16:creationId xmlns:a16="http://schemas.microsoft.com/office/drawing/2014/main" id="{318B9B65-A31A-4A45-8E11-82C92A893215}"/>
              </a:ext>
            </a:extLst>
          </p:cNvPr>
          <p:cNvSpPr>
            <a:spLocks xmlns:a="http://schemas.openxmlformats.org/drawingml/2006/main" noGrp="1"/>
          </p:cNvSpPr>
          <p:nvPr/>
        </p:nvSpPr>
        <p:spPr>
          <a:xfrm xmlns:a="http://schemas.openxmlformats.org/drawingml/2006/main">
            <a:off x="5334000" y="102870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9" name="">
            <a:extLst xmlns:a="http://schemas.openxmlformats.org/drawingml/2006/main">
              <a:ext uri="{FF2B5EF4-FFF2-40B4-BE49-F238E27FC236}">
                <a16:creationId xmlns:a16="http://schemas.microsoft.com/office/drawing/2014/main" id="{949366DC-1390-42D7-9CDA-C9BA0201ED32}"/>
              </a:ext>
            </a:extLst>
          </p:cNvPr>
          <p:cNvSpPr>
            <a:spLocks xmlns:a="http://schemas.openxmlformats.org/drawingml/2006/main" noGrp="1"/>
          </p:cNvSpPr>
          <p:nvPr/>
        </p:nvSpPr>
        <p:spPr>
          <a:xfrm xmlns:a="http://schemas.openxmlformats.org/drawingml/2006/main">
            <a:off x="5334000" y="102870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330D2F-2AA0-4B59-B40F-53B802C555CD}"/>
              </a:ext>
            </a:extLst>
          </p:cNvPr>
          <p:cNvSpPr>
            <a:spLocks xmlns:a="http://schemas.openxmlformats.org/drawingml/2006/main" noGrp="1"/>
          </p:cNvSpPr>
          <p:nvPr/>
        </p:nvSpPr>
        <p:spPr>
          <a:xfrm xmlns:a="http://schemas.openxmlformats.org/drawingml/2006/main">
            <a:off x="5562600" y="121920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1 · One clock, one reset</a:t>
            </a:r>
          </a:p>
        </p:txBody>
      </p:sp>
      <p:sp>
        <p:nvSpPr>
          <p:cNvPr id="11" name="">
            <a:extLst xmlns:a="http://schemas.openxmlformats.org/drawingml/2006/main">
              <a:ext uri="{FF2B5EF4-FFF2-40B4-BE49-F238E27FC236}">
                <a16:creationId xmlns:a16="http://schemas.microsoft.com/office/drawing/2014/main" id="{53A21063-5288-43D3-B641-1C89413AB370}"/>
              </a:ext>
            </a:extLst>
          </p:cNvPr>
          <p:cNvSpPr>
            <a:spLocks xmlns:a="http://schemas.openxmlformats.org/drawingml/2006/main" noGrp="1"/>
          </p:cNvSpPr>
          <p:nvPr/>
        </p:nvSpPr>
        <p:spPr>
          <a:xfrm xmlns:a="http://schemas.openxmlformats.org/drawingml/2006/main">
            <a:off x="5562600" y="158115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A single 50 MHz domain with eight clock gates and a checker released two cycles after MAIN.</a:t>
            </a:r>
          </a:p>
        </p:txBody>
      </p:sp>
      <p:sp>
        <p:nvSpPr>
          <p:cNvPr id="12" name="">
            <a:extLst xmlns:a="http://schemas.openxmlformats.org/drawingml/2006/main">
              <a:ext uri="{FF2B5EF4-FFF2-40B4-BE49-F238E27FC236}">
                <a16:creationId xmlns:a16="http://schemas.microsoft.com/office/drawing/2014/main" id="{CA3EF5E3-D368-40C5-B66C-510DA46781A2}"/>
              </a:ext>
            </a:extLst>
          </p:cNvPr>
          <p:cNvSpPr>
            <a:spLocks xmlns:a="http://schemas.openxmlformats.org/drawingml/2006/main" noGrp="1"/>
          </p:cNvSpPr>
          <p:nvPr/>
        </p:nvSpPr>
        <p:spPr>
          <a:xfrm xmlns:a="http://schemas.openxmlformats.org/drawingml/2006/main">
            <a:off x="5334000" y="2428875"/>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3" name="">
            <a:extLst xmlns:a="http://schemas.openxmlformats.org/drawingml/2006/main">
              <a:ext uri="{FF2B5EF4-FFF2-40B4-BE49-F238E27FC236}">
                <a16:creationId xmlns:a16="http://schemas.microsoft.com/office/drawing/2014/main" id="{248733A6-F5A7-4436-A47E-3FCC384E84D9}"/>
              </a:ext>
            </a:extLst>
          </p:cNvPr>
          <p:cNvSpPr>
            <a:spLocks xmlns:a="http://schemas.openxmlformats.org/drawingml/2006/main" noGrp="1"/>
          </p:cNvSpPr>
          <p:nvPr/>
        </p:nvSpPr>
        <p:spPr>
          <a:xfrm xmlns:a="http://schemas.openxmlformats.org/drawingml/2006/main">
            <a:off x="5334000" y="2428875"/>
            <a:ext cx="57150" cy="1247775"/>
          </a:xfrm>
          <a:prstGeom xmlns:a="http://schemas.openxmlformats.org/drawingml/2006/main" prst="rect">
            <a:avLst/>
          </a:prstGeom>
          <a:solidFill xmlns:a="http://schemas.openxmlformats.org/drawingml/2006/main">
            <a:srgbClr val="0A939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7F2A98C-EE6E-45CC-B438-4473CFF49AC3}"/>
              </a:ext>
            </a:extLst>
          </p:cNvPr>
          <p:cNvSpPr>
            <a:spLocks xmlns:a="http://schemas.openxmlformats.org/drawingml/2006/main" noGrp="1"/>
          </p:cNvSpPr>
          <p:nvPr/>
        </p:nvSpPr>
        <p:spPr>
          <a:xfrm xmlns:a="http://schemas.openxmlformats.org/drawingml/2006/main">
            <a:off x="5562600" y="2619375"/>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2 · Nothing hangs, nothing floats</a:t>
            </a:r>
          </a:p>
        </p:txBody>
      </p:sp>
      <p:sp>
        <p:nvSpPr>
          <p:cNvPr id="15" name="">
            <a:extLst xmlns:a="http://schemas.openxmlformats.org/drawingml/2006/main">
              <a:ext uri="{FF2B5EF4-FFF2-40B4-BE49-F238E27FC236}">
                <a16:creationId xmlns:a16="http://schemas.microsoft.com/office/drawing/2014/main" id="{453023D7-C9BF-43E9-9216-FE6B23379226}"/>
              </a:ext>
            </a:extLst>
          </p:cNvPr>
          <p:cNvSpPr>
            <a:spLocks xmlns:a="http://schemas.openxmlformats.org/drawingml/2006/main" noGrp="1"/>
          </p:cNvSpPr>
          <p:nvPr/>
        </p:nvSpPr>
        <p:spPr>
          <a:xfrm xmlns:a="http://schemas.openxmlformats.org/drawingml/2006/main">
            <a:off x="5562600" y="2981325"/>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Gated or undecoded slots answer with an error, and all 44 pads are allocated.</a:t>
            </a:r>
          </a:p>
        </p:txBody>
      </p:sp>
      <p:sp>
        <p:nvSpPr>
          <p:cNvPr id="16" name="">
            <a:extLst xmlns:a="http://schemas.openxmlformats.org/drawingml/2006/main">
              <a:ext uri="{FF2B5EF4-FFF2-40B4-BE49-F238E27FC236}">
                <a16:creationId xmlns:a16="http://schemas.microsoft.com/office/drawing/2014/main" id="{1C869AE2-68EA-49C1-8B6E-B57792EABE11}"/>
              </a:ext>
            </a:extLst>
          </p:cNvPr>
          <p:cNvSpPr>
            <a:spLocks xmlns:a="http://schemas.openxmlformats.org/drawingml/2006/main" noGrp="1"/>
          </p:cNvSpPr>
          <p:nvPr/>
        </p:nvSpPr>
        <p:spPr>
          <a:xfrm xmlns:a="http://schemas.openxmlformats.org/drawingml/2006/main">
            <a:off x="5334000" y="3829050"/>
            <a:ext cx="6400800" cy="1247775"/>
          </a:xfrm>
          <a:prstGeom xmlns:a="http://schemas.openxmlformats.org/drawingml/2006/main" prst="roundRect">
            <a:avLst>
              <a:gd name="adj" fmla="val 6107"/>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5820C644-FC39-45FB-A688-5D883C5501E6}"/>
              </a:ext>
            </a:extLst>
          </p:cNvPr>
          <p:cNvSpPr>
            <a:spLocks xmlns:a="http://schemas.openxmlformats.org/drawingml/2006/main" noGrp="1"/>
          </p:cNvSpPr>
          <p:nvPr/>
        </p:nvSpPr>
        <p:spPr>
          <a:xfrm xmlns:a="http://schemas.openxmlformats.org/drawingml/2006/main">
            <a:off x="5334000" y="3829050"/>
            <a:ext cx="57150" cy="1247775"/>
          </a:xfrm>
          <a:prstGeom xmlns:a="http://schemas.openxmlformats.org/drawingml/2006/main" prst="rect">
            <a:avLst/>
          </a:prstGeom>
          <a:solidFill xmlns:a="http://schemas.openxmlformats.org/drawingml/2006/main">
            <a:srgbClr val="00B4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22F056-AACD-4063-83C2-E0471F3A17E9}"/>
              </a:ext>
            </a:extLst>
          </p:cNvPr>
          <p:cNvSpPr>
            <a:spLocks xmlns:a="http://schemas.openxmlformats.org/drawingml/2006/main" noGrp="1"/>
          </p:cNvSpPr>
          <p:nvPr/>
        </p:nvSpPr>
        <p:spPr>
          <a:xfrm xmlns:a="http://schemas.openxmlformats.org/drawingml/2006/main">
            <a:off x="5562600" y="4019550"/>
            <a:ext cx="5981700" cy="2667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E293B"/>
                </a:solidFill>
                <a:latin typeface="Arial"/>
                <a:ea typeface="Arial"/>
                <a:cs typeface="Arial"/>
              </a:defRPr>
            </a:pPr>
            <a:r>
              <a:t>3 · Four gates before tape-in</a:t>
            </a:r>
          </a:p>
        </p:txBody>
      </p:sp>
      <p:sp>
        <p:nvSpPr>
          <p:cNvPr id="19" name="">
            <a:extLst xmlns:a="http://schemas.openxmlformats.org/drawingml/2006/main">
              <a:ext uri="{FF2B5EF4-FFF2-40B4-BE49-F238E27FC236}">
                <a16:creationId xmlns:a16="http://schemas.microsoft.com/office/drawing/2014/main" id="{64F41F9F-A6FA-45A8-B2F3-2C02D1719824}"/>
              </a:ext>
            </a:extLst>
          </p:cNvPr>
          <p:cNvSpPr>
            <a:spLocks xmlns:a="http://schemas.openxmlformats.org/drawingml/2006/main" noGrp="1"/>
          </p:cNvSpPr>
          <p:nvPr/>
        </p:nvSpPr>
        <p:spPr>
          <a:xfrm xmlns:a="http://schemas.openxmlformats.org/drawingml/2006/main">
            <a:off x="5562600" y="4381500"/>
            <a:ext cx="5943600" cy="561975"/>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a:solidFill>
                  <a:srgbClr val="6B7280"/>
                </a:solidFill>
                <a:latin typeface="Arial"/>
                <a:ea typeface="Arial"/>
                <a:cs typeface="Arial"/>
              </a:defRPr>
            </a:pPr>
            <a:r>
              <a:t>DRC, LVS, pin connectivity and a gate-level boot simulation must all pass.</a:t>
            </a:r>
          </a:p>
        </p:txBody>
      </p:sp>
      <p:sp>
        <p:nvSpPr>
          <p:cNvPr id="20" name="">
            <a:extLst xmlns:a="http://schemas.openxmlformats.org/drawingml/2006/main">
              <a:ext uri="{FF2B5EF4-FFF2-40B4-BE49-F238E27FC236}">
                <a16:creationId xmlns:a16="http://schemas.microsoft.com/office/drawing/2014/main" id="{3F13AF5C-E759-4D26-8BDF-CD039A476AC1}"/>
              </a:ext>
            </a:extLst>
          </p:cNvPr>
          <p:cNvSpPr>
            <a:spLocks xmlns:a="http://schemas.openxmlformats.org/drawingml/2006/main" noGrp="1"/>
          </p:cNvSpPr>
          <p:nvPr/>
        </p:nvSpPr>
        <p:spPr>
          <a:xfrm xmlns:a="http://schemas.openxmlformats.org/drawingml/2006/main">
            <a:off x="457200" y="6486525"/>
            <a:ext cx="4000500" cy="9525"/>
          </a:xfrm>
          <a:prstGeom xmlns:a="http://schemas.openxmlformats.org/drawingml/2006/main" prst="rect">
            <a:avLst/>
          </a:prstGeom>
          <a:solidFill xmlns:a="http://schemas.openxmlformats.org/drawingml/2006/main">
            <a:srgbClr val="23364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4D5B5E5-AE73-4A5A-8C77-C72AD94484A6}"/>
              </a:ext>
            </a:extLst>
          </p:cNvPr>
          <p:cNvSpPr>
            <a:spLocks xmlns:a="http://schemas.openxmlformats.org/drawingml/2006/main" noGrp="1"/>
          </p:cNvSpPr>
          <p:nvPr/>
        </p:nvSpPr>
        <p:spPr>
          <a:xfrm xmlns:a="http://schemas.openxmlformats.org/drawingml/2006/main">
            <a:off x="5334000" y="6486525"/>
            <a:ext cx="6400800" cy="9525"/>
          </a:xfrm>
          <a:prstGeom xmlns:a="http://schemas.openxmlformats.org/drawingml/2006/main" prst="rect">
            <a:avLst/>
          </a:prstGeom>
          <a:solidFill xmlns:a="http://schemas.openxmlformats.org/drawingml/2006/main">
            <a:srgbClr val="E2E8F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8AA62ED-A891-4712-81A3-ED632D234D1C}"/>
              </a:ext>
            </a:extLst>
          </p:cNvPr>
          <p:cNvSpPr>
            <a:spLocks xmlns:a="http://schemas.openxmlformats.org/drawingml/2006/main" noGrp="1"/>
          </p:cNvSpPr>
          <p:nvPr/>
        </p:nvSpPr>
        <p:spPr>
          <a:xfrm xmlns:a="http://schemas.openxmlformats.org/drawingml/2006/main">
            <a:off x="457200" y="6572250"/>
            <a:ext cx="41910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825" b="1">
                <a:solidFill>
                  <a:srgbClr val="8FA2B7"/>
                </a:solidFill>
                <a:latin typeface="Arial"/>
                <a:ea typeface="Arial"/>
                <a:cs typeface="Arial"/>
              </a:defRPr>
            </a:pPr>
            <a:r>
              <a:t>DEEPGRID SEMI  ·  DG32-LITE TAPE-IN BLOCK DIAGRAM</a:t>
            </a:r>
          </a:p>
        </p:txBody>
      </p:sp>
      <p:sp>
        <p:nvSpPr>
          <p:cNvPr id="23" name="">
            <a:extLst xmlns:a="http://schemas.openxmlformats.org/drawingml/2006/main">
              <a:ext uri="{FF2B5EF4-FFF2-40B4-BE49-F238E27FC236}">
                <a16:creationId xmlns:a16="http://schemas.microsoft.com/office/drawing/2014/main" id="{E00DAB72-3C7F-40C5-8F20-FE7A7A5601A7}"/>
              </a:ext>
            </a:extLst>
          </p:cNvPr>
          <p:cNvSpPr>
            <a:spLocks xmlns:a="http://schemas.openxmlformats.org/drawingml/2006/main" noGrp="1"/>
          </p:cNvSpPr>
          <p:nvPr/>
        </p:nvSpPr>
        <p:spPr>
          <a:xfrm xmlns:a="http://schemas.openxmlformats.org/drawingml/2006/main">
            <a:off x="11049000" y="6572250"/>
            <a:ext cx="685800" cy="190500"/>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825" b="1">
                <a:solidFill>
                  <a:srgbClr val="6B7280"/>
                </a:solidFill>
                <a:latin typeface="Arial"/>
                <a:ea typeface="Arial"/>
                <a:cs typeface="Arial"/>
              </a:defRPr>
            </a:pPr>
            <a:r>
              <a:t>11</a:t>
            </a:r>
          </a:p>
        </p:txBody>
      </p:sp>
    </p:spTree>
    <p:extLst>
      <p:ext uri="{BB962C8B-B14F-4D97-AF65-F5344CB8AC3E}">
        <p14:creationId xmlns:p14="http://schemas.microsoft.com/office/powerpoint/2010/main" val="11000827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2026-09-13T12:26:39.5460000Z</dcterms:created>
  <dcterms:modified xsi:type="dcterms:W3CDTF">2026-09-13T12:26:39.5470000Z</dcterms:modified>
</coreProperties>
</file>