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f59905e2f84246" /><Relationship Type="http://schemas.openxmlformats.org/officeDocument/2006/relationships/extended-properties" Target="/docProps/app.xml" Id="R2b28cb7748b04e1d" /><Relationship Type="http://schemas.openxmlformats.org/officeDocument/2006/relationships/officeDocument" Target="/ppt/presentation.xml" Id="R4592271dda4344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ba064c5a6b41fc"/>
  </p:sldMasterIdLst>
  <p:notesMasterIdLst>
    <p:notesMasterId xmlns:r="http://schemas.openxmlformats.org/officeDocument/2006/relationships" r:id="R72d8ea62fb68470a"/>
  </p:notesMasterIdLst>
  <p:sldIdLst>
    <p:sldId xmlns:r="http://schemas.openxmlformats.org/officeDocument/2006/relationships" id="256" r:id="R66ae8254172344d6"/>
    <p:sldId xmlns:r="http://schemas.openxmlformats.org/officeDocument/2006/relationships" id="257" r:id="R69e8d9db436d441f"/>
    <p:sldId xmlns:r="http://schemas.openxmlformats.org/officeDocument/2006/relationships" id="258" r:id="Rd920f3edcac54a65"/>
    <p:sldId xmlns:r="http://schemas.openxmlformats.org/officeDocument/2006/relationships" id="259" r:id="Rb5542e61d6ca4dd7"/>
    <p:sldId xmlns:r="http://schemas.openxmlformats.org/officeDocument/2006/relationships" id="260" r:id="R45b442d05a2143d5"/>
    <p:sldId xmlns:r="http://schemas.openxmlformats.org/officeDocument/2006/relationships" id="261" r:id="R973ecd57d3924f9d"/>
    <p:sldId xmlns:r="http://schemas.openxmlformats.org/officeDocument/2006/relationships" id="262" r:id="R87f4ba92047b432a"/>
    <p:sldId xmlns:r="http://schemas.openxmlformats.org/officeDocument/2006/relationships" id="263" r:id="R6224935d67654aa9"/>
    <p:sldId xmlns:r="http://schemas.openxmlformats.org/officeDocument/2006/relationships" id="264" r:id="R6f3177094b5640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464cc5b3cb4ace" /><Relationship Type="http://schemas.openxmlformats.org/officeDocument/2006/relationships/slideMaster" Target="/ppt/slideMasters/slideMaster1.xml" Id="Rd4ba064c5a6b41fc" /><Relationship Type="http://schemas.openxmlformats.org/officeDocument/2006/relationships/notesMaster" Target="/ppt/notesMasters/notesMaster1.xml" Id="R72d8ea62fb68470a" /><Relationship Type="http://schemas.openxmlformats.org/officeDocument/2006/relationships/presProps" Target="/ppt/presProps.xml" Id="Rb7857a272d244eb9" /><Relationship Type="http://schemas.openxmlformats.org/officeDocument/2006/relationships/tableStyles" Target="/ppt/tableStyles.xml" Id="R179733c256d34fc2" /><Relationship Type="http://schemas.openxmlformats.org/officeDocument/2006/relationships/slide" Target="/ppt/slides/slide1.xml" Id="R66ae8254172344d6" /><Relationship Type="http://schemas.openxmlformats.org/officeDocument/2006/relationships/slide" Target="/ppt/slides/slide2.xml" Id="R69e8d9db436d441f" /><Relationship Type="http://schemas.openxmlformats.org/officeDocument/2006/relationships/slide" Target="/ppt/slides/slide3.xml" Id="Rd920f3edcac54a65" /><Relationship Type="http://schemas.openxmlformats.org/officeDocument/2006/relationships/slide" Target="/ppt/slides/slide4.xml" Id="Rb5542e61d6ca4dd7" /><Relationship Type="http://schemas.openxmlformats.org/officeDocument/2006/relationships/slide" Target="/ppt/slides/slide5.xml" Id="R45b442d05a2143d5" /><Relationship Type="http://schemas.openxmlformats.org/officeDocument/2006/relationships/slide" Target="/ppt/slides/slide6.xml" Id="R973ecd57d3924f9d" /><Relationship Type="http://schemas.openxmlformats.org/officeDocument/2006/relationships/slide" Target="/ppt/slides/slide7.xml" Id="R87f4ba92047b432a" /><Relationship Type="http://schemas.openxmlformats.org/officeDocument/2006/relationships/slide" Target="/ppt/slides/slide8.xml" Id="R6224935d67654aa9" /><Relationship Type="http://schemas.openxmlformats.org/officeDocument/2006/relationships/slide" Target="/ppt/slides/slide9.xml" Id="R6f3177094b5640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9b66764c2f40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b2da3b5be3445f" /><Relationship Type="http://schemas.openxmlformats.org/officeDocument/2006/relationships/notesMaster" Target="/ppt/notesMasters/notesMaster1.xml" Id="Rdb068869909f47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34b974f1084278" /><Relationship Type="http://schemas.openxmlformats.org/officeDocument/2006/relationships/notesMaster" Target="/ppt/notesMasters/notesMaster1.xml" Id="R0fcca0aa3d684a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81f79ae2404920" /><Relationship Type="http://schemas.openxmlformats.org/officeDocument/2006/relationships/notesMaster" Target="/ppt/notesMasters/notesMaster1.xml" Id="Ra26e8d29170a44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32dd90e50e411b" /><Relationship Type="http://schemas.openxmlformats.org/officeDocument/2006/relationships/notesMaster" Target="/ppt/notesMasters/notesMaster1.xml" Id="R088a86bfe9d643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ad0806cd23431e" /><Relationship Type="http://schemas.openxmlformats.org/officeDocument/2006/relationships/notesMaster" Target="/ppt/notesMasters/notesMaster1.xml" Id="Rff006255e4524b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1bd7ed6e074987" /><Relationship Type="http://schemas.openxmlformats.org/officeDocument/2006/relationships/notesMaster" Target="/ppt/notesMasters/notesMaster1.xml" Id="Ra21ee0cac1d842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a40d48a9f746c1" /><Relationship Type="http://schemas.openxmlformats.org/officeDocument/2006/relationships/notesMaster" Target="/ppt/notesMasters/notesMaster1.xml" Id="Rd41a589acd324e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c8aa572f1e4824" /><Relationship Type="http://schemas.openxmlformats.org/officeDocument/2006/relationships/notesMaster" Target="/ppt/notesMasters/notesMaster1.xml" Id="R3e65e678686d46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43cb5efa214223" /><Relationship Type="http://schemas.openxmlformats.org/officeDocument/2006/relationships/notesMaster" Target="/ppt/notesMasters/notesMaster1.xml" Id="Rafa7615d4f7845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DG32-2DOM is the attention variant of DG32-LITE, and its preliminary datasheet reads like DG32-LITE's with one addition: an INT8 attention engine on its own clock. This deck covers what the datasheet adds, and confirms what it leaves unchanged. Every figure is a design value, a process nominal or an analytic estimate, and each is labelled.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Here is the short version. The same sixty-four pins and forty-four signals. The same one point eight and three point three volt rails. One added clock: the engine runs at one hundred fourteen megahertz, beside the fifty megahertz control domain. For a board, DG32-2DOM is a drop-in DG32-LITE. For firmware, it adds one memory-mapped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datasheet lists five new features. An attention accelerator that computes a band of query rows in one kick, bit-exact to the golden model. A shared datapath with a weight table and a forty-bit numerator. A cost of about thirty-two hundred cycles per row, by analysis. A second clock domain. And a larger die of its 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Everything else is unchanged. The package, the pin groups, the rails and their limits, and the boot flow are identical to DG32-LITE, because the engine is internal and adds no pads. The datasheet repeats the same zero point four three watt estimate at fifty megahertz, and it does not yet state a separate figure for the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engine runs on a second clock, at one hundred fourteen megahertz. The CPU, the bus and the peripherals stay at fifty, so the control core's timing is untouched. The engine reaches memory through two-flop clock bridges, so it never stalls the control core. Timing closes with positive slack at both clocks, on a die of three point four by four point five millimetres.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Firmware drives the engine in four steps. Tell it where the query, key, value and output buffers live. Set the geometry: rows, keys, and the key and value sizes. Set start, optionally reusing the buffers already loaded. Then poll for done, or take the engine's interrupt. The engine also reports a rejected geometry or an arithmetic overflow.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Its limits are fixed in the silicon. Up to sixty-five thousand five hundred thirty-five query rows per kick, and up to four hundred keys per head. Key vectors up to thirty-two bytes, and value vectors up to sixty-four. Sixteen multiply lanes, a two-hundred-fifty-six entry weight table, and a forty-bit numerator that stays exact to one hundred thirty-one thousand keys.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board, nothing changes. The footprint, the pin map, the supplies and their sequencing, and the boot flash and console are the same as DG32-LITE. The engine adds no board signals at all. The chip's status is design complete, and in physical trials.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things to take away. The board is a DG32-LITE board. The engine is one memory-mapped block on its own clock that cannot stall control. And its limits are already fixed: four hundred keys, sixty-four-byte values, and about thirty-two hundred cycles per row. First silicon turns these design values into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bc50cdf5c42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8ae745f5d847a1" /><Relationship Type="http://schemas.openxmlformats.org/officeDocument/2006/relationships/slideLayout" Target="/ppt/slideLayouts/slideLayout1.xml" Id="Rbd1d56187a0e4a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1d56187a0e4a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b851e136a4707" /><Relationship Type="http://schemas.openxmlformats.org/officeDocument/2006/relationships/notesSlide" Target="/ppt/notesSlides/notesSlide1.xml" Id="R2b4096d4374f43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29f13ecc24d89" /><Relationship Type="http://schemas.openxmlformats.org/officeDocument/2006/relationships/notesSlide" Target="/ppt/notesSlides/notesSlide2.xml" Id="R274115c6180146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3bf0be562437b" /><Relationship Type="http://schemas.openxmlformats.org/officeDocument/2006/relationships/notesSlide" Target="/ppt/notesSlides/notesSlide3.xml" Id="R5a0b331d670249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de5fa7de54cf7" /><Relationship Type="http://schemas.openxmlformats.org/officeDocument/2006/relationships/notesSlide" Target="/ppt/notesSlides/notesSlide4.xml" Id="Ra185511e4e7543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f3c9f691241d8" /><Relationship Type="http://schemas.openxmlformats.org/officeDocument/2006/relationships/notesSlide" Target="/ppt/notesSlides/notesSlide5.xml" Id="R3b41944c9a4044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8b6e9334f4477" /><Relationship Type="http://schemas.openxmlformats.org/officeDocument/2006/relationships/notesSlide" Target="/ppt/notesSlides/notesSlide6.xml" Id="R9289f15da80c40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fb8b2145c4083" /><Relationship Type="http://schemas.openxmlformats.org/officeDocument/2006/relationships/notesSlide" Target="/ppt/notesSlides/notesSlide7.xml" Id="R345a638e42af4e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1dd333e3a4f63" /><Relationship Type="http://schemas.openxmlformats.org/officeDocument/2006/relationships/notesSlide" Target="/ppt/notesSlides/notesSlide8.xml" Id="Rff09118d20c847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820bcfd4f43d8" /><Relationship Type="http://schemas.openxmlformats.org/officeDocument/2006/relationships/notesSlide" Target="/ppt/notesSlides/notesSlide9.xml" Id="R2293be535f734e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65D4F92-E85A-43EE-84FF-2B12A3B0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18714-DF09-4D48-8E58-CBDDC5BA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DEEPGRID SEMI  ·  DG32-2DOM  ·  PRELIMINARY DATASHEET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76A1D-E619-444C-ABCE-4FC2F7A2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7239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DG32-2DOM: DG32-LITE plus one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FEF46-8DCC-4D40-BF4C-F6987C36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225A0-E64C-46BB-BF46-8FE8754B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6667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What the DG32-2DOM preliminary datasheet adds and what it leaves unchanged · design values, process nominals and analytic estimates, each labelled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E1F7E-5AAB-459B-8EDD-C04F8839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23950"/>
            <a:ext cx="3048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CA40E-85D2-442E-80A2-A9A90752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30492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3C046-44A6-4A9C-9C08-E298A031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30492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33F61-7BA2-4E09-8136-589A99A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3D5EE-EFE8-4AAD-BB04-C0B3A721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E9F52-C938-4893-A212-B1D3422C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7764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EFE24-E71E-4944-B235-3E3D5ED3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47764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FD358-3696-49DE-9D6C-D2E40F75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94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AAFFE-40D2-407C-919C-ED1657EF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94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205DC-9AE1-416C-88A6-D99EFA2F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5036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55FEA-ADFA-49F5-BC10-8B6D142E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65036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5402B-59CD-4EE0-99DB-AE39E3D4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66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84627-11D6-418F-A573-CA862B96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66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177F3-7CFC-43FB-9AF4-03BE8962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2308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115B30-024E-42AC-95A0-F05C0269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82308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13201-4953-4042-8CD1-2018CE65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38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C186E-3AA1-4019-982C-BB2E7A75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38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4239BC-8020-4AC4-9862-3EE47FE0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9580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A9FB8-3A63-4AFD-B8F2-25358527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99580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D6E1E5-F441-4A10-8CFF-86EA59EF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10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D82488-67B7-4F75-A470-A9193749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10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06C4C5-FFE6-4A0E-B0B9-4D39A022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6852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0B9DDB-7297-4999-BF37-6689108E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16852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0B3251-15FF-4CDD-8AD9-E9631DD5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82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DBE86-4A41-47C3-ADE5-60F1A144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82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DB2BDA-F3CE-4E19-B2C0-AB9E4B9D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124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8C411F-974F-4A0B-9B4C-0AA77C6F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34124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1A861C-B55F-4471-AA44-707D85E7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54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21F7A7-6966-471F-A1DA-5DC1D32C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54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485050-729A-4FE6-841C-2B76EF9A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396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A331FA-B4B2-403C-8155-4007E6C3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51396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816CF7-9D9A-4DBF-9524-D9216B53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26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55465D-9F36-425A-BCB6-3DAB9068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26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1886DE-FC10-4503-8C74-C5203DAB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68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B7A00F-8829-496B-BC42-1FD1C3F1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8668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DFF120-B14F-46F8-BEAC-E6A8F3BB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98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C0C2D7-D4DC-4F89-8634-4B486FFF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98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F3CA28-B2AB-472B-802E-F15395B1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940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C1C32A-45D8-4514-854C-9560CF7C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940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8D542E-CA9C-43F9-AB42-ED616304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70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B5AAC1-3F93-48AF-855E-C8FBC5DD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70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DB17D0-348F-498B-9064-4F6887B7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3212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8B1A2D-3D58-4FA8-AB38-EFEF52A4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03212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E815D4-FCCA-48B7-BF97-F55DA00A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2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D2FC7D-7D59-4362-A019-DBA4A46C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2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E269B3-F22F-4692-96CF-456A4EEC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0484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62DB35-6764-4DA5-B7B8-0ADFAE10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0484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546558-F76B-4B77-AFE3-CF2ED9E9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14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47F456-67C5-46AC-9889-0727235E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14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C954A7-821D-4409-BFF1-3ECB65ED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7756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B0C006-FA43-4E9D-A796-6FBD6BBD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37756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85A3D8-0AA3-4B0A-8884-608E5216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986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B07127-20DE-4B18-826C-771A5B30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986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3B0625-42CA-4F24-91EF-BF6D7929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5028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A7DE3A-09C8-471A-A9EF-FC85B1D0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55028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A4AF54-A46A-4086-9774-7B5C8AE6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58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60D92CE-9CA8-474D-8437-39084CB5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58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1283B62-32FF-4791-8B09-71A808C1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2300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F023908-C5B2-4896-BD94-DA7AEACF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72300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8A5764C-03F2-418D-9F42-3A6AB6F8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30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F374CD8-E8C9-420A-8A23-A00E02F2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30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0403E70-B576-4F6A-A63A-612BAD6B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9572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337416-F990-4CF6-BB89-BCE0D422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9572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120B60B-F163-4B83-99C5-AA806754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971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7ABD899-B7F1-4966-BB26-FAD33867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1910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9A0893-5F82-4F21-B046-B17834FA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14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F42053-F1F8-488A-B85C-C5E760FD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90700"/>
            <a:ext cx="2057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5"/>
          </a:solidFill>
          <a:ln xmlns:a="http://schemas.openxmlformats.org/drawingml/2006/main" w="9525">
            <a:solidFill>
              <a:srgbClr val="8DB4D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F658D0A-8DD4-423A-96CF-10BB45AA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85950"/>
            <a:ext cx="838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6B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5675F32-52CD-425B-8B3E-5E717FFE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85950"/>
            <a:ext cx="838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52"/>
          </a:solidFill>
          <a:ln xmlns:a="http://schemas.openxmlformats.org/drawingml/2006/main" w="9525">
            <a:solidFill>
              <a:srgbClr val="0A939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17CC42F-29AF-4893-9452-85BEBE57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717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CE54B7E-66D5-42F4-A2F9-A3D34F09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527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7A7FD56-171D-4125-8DDD-2B24ED00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337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89B5CB2-6E1A-4B57-BB64-D5B4C836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1930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2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54552AA-55EF-434F-94F8-C8D7E2AE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57450"/>
            <a:ext cx="609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C8F054D-6A04-4F14-956D-A54569C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1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A89A527-77B6-49C0-AFF1-1A2E3714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1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114C501-966D-4A2D-87C9-9E11E4E4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50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234FFB5-FC2B-47E3-B609-D2D6529E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050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CF7FC4-2F7E-408C-AEE7-65A06963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908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DAFD804-1CCB-495E-98EA-3B708C66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908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6CF4F79-25E5-4952-93EB-945271F9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765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B66B0C7-C40B-4EED-9803-B19A1257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765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7753B4A-2EE1-4E68-8D9C-45C28570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TWO CLOCK DOMAINS  ·  ILLUSTRATIVE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E4F1387-9314-413C-A875-DE0406FB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DBEE17C-EDA6-42AF-9335-8EE7E5BE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2514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B4D8"/>
                </a:solidFill>
                <a:latin typeface="Georgia"/>
                <a:ea typeface="Georgia"/>
                <a:cs typeface="Georgia"/>
              </a:defRPr>
            </a:pPr>
            <a:r>
              <a:t>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0E459F3-D732-4BAA-AF7F-8C5ABDCB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2514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PADS ADDED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AC38EB6-E551-49FE-BF79-E49EB494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5300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85DD5A7-093F-428C-B58B-DFEBB9B8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53000"/>
            <a:ext cx="2514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B4D8"/>
                </a:solidFill>
                <a:latin typeface="Georgia"/>
                <a:ea typeface="Georgia"/>
                <a:cs typeface="Georgia"/>
              </a:defRPr>
            </a:pPr>
            <a:r>
              <a:t>114 MHz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2DA8C73-CF99-45B6-AB9C-045E543A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505450"/>
            <a:ext cx="2514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ENGINE CLOCK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F672EBE-EDD4-45B8-8C23-B2BED06B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796A616-B09B-4B6E-B4EE-A60534ED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2514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B4D8"/>
                </a:solidFill>
                <a:latin typeface="Georgia"/>
                <a:ea typeface="Georgia"/>
                <a:cs typeface="Georgia"/>
              </a:defRPr>
            </a:pPr>
            <a:r>
              <a:t>400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894DC39-EB2C-49F3-B5DB-836B0A1E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05450"/>
            <a:ext cx="2514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KEYS PER HEAD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E37A8D4-9001-4E6B-8DFB-D0B6102C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5300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E3B589C-CFC3-467F-825B-51B74829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2514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B4D8"/>
                </a:solidFill>
                <a:latin typeface="Georgia"/>
                <a:ea typeface="Georgia"/>
                <a:cs typeface="Georgia"/>
              </a:defRPr>
            </a:pPr>
            <a:r>
              <a:t>QFN-64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621531A-5B2B-4A6E-AB60-606CE7AB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05450"/>
            <a:ext cx="2514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SAME PACKAGE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44F5A61-FBA1-49F4-8169-287217DB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47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i="1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Preliminary, pre-silicon. Register offsets, the memory map and board-design rules are in the engineering datasheet, not this deck.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726DC9B-68E1-438B-85E7-91912F9F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59B8987-C6AA-410E-8896-F89635AE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62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t>DEEPGRID SEMI  ·  DG32-2DOM PRELIMINARY DATASHEET  ·  SEPTEMBER 2026  ·  PRE-SILICON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5271649-7277-4FCA-B628-A0547C04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70657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434ED8-F7C4-484D-8F6A-602772FB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ED43D-4A39-42B7-855D-1DEEAF6E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7A3"/>
                </a:solidFill>
                <a:latin typeface="Arial"/>
                <a:ea typeface="Arial"/>
                <a:cs typeface="Arial"/>
              </a:defRPr>
            </a:pPr>
            <a:r>
              <a:t>02 · 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349E4-9C95-4572-B9C4-A960ADB9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04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Same pins, same rails, one added clock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5AA81-2697-4B0F-8A83-52CE607E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85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DG32-2DOM against DG32-LITE, in the four numbers a design checks 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52E8E-6E7D-4EE5-B6C3-8B629057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C9222-9EA3-4242-9B53-65273C50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77C47-E5A1-498C-AD99-5214A6BB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62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DG32-2DOM PRELIMINARY DATASHEET  ·  SEPTEMBER 2026  ·  PRE-SILICON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80FAE-5981-4946-8A46-0BB2AB02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C489D-5604-430B-8978-052A1E90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647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EF6A8-EA02-48A2-9DAF-57FA0551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241935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77A3"/>
                </a:solidFill>
                <a:latin typeface="Georgia"/>
                <a:ea typeface="Georgia"/>
                <a:cs typeface="Georgia"/>
              </a:defRPr>
            </a:pPr>
            <a:r>
              <a:t>64 / 44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B87A3-63CF-4617-A651-FFAE03F8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76475"/>
            <a:ext cx="2419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PINS /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37AC5-9D77-4BA4-A34C-1B1C7EF2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23812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Identical to DG32-LITE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78629-6080-4238-8104-3F24C479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647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DCA52-1DCB-465D-A1B2-EC401645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90700"/>
            <a:ext cx="241935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7686A"/>
                </a:solidFill>
                <a:latin typeface="Georgia"/>
                <a:ea typeface="Georgia"/>
                <a:cs typeface="Georgia"/>
              </a:defRPr>
            </a:pPr>
            <a:r>
              <a:t>1.8 / 3.3 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BEC9F-158C-472A-832A-14EC774F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76475"/>
            <a:ext cx="2419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CORE / I/O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26642-D141-43F9-86D4-BAA6F143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24125"/>
            <a:ext cx="23812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Identical rails and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23591-F9A2-4335-9501-D928C12F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647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23DDC-B327-4397-B588-F67AAAA6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241935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7686A"/>
                </a:solidFill>
                <a:latin typeface="Georgia"/>
                <a:ea typeface="Georgia"/>
                <a:cs typeface="Georgia"/>
              </a:defRPr>
            </a:pPr>
            <a:r>
              <a:t>50 + 114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55D68-A525-4E47-8BCF-B8764C1E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76475"/>
            <a:ext cx="2419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MHZ CLOCKS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20E5C-9A88-4BB4-A1D7-37F4ACA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23812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CPU domain + engine 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F3954-5054-417B-AD4B-62F2046C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38300"/>
            <a:ext cx="2647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F020E-DD86-455C-B6E7-03325BEF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90700"/>
            <a:ext cx="241935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7686A"/>
                </a:solidFill>
                <a:latin typeface="Georgia"/>
                <a:ea typeface="Georgia"/>
                <a:cs typeface="Georgia"/>
              </a:defRPr>
            </a:pPr>
            <a:r>
              <a:t>~3,242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D2344-3576-48DF-8018-C96FB1BE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76475"/>
            <a:ext cx="2419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CYCLES PER 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270BEA-EA3B-4A3D-89D4-3F120711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24125"/>
            <a:ext cx="23812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Analytic, at 16 lanes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B4CB6-2BB1-4986-9503-0E60ECA3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358140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105B54-EF49-4D9C-B4B6-53B72ACA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571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8CD087-079F-4045-AADA-36914E7C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3162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668F36-C480-4BE7-B086-771891DB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12420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Identical footprint, pin map, rails and boot flash.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876328-62A5-464B-9297-7E3A2EDE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81550"/>
            <a:ext cx="358140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9ED984-A984-4174-946C-C37C2B5A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81550"/>
            <a:ext cx="571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C00489-884B-43A2-B96A-7DA8B379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72050"/>
            <a:ext cx="3162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Firmware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490819-D1E9-4899-A84C-4C0BA073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34000"/>
            <a:ext cx="312420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One memory-mapped engine, programmed in four steps.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0C598D-A337-4940-8CD1-60AB9146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81550"/>
            <a:ext cx="358140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A00A4F-90BB-4593-932D-96EE20BA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81550"/>
            <a:ext cx="571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4B5222-BE3C-49FD-86BD-8686EDAE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72050"/>
            <a:ext cx="3162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Limits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0AAB8A-BE8D-4BB1-8F7C-808ED1D9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34000"/>
            <a:ext cx="312420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400 keys, 64-byte values, ~3,242 cycles per row.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F86912-7705-4B60-B707-0F9A5280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11277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F72672-457C-4094-B4B8-7D90557F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508CCC-3072-4B01-94D5-EB69904B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668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For a board, DG32-2DOM is a drop-in DG32-LITE. For firmware, it adds one memory-mapped engine that runs on its own clock and never stalls the control core.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3FD764-1E7F-4C39-8FE5-F25B679B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047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Source: DG32-2DOM preliminary datasheet §1, §2, §4, §6.1.</a:t>
            </a:r>
          </a:p>
        </p:txBody>
      </p:sp>
    </p:spTree>
    <p:extLst>
      <p:ext uri="{BB962C8B-B14F-4D97-AF65-F5344CB8AC3E}">
        <p14:creationId xmlns:p14="http://schemas.microsoft.com/office/powerpoint/2010/main" val="5943927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176C6F-661B-4BC3-A17A-E0C49594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C1EBD-8D4F-45D4-A71E-FE5F4725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7A3"/>
                </a:solidFill>
                <a:latin typeface="Arial"/>
                <a:ea typeface="Arial"/>
                <a:cs typeface="Arial"/>
              </a:defRPr>
            </a:pPr>
            <a:r>
              <a:t>03 · WHAT IS NEW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86440-D7BA-4BFB-9879-51F50417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04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Five datasheet features are new in DG32-2DOM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31A2F-E407-440C-9687-8E3C2AAA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85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Everything else in the feature list is DG32-LITE’s, unchanged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43506-5586-4124-8C96-B3F02527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816A0-3746-4335-A603-5B8D9166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034E1-4911-4033-A7F5-6E3ECA6F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62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DG32-2DOM PRELIMINARY DATASHEET  ·  SEPTEMBER 2026  ·  PRE-SILICON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966D3-FE0C-427F-8461-BCD597D4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AE2A9-43B5-49F5-8B7E-4B8CA15B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64EB1-E472-4EC7-9B92-B1A07BCD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NEW FEATURE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20CE8-813B-4AB6-99F3-6DA109F4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52600"/>
            <a:ext cx="822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WHAT THE DATASHEET STATES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E7A66-4DA1-4ED6-B3DA-24CF7C3F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B2367-CF22-44D1-AD3A-8012D3CE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17F44-F708-46F2-B576-FBD0F116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2647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Attention accelerator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6441C-06EB-484E-82C7-BED0CB35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43125"/>
            <a:ext cx="8210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One kick computes a band of query rows of one head, end to end, bit-exact to the golden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BABAA-265A-43A8-8AB5-E3B90D5F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BE821-FB80-4E56-8FC0-1559296A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2647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Shared datapath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4F707-7ABF-4F8D-95A5-BEBAD218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95575"/>
            <a:ext cx="8210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One multiply array across lanes, a 256-entry 15-bit weight table and a 40-bit numerator exact to 131,072 keys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0889E-4E29-4C5E-A61D-3EAF6E10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C1D69-A966-491F-B1DD-7F3C8CBB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2647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Row cost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EB957-6942-4C01-9B26-5EB158D6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48025"/>
            <a:ext cx="8210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~3,242 cycles per query row, analytic, at 16 lanes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11CEE2-8A5E-460E-BC23-B92E14FF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BEC120-3C4A-4657-83F2-04D10F9D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2647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Second clock domain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A1E2FA-86EB-4676-8453-6D7E0D52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00475"/>
            <a:ext cx="8210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engine runs at 114 MHz and crosses to the 50 MHz CPU through two-flop bridges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12DE9F-5524-4DFD-980F-53424D66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B3CF23-0361-41BF-9B99-EA587982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2647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Its own die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B3FF77-99FF-4E97-897D-3C4E1714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52925"/>
            <a:ext cx="8210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3.4 × 4.5 mm, with key and value buffers on SRAM macros beside the analog corner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CC85DB-98DF-4D57-8420-0D1F3E57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engine is internal: it reaches memory over the on-chip bus and takes commands from the CPU through its register port.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416AEF-BC12-45BF-92C3-BC78942F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047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Source: DG32-2DOM preliminary datasheet §1 features.</a:t>
            </a:r>
          </a:p>
        </p:txBody>
      </p:sp>
    </p:spTree>
    <p:extLst>
      <p:ext uri="{BB962C8B-B14F-4D97-AF65-F5344CB8AC3E}">
        <p14:creationId xmlns:p14="http://schemas.microsoft.com/office/powerpoint/2010/main" val="7631148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CBD745-C869-4F9B-819A-A0B9B131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16FA7-BFFF-4482-BF37-3C634C0E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7A3"/>
                </a:solidFill>
                <a:latin typeface="Arial"/>
                <a:ea typeface="Arial"/>
                <a:cs typeface="Arial"/>
              </a:defRPr>
            </a:pPr>
            <a:r>
              <a:t>04 · WHAT IS UNCHANGED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29128-5B8E-45FF-A4BA-B3240657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04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Pins, rails and limits are unchanged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72857-E5C1-493F-8C69-BA69DAC2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85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Section by section against the DG32-LITE preliminary datasheet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89618-2DAC-457F-88B5-EA3E4613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34FC0-1741-4EF4-A08A-5E471ADD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5E6D5-5E7A-4FBF-9D9B-4FFAE348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62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DG32-2DOM PRELIMINARY DATASHEET  ·  SEPTEMBER 2026  ·  PRE-SILICON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BFDD6-71A9-45CA-9DA7-14798F1C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923E5-E23E-4514-9D41-01955250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79962-C570-486F-B6CC-16FF9B5B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DATASHEET SECTION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587C4-01C3-4644-86F6-416552DF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24025"/>
            <a:ext cx="390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DG32-LITE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FB4C4-B9F1-4876-BA47-9E792FE8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19250"/>
            <a:ext cx="432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6EBAC-6EEE-4D45-A342-2DA4D398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24025"/>
            <a:ext cx="413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DG32-2DOM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351AE-0276-45AB-A4B2-53A93BEB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3C78F-B298-4577-BF13-C0B52350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647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Package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45287-2715-467B-986D-1B755C2D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3886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QFN-64, 9 × 9 mm, 0.5 mm pitch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AB92A-1D3E-4614-9A3E-54F454A8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60CB98-DA11-41B7-ACAD-ABF229D4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76450"/>
            <a:ext cx="4114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Identical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E4382-DCD5-4914-B79B-5F41782C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4CEE8-7E43-46FB-8658-42A6F0B1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2647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Signal pins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000B7-48D4-45EE-8D25-50D76371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9850"/>
            <a:ext cx="3886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44 in eleven groups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CC146-E267-4343-BC37-AA4C57A4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3365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EBFA21-FF46-471F-A279-EE8DEBD8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4114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Identical; the engine adds no pads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3AA70-E249-4771-BD1C-FD43E0DA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D146BD-ACF4-4B63-87A8-FA0F1CE3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2647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Core / I/O rails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3356EC-3949-4910-B7D3-C0E23E05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3886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1.8 V (1.71–1.89) / 3.3 V (3.0–3.6)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35BB9E-CF1E-49D5-88A3-E4CA839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6705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8C87DA-FE53-4C70-9F2A-0E331EC6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4114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Identical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CD353-6622-4D9D-888C-573A891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14C2AB-C380-46EB-827E-F4752CA6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647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Absolute maximums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5DDF9-B9C3-42BA-9E4C-875F2836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3886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vccd1 1.95 V, vddio 3.63 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2019BF-258D-4931-B5E3-D8231A8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0045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EF8355-D233-48AB-987D-9BEEC9A4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4114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Identical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910529-0E6F-4A30-BDEF-87BD7D71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99577-695F-41E2-8B33-B318738F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0050"/>
            <a:ext cx="2647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Power estimate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A5C110-8178-414B-BBEE-26E759F9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10050"/>
            <a:ext cx="3886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~0.43 W at 50 MHz, tool estimate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AF154F-3FF5-4982-AA3E-8A44F62B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3385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57382E-5BEA-44AA-8831-351DCF7C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0050"/>
            <a:ext cx="4114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Same figure repeated; no separate engine figure stated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49BCD1-A619-45DB-B54A-7979007C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2D43D7-1CCB-4544-907B-A3C6377C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2647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Boot flow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0F0E14-999A-4192-992B-B39D65C5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43450"/>
            <a:ext cx="3886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Self-boot from QSPI flash, UART monitor fallback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340032-E40B-4506-99A4-77E0F208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6725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4E762E-2FFF-43C1-8CCB-87784946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43450"/>
            <a:ext cx="4114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Identical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0C3EA8-3AFD-43C7-AC7C-8A501D0A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D72044-A8FB-4BF0-8888-AE28D8B6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2647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Clocks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EED090-342F-4A13-8284-63A211B2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76850"/>
            <a:ext cx="3886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One 50 MHz domain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E6C8ED-1CEF-4577-9D43-E78E21E9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0065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500AFE-0BA3-4E8B-AB56-119EB141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76850"/>
            <a:ext cx="4114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50 MHz CPU + 114 MHz engine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F5B516-D28E-4B30-B03B-1C6A2776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047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Sources: DG32-2DOM preliminary datasheet §2–§6, §10; DG32-LITE preliminary datasheet.</a:t>
            </a:r>
          </a:p>
        </p:txBody>
      </p:sp>
    </p:spTree>
    <p:extLst>
      <p:ext uri="{BB962C8B-B14F-4D97-AF65-F5344CB8AC3E}">
        <p14:creationId xmlns:p14="http://schemas.microsoft.com/office/powerpoint/2010/main" val="18241737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9204C4-1394-4175-BE99-D3AF28B3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55ACE-CF8C-436F-9983-3545111D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7A3"/>
                </a:solidFill>
                <a:latin typeface="Arial"/>
                <a:ea typeface="Arial"/>
                <a:cs typeface="Arial"/>
              </a:defRPr>
            </a:pPr>
            <a:r>
              <a:t>05 · CLOCKS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50077-6CE5-44C2-8E17-D713826A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04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The engine runs on its own 114 MHz clock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F5C82-9157-4B3F-865E-E5005845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85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Two domains on one die; the crossing is the only path between them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2D602-6FC5-4EC1-98E2-0132F51F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F73D7-349D-4262-A4CD-2774048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F21CF-72C9-413C-9438-B68B69F6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62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DG32-2DOM PRELIMINARY DATASHEET  ·  SEPTEMBER 2026  ·  PRE-SILICON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A7387-E804-4792-8662-ED59E781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D89E7-E148-48C9-BB5A-3ADA8221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403600" cy="99060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F0091-05AC-4377-93A7-7B6A5A97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40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E8676-9024-40FA-AD23-6547989C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3136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50 MHz domain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8325E-C22C-4CED-8AE8-82305E7F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313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CPU, bus and every peripheral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A68DE-98B7-4C3D-8497-B9A15C6F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575" y="21050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A7170-AE95-4E4F-A6E3-F9B1CA00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1714500"/>
            <a:ext cx="3403600" cy="99060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939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D93BC-F7EB-47BC-8C9C-7F626087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1714500"/>
            <a:ext cx="340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434FB-3E96-4142-8F64-AFBA38EF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1905000"/>
            <a:ext cx="3136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Clock bridges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F7E31-4CDC-4B0D-AF89-1BEFF1A3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190750"/>
            <a:ext cx="313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Two-flop synchronised crossings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B71BA-47A0-408F-A5D6-456F718B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575" y="21050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E5D04-B578-4E07-9A70-E0ABD490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714500"/>
            <a:ext cx="3403600" cy="99060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939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C216F-69E8-4A45-A447-1CAEEE0C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714500"/>
            <a:ext cx="340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42C10-00D0-4CC2-84F7-683510DF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0" y="1905000"/>
            <a:ext cx="3136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114 MHz domain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F75F4-D149-4F4B-A93B-158D7728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0" y="2190750"/>
            <a:ext cx="313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INT8 attention engine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F57D9-0FAF-4B6A-A090-5F29643A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55054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30ADA-AB33-403F-A550-D04BF4C2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571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2FE5DE-A549-410B-A0D9-7988B67A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086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Why a second clock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657B7-9043-4A32-915D-7BB60B23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0482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CPU and peripherals stay at 50 MHz, so the control core’s timing is untouched.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B342A8-4B0C-43C1-A7FF-73B1F4C0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55054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1C2C62-CA35-4A32-8E7E-455AB83A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571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731425-8ABD-45CC-9D87-F9FF219A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33750"/>
            <a:ext cx="5086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Why it never stalls control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BC4F18-5AC2-4E41-96EA-787FC6BA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50482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engine reaches memory through the bridges, so it never stalls the control core.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7FF368-2F49-4EFC-895B-AC5CB829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35814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5C87AC-8905-4E9A-9CD1-6370578E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335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77A3"/>
                </a:solidFill>
                <a:latin typeface="Georgia"/>
                <a:ea typeface="Georgia"/>
                <a:cs typeface="Georgia"/>
              </a:defRPr>
            </a:pPr>
            <a:r>
              <a:t>+0.30 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DFADE-1493-42A3-BB59-7EFEBB79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3352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SLACK AT 50 MHZ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29F5B7-8E7D-4881-9957-3683FA84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91175"/>
            <a:ext cx="33147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Post-route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A701DF-F77C-4A82-8C3D-D3DDA677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05350"/>
            <a:ext cx="35814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80FF88-DACA-484E-BF44-513C1934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57750"/>
            <a:ext cx="33528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7686A"/>
                </a:solidFill>
                <a:latin typeface="Georgia"/>
                <a:ea typeface="Georgia"/>
                <a:cs typeface="Georgia"/>
              </a:defRPr>
            </a:pPr>
            <a:r>
              <a:t>+0.19 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495955-3743-49F5-B41F-9E90D069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43525"/>
            <a:ext cx="3352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SLACK AT 114 MHZ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671568-FB97-49DA-90BA-FD4D48FB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591175"/>
            <a:ext cx="33147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Post-route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B8EDE7-D745-40DE-870B-EB9B8CA0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05350"/>
            <a:ext cx="35814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0A34D3-60E2-4E4E-B12E-0B3DA5F1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57750"/>
            <a:ext cx="3352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686A"/>
                </a:solidFill>
                <a:latin typeface="Georgia"/>
                <a:ea typeface="Georgia"/>
                <a:cs typeface="Georgia"/>
              </a:defRPr>
            </a:pPr>
            <a:r>
              <a:t>3.4 × 4.5 mm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E80DF5-4138-43E6-B9E6-18BCA638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14950"/>
            <a:ext cx="3352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DIE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395A87-9CBE-4FC5-8EB9-409433B2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62600"/>
            <a:ext cx="3314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Engine buffers beside the analog corner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6FCA5D-F82A-468D-8041-D46D3C43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047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Source: DG32-2DOM preliminary datasheet §1, §6.1, §10.</a:t>
            </a:r>
          </a:p>
        </p:txBody>
      </p:sp>
    </p:spTree>
    <p:extLst>
      <p:ext uri="{BB962C8B-B14F-4D97-AF65-F5344CB8AC3E}">
        <p14:creationId xmlns:p14="http://schemas.microsoft.com/office/powerpoint/2010/main" val="3533638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B7065C-3191-4FBD-9A8B-0541B113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DE23F-7C93-4C0B-A584-35EA4731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06 · PROGRAMMING THE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0A893-ADE3-4BBD-B487-8F1EEB65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04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Firmware programs a kick in four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7D3F5-B89A-4FF5-B8ED-BD3ABE28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85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Concept level: the datasheet’s register map is not reproduced here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87ACE-B252-4386-85FF-B464F4DD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12B01-5B3D-4AB8-AB9C-6B2CFFFD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71D55-2E04-4242-8BAD-4F347E7B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62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t>DEEPGRID SEMI  ·  DG32-2DOM PRELIMINARY DATASHEET  ·  SEPTEMBER 2026  ·  PRE-SILICON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5A01C-8F77-483E-8FAC-0C83AACC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E752E-5F5D-4210-9C8C-26DA7F83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419350" cy="99060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C3D2F-5645-4BAF-ADCE-C181E41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419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C83F6-DBB3-4A52-B1CF-0483E6B0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2152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Place buffers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93DA4-7A1F-489F-A634-C3CF05D6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152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Query, key, value and output locations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BB445-C4D1-43BF-AF46-DBD9DE1B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1050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1D063-4041-4971-91F6-1A872769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14500"/>
            <a:ext cx="2419350" cy="99060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BB173-D56D-403C-A0AE-794A2D1B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14500"/>
            <a:ext cx="2419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13EA0-18DB-467A-90A6-15E65A88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2152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Set geometry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DF5FB-2BCE-47CC-B82A-B5F9AE6E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2152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Rows, keys, key and value sizes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B9A18-C292-41EC-A016-0CFF4F59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1050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30D42-4389-48BC-9366-AC5895E4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2419350" cy="99060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4CE91-DB4B-455F-9D0D-16E407F3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2419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B7AC0B-E101-4852-884C-B98568B5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05000"/>
            <a:ext cx="2152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Start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7D9DC-9F68-40AF-B1ED-B779233A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2152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Optionally reuse loaded buffers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0C9CA-AF00-4B69-B594-2B89DD9B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050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9D7A4-C5D4-4E44-B8BC-D0FC2BCE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14500"/>
            <a:ext cx="2419350" cy="99060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939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DC4CB-44E1-463B-8FF1-6C517402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14500"/>
            <a:ext cx="2419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5DC469-0632-400E-88F1-7F2686D1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05000"/>
            <a:ext cx="2152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Wait for done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B0C49D-2C34-463D-B2E6-00958043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90750"/>
            <a:ext cx="2152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Poll, or take the engine interrupt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EFC0C7-0217-4B30-B799-7F52BB5E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358140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01146B-D37A-4B1C-85F9-B94FD846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571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9AF0F1-35D0-4FC1-8DC4-6B38CEFA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62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Reuse between kicks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B9E50B-36E6-4EEF-AC62-F6C741B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1242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 skip-load option reuses the weight table, keys and values from the previous kick.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A2090C-509A-450E-8CE5-51FC96A5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358140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9C2887-15B8-4F91-BD82-AC09BD74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571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0E3E21-C923-4057-92A4-DEF544F6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3162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What it reports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7C4101-366A-4DA7-B7CE-0D158635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31242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Busy and done, plus a rejected geometry or an arithmetic overflow.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C818C1-0117-4886-89D0-55FA8EEC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358140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44569A-D312-4DFB-B453-1BA8E095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571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324C71-D417-47C2-91DD-803DDADF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3162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Memory-mapped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AA13D8-FFE0-412E-A091-7E2815D4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95700"/>
            <a:ext cx="312420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engine sits on the CPU’s bus as one block and adds no pins.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31A056-E3FE-4B8E-A6C7-253C41C9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1277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The engine runs on the 114 MHz clock and reaches memory through the bridges, so the 50 MHz CPU keeps running.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E9B4F5-9F4E-4AEA-8958-E565CCDE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047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i="1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Source: DG32-2DOM preliminary datasheet §8 engine notes and interrupt sources (concept only).</a:t>
            </a:r>
          </a:p>
        </p:txBody>
      </p:sp>
    </p:spTree>
    <p:extLst>
      <p:ext uri="{BB962C8B-B14F-4D97-AF65-F5344CB8AC3E}">
        <p14:creationId xmlns:p14="http://schemas.microsoft.com/office/powerpoint/2010/main" val="15082504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469A4E-B230-4BF5-A64C-F826736D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A9C42-8BCB-43DA-AA32-1A66718C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7A3"/>
                </a:solidFill>
                <a:latin typeface="Arial"/>
                <a:ea typeface="Arial"/>
                <a:cs typeface="Arial"/>
              </a:defRPr>
            </a:pPr>
            <a:r>
              <a:t>07 · ENGINE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75B89-6251-4309-A6B9-46D50CD4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04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Every engine limit is fixed in silicon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D4A20-4554-484B-8BDB-B56A151B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85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geometry and arithmetic bounds firmware sizes a model against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F4AED-9D16-492F-AE8A-A8C3F1D0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11373-E421-4545-B6E5-E7546856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23B95-F787-4B57-A7F6-5C3D5F57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62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DG32-2DOM PRELIMINARY DATASHEET  ·  SEPTEMBER 2026  ·  PRE-SILICON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D947A-A853-44DF-A86F-450DF96F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9245C-5082-4B48-8DEB-BC041441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C0973-011C-43E2-A4C4-4B1D486C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PARAMETER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363E1-1B36-4515-AD01-C115711F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526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72ACE-5CC7-4BAE-A514-7BBAD6AF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499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NOTE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C47FA-E9F7-4D90-AD39-04786E64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2F320-A1D7-422E-92D7-99CAAD57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302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Query rows per kick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4E963-FA6B-4E37-A4FB-4AA2B8CE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43125"/>
            <a:ext cx="264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 – 65,535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9B0AD-399E-41FB-A17E-AD9A3BED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43125"/>
            <a:ext cx="497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 band of rows of one head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DCDC4-CF1E-432E-B054-CE5924A1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B4993-8C89-4263-B0F8-D68D1DCB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AFAD3-5A13-4A52-B578-2996610F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302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Keys per head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72451-CBA2-4F8F-AED4-90D623E6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00325"/>
            <a:ext cx="264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1 – 400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7222C-5226-4FC5-B028-0C637337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00325"/>
            <a:ext cx="497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Maximum set when the die was built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33B44-E924-405A-9047-BC9AEDDA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D1F9A-A4C1-4F62-AAF5-ED159AAF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302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Key dimension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27749A-B6AB-4571-A6F9-6EA7AA55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57525"/>
            <a:ext cx="264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Up to 32 bytes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4EE6EC-7CEC-4265-800D-807A36DA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497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 multiple of the lane count and of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91F653-A767-4547-89CD-8A2857CB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BBE83B-6037-4424-998E-C4DC6909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302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Value dimension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5C8E7A-A156-492A-9643-A8D21E1C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14725"/>
            <a:ext cx="264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Up to 64 bytes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37FB76-1EAE-4D2A-B333-401CC67C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14725"/>
            <a:ext cx="497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 multiple of the lane count and of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29C70E-49A8-491B-AB23-5AD18578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CA4547-0934-4E9C-AD90-D73413FF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302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Multiply lanes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EDECB5-1544-4D6C-A8E2-D78C2573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71925"/>
            <a:ext cx="264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A1EFF7-89A1-4F55-A5C8-927F28B9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71925"/>
            <a:ext cx="497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Width of the shared multiply array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24EFF0-6757-4A47-987B-1C94D088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B0B93D-10E5-41C4-A4E0-91115B4E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302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Weight table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04D7E8-E752-44A3-92CE-40A8641F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29125"/>
            <a:ext cx="264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256 entries, 15-bit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C0891B-36CD-4826-83F5-338B47FD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29125"/>
            <a:ext cx="497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Softmax weights are never quantised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6C80DC-0FE6-46D7-AAE4-AC133959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34F9E3-5D92-4FEF-B3CD-7D36E9EB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302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Numerator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86C906-BD9A-4810-B75D-4AE4AA45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86325"/>
            <a:ext cx="264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40-bit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D9C2EC-3423-4ECD-95A7-7F3C47BA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86325"/>
            <a:ext cx="497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Exact to 131,072 keys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00D49F-4E68-407B-ABF7-7263F223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BC48CD-8D58-4DCB-B430-EB4894A4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302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Cost per query row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25ED9E-06B1-4B57-8200-5F9A3242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43525"/>
            <a:ext cx="264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~3,242 cycles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B67E05-01F3-4080-A0D7-1A73BB4A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343525"/>
            <a:ext cx="497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Analytic, at 16 lanes, 400 keys, 32- and 64-byte vectors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CEFFAF-2591-4AE1-BABA-B33EE218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047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Source: DG32-2DOM preliminary datasheet §1 and §8 engine parameters.</a:t>
            </a:r>
          </a:p>
        </p:txBody>
      </p:sp>
    </p:spTree>
    <p:extLst>
      <p:ext uri="{BB962C8B-B14F-4D97-AF65-F5344CB8AC3E}">
        <p14:creationId xmlns:p14="http://schemas.microsoft.com/office/powerpoint/2010/main" val="14115328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B8FAD2-76EF-4412-8F8E-59C71175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EC6A5-1E8C-49EC-A9AF-EB1ED194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7A3"/>
                </a:solidFill>
                <a:latin typeface="Arial"/>
                <a:ea typeface="Arial"/>
                <a:cs typeface="Arial"/>
              </a:defRPr>
            </a:pPr>
            <a:r>
              <a:t>08 · ON THE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89194-6C8A-40EC-BBD8-04CEF75D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04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A DG32-LITE board takes DG32-2DOM unchanged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59B44-8250-4165-A0AB-1B9CF299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85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engine is internal, so the board sees the DG32-LITE footprint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28518-5790-4ECA-BC33-B115102B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D83E2-D4DB-48BB-9C10-CEFE84DD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62153-4E6E-4BA3-AE67-D8AF6157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62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DG32-2DOM PRELIMINARY DATASHEET  ·  SEPTEMBER 2026  ·  PRE-SILICON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14891-E21F-4058-BC17-E53C20D5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5ECF3-66AB-4B2C-B7C3-90C77AD3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3581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5ED9D-A697-4CF8-8D0A-E88AF406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33528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0077A3"/>
                </a:solidFill>
                <a:latin typeface="Georgia"/>
                <a:ea typeface="Georgia"/>
                <a:cs typeface="Georgia"/>
              </a:defRPr>
            </a:pPr>
            <a: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44102-9D15-4F78-9C8C-2FCF5529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3352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BOARD SIGNALS ADDED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C590E-DBAF-432D-9464-5B2678DF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33147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attention engine is internal to the die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7F6AE-BFF4-4BA4-B95A-FBE6C19E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38300"/>
            <a:ext cx="7429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85539-0496-49C9-A117-E60DB2B5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383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42E6B-B6F0-46DB-9D21-405CC368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2880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Same footprint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6DAC9-B304-4E34-B6A4-25255E15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6972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QFN-64, 9 × 9 mm, with an identical pin map.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6C8BD-9D3D-405D-8FA5-E6016A31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7429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0B26D-F436-4E7D-A3F2-7A293B3F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146A62-5040-45BB-8B28-A671C72C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Same supplies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4F79D-7BB5-452D-8355-F30904F2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6972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 1.8 V core and a 3.3 V I/O ring, with the same sequencing.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6698C2-F019-4438-B851-DE32168E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24300"/>
            <a:ext cx="7429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6AFE0-4042-4295-BB7B-A66A238A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243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DC9DF7-1DE3-483C-9890-A99F4CAC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1480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Same boot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A8BBA-6242-49F8-87EF-4A072AC6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6972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External QSPI flash and the console UART, as on DG32-LITE.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FF1CC0-AFC8-48A4-BE8F-2FE5EA94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127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Status: design complete, in physical trials.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2EB3B9-C9B9-4BB7-9A8D-6FC6A67C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047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Sources: DG32-2DOM preliminary datasheet §2, §5, §6, §9; DG32-LITE investor block diagram (status).</a:t>
            </a:r>
          </a:p>
        </p:txBody>
      </p:sp>
    </p:spTree>
    <p:extLst>
      <p:ext uri="{BB962C8B-B14F-4D97-AF65-F5344CB8AC3E}">
        <p14:creationId xmlns:p14="http://schemas.microsoft.com/office/powerpoint/2010/main" val="7376428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C9FEA-E3FF-4ADF-A16A-2536C16F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17ECC-2C98-47E1-BA68-324BF027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84BE2-B04C-4126-AE3B-C91FFDF9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09 ·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D3EEB-E0A0-4687-A737-13FAEA75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40005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One footprint. Two chips.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7A21C-BE23-4117-99C1-82A6060D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12F14-8DD1-4FD1-A3E3-52DF251E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000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Register offsets, the memory map and board-level rules live in the engineering datasheet, not in this overview.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60F41-23D2-46CD-AD85-074749B6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9600"/>
            <a:ext cx="640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THREE THINGS TO REMEMBER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1ABD5-4022-48BF-A94F-158AE773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28700"/>
            <a:ext cx="640080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5F005-6380-4279-BEC6-C57E8478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28700"/>
            <a:ext cx="571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26263-E7AC-4E82-9B94-6B9E0DB1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19200"/>
            <a:ext cx="598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1 · The board is a DG32-LITE 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E9EAB-1030-48FF-891E-01D13192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81150"/>
            <a:ext cx="594360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Same package, pins, rails and boot flash; the engine adds no board signals.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1BDB4-D390-45CC-B0E3-5FCA4D74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28875"/>
            <a:ext cx="640080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7ABE8-662E-4D68-9AB5-3EF17B7F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28875"/>
            <a:ext cx="571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67CDC-B8F9-4B9B-917B-6B00849D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19375"/>
            <a:ext cx="598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2 · One engine on its own clock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794F6-1B6B-45E2-9408-E8A1A54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81325"/>
            <a:ext cx="594360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 memory-mapped INT8 attention block at 114 MHz that cannot stall control.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BF094-A84C-4760-8CD4-0D826ADC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29050"/>
            <a:ext cx="640080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71A94-E7CE-4992-A880-C1ED0378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29050"/>
            <a:ext cx="571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22D44-8F8A-410D-A2F7-83075785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19550"/>
            <a:ext cx="598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3 · Limits already fixed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7282B-FE51-4E52-859C-90036C6A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81500"/>
            <a:ext cx="594360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400 keys, 64-byte values and about 3,242 cycles per query row, by analysis.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6589D3-D451-4128-A582-8B17F425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00EB60-EF48-4E80-B994-716C90E7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486525"/>
            <a:ext cx="640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87A293-B08B-4CE2-AAC8-93C46C71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191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t>DEEPGRID SEMI  ·  DG32-2DOM PRELIMINARY DATASHEET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07E85-7B62-40AE-AB2E-005A628B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6461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2026-09-13T12:28:31.2640000Z</dcterms:created>
  <dcterms:modified xsi:type="dcterms:W3CDTF">2026-09-13T12:28:31.2650000Z</dcterms:modified>
</coreProperties>
</file>