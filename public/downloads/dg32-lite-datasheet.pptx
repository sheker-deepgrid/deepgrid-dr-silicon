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18a88585d3248db" /><Relationship Type="http://schemas.openxmlformats.org/officeDocument/2006/relationships/extended-properties" Target="/docProps/app.xml" Id="Ra68c7778fd3c4a08" /><Relationship Type="http://schemas.openxmlformats.org/officeDocument/2006/relationships/officeDocument" Target="/ppt/presentation.xml" Id="Rcb65ebacb2b540d3" /></Relationships>
</file>

<file path=ppt/presentation.xml><?xml version="1.0" encoding="utf-8"?>
<p:presentation xmlns:p="http://schemas.openxmlformats.org/presentationml/2006/main">
  <p:sldMasterIdLst>
    <p:sldMasterId xmlns:r="http://schemas.openxmlformats.org/officeDocument/2006/relationships" id="2147483648" r:id="R0c464d35150f4073"/>
  </p:sldMasterIdLst>
  <p:notesMasterIdLst>
    <p:notesMasterId xmlns:r="http://schemas.openxmlformats.org/officeDocument/2006/relationships" r:id="Re772916f52d1460b"/>
  </p:notesMasterIdLst>
  <p:sldIdLst>
    <p:sldId xmlns:r="http://schemas.openxmlformats.org/officeDocument/2006/relationships" id="256" r:id="Re1f54516b1534c0e"/>
    <p:sldId xmlns:r="http://schemas.openxmlformats.org/officeDocument/2006/relationships" id="257" r:id="R4689128a0e7745b4"/>
    <p:sldId xmlns:r="http://schemas.openxmlformats.org/officeDocument/2006/relationships" id="258" r:id="R00bf739e27ee4066"/>
    <p:sldId xmlns:r="http://schemas.openxmlformats.org/officeDocument/2006/relationships" id="259" r:id="R7cee69ae0a9a4b24"/>
    <p:sldId xmlns:r="http://schemas.openxmlformats.org/officeDocument/2006/relationships" id="260" r:id="R5b589e24780d4671"/>
    <p:sldId xmlns:r="http://schemas.openxmlformats.org/officeDocument/2006/relationships" id="261" r:id="Rff13f778ed054fc3"/>
    <p:sldId xmlns:r="http://schemas.openxmlformats.org/officeDocument/2006/relationships" id="262" r:id="Rd2782e94ee194853"/>
    <p:sldId xmlns:r="http://schemas.openxmlformats.org/officeDocument/2006/relationships" id="263" r:id="Rfc6a6404b3c34ff6"/>
    <p:sldId xmlns:r="http://schemas.openxmlformats.org/officeDocument/2006/relationships" id="264" r:id="Rc7a3a0f787a14dd6"/>
    <p:sldId xmlns:r="http://schemas.openxmlformats.org/officeDocument/2006/relationships" id="265" r:id="R8f9c304756fc4e78"/>
    <p:sldId xmlns:r="http://schemas.openxmlformats.org/officeDocument/2006/relationships" id="266" r:id="R95b29b0c43824690"/>
    <p:sldId xmlns:r="http://schemas.openxmlformats.org/officeDocument/2006/relationships" id="267" r:id="R3c5104b2dc24448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3a22197cbf141bd" /><Relationship Type="http://schemas.openxmlformats.org/officeDocument/2006/relationships/slideMaster" Target="/ppt/slideMasters/slideMaster1.xml" Id="R0c464d35150f4073" /><Relationship Type="http://schemas.openxmlformats.org/officeDocument/2006/relationships/notesMaster" Target="/ppt/notesMasters/notesMaster1.xml" Id="Re772916f52d1460b" /><Relationship Type="http://schemas.openxmlformats.org/officeDocument/2006/relationships/presProps" Target="/ppt/presProps.xml" Id="R7e5b0e6974ca463d" /><Relationship Type="http://schemas.openxmlformats.org/officeDocument/2006/relationships/tableStyles" Target="/ppt/tableStyles.xml" Id="Rbca24c03d9504c41" /><Relationship Type="http://schemas.openxmlformats.org/officeDocument/2006/relationships/slide" Target="/ppt/slides/slide1.xml" Id="Re1f54516b1534c0e" /><Relationship Type="http://schemas.openxmlformats.org/officeDocument/2006/relationships/slide" Target="/ppt/slides/slide2.xml" Id="R4689128a0e7745b4" /><Relationship Type="http://schemas.openxmlformats.org/officeDocument/2006/relationships/slide" Target="/ppt/slides/slide3.xml" Id="R00bf739e27ee4066" /><Relationship Type="http://schemas.openxmlformats.org/officeDocument/2006/relationships/slide" Target="/ppt/slides/slide4.xml" Id="R7cee69ae0a9a4b24" /><Relationship Type="http://schemas.openxmlformats.org/officeDocument/2006/relationships/slide" Target="/ppt/slides/slide5.xml" Id="R5b589e24780d4671" /><Relationship Type="http://schemas.openxmlformats.org/officeDocument/2006/relationships/slide" Target="/ppt/slides/slide6.xml" Id="Rff13f778ed054fc3" /><Relationship Type="http://schemas.openxmlformats.org/officeDocument/2006/relationships/slide" Target="/ppt/slides/slide7.xml" Id="Rd2782e94ee194853" /><Relationship Type="http://schemas.openxmlformats.org/officeDocument/2006/relationships/slide" Target="/ppt/slides/slide8.xml" Id="Rfc6a6404b3c34ff6" /><Relationship Type="http://schemas.openxmlformats.org/officeDocument/2006/relationships/slide" Target="/ppt/slides/slide9.xml" Id="Rc7a3a0f787a14dd6" /><Relationship Type="http://schemas.openxmlformats.org/officeDocument/2006/relationships/slide" Target="/ppt/slides/slide10.xml" Id="R8f9c304756fc4e78" /><Relationship Type="http://schemas.openxmlformats.org/officeDocument/2006/relationships/slide" Target="/ppt/slides/slide11.xml" Id="R95b29b0c43824690" /><Relationship Type="http://schemas.openxmlformats.org/officeDocument/2006/relationships/slide" Target="/ppt/slides/slide12.xml" Id="R3c5104b2dc24448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e88bf8519114c4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3d5457aaf75455f" /><Relationship Type="http://schemas.openxmlformats.org/officeDocument/2006/relationships/notesMaster" Target="/ppt/notesMasters/notesMaster1.xml" Id="Raba159321ac44efc" /></Relationships>
</file>

<file path=ppt/notesSlides/_rels/notesSlide2.xml.rels>&#65279;<?xml version="1.0" encoding="utf-8"?><Relationships xmlns="http://schemas.openxmlformats.org/package/2006/relationships"><Relationship Type="http://schemas.openxmlformats.org/officeDocument/2006/relationships/slide" Target="/ppt/slides/slide2.xml" Id="R8150cfa448ae4e10" /><Relationship Type="http://schemas.openxmlformats.org/officeDocument/2006/relationships/notesMaster" Target="/ppt/notesMasters/notesMaster1.xml" Id="R49271a1a66a0406c" /></Relationships>
</file>

<file path=ppt/notesSlides/_rels/notesSlide3.xml.rels>&#65279;<?xml version="1.0" encoding="utf-8"?><Relationships xmlns="http://schemas.openxmlformats.org/package/2006/relationships"><Relationship Type="http://schemas.openxmlformats.org/officeDocument/2006/relationships/slide" Target="/ppt/slides/slide3.xml" Id="Rf8bb9c5fa2ec4cd0" /><Relationship Type="http://schemas.openxmlformats.org/officeDocument/2006/relationships/notesMaster" Target="/ppt/notesMasters/notesMaster1.xml" Id="Rbb528e4832d344f8" /></Relationships>
</file>

<file path=ppt/notesSlides/_rels/notesSlide4.xml.rels>&#65279;<?xml version="1.0" encoding="utf-8"?><Relationships xmlns="http://schemas.openxmlformats.org/package/2006/relationships"><Relationship Type="http://schemas.openxmlformats.org/officeDocument/2006/relationships/slide" Target="/ppt/slides/slide4.xml" Id="R73087abf77f54376" /><Relationship Type="http://schemas.openxmlformats.org/officeDocument/2006/relationships/notesMaster" Target="/ppt/notesMasters/notesMaster1.xml" Id="R0f3b1e0c7c594c53" /></Relationships>
</file>

<file path=ppt/notesSlides/_rels/notesSlide5.xml.rels>&#65279;<?xml version="1.0" encoding="utf-8"?><Relationships xmlns="http://schemas.openxmlformats.org/package/2006/relationships"><Relationship Type="http://schemas.openxmlformats.org/officeDocument/2006/relationships/slide" Target="/ppt/slides/slide5.xml" Id="R834d857ed69543d8" /><Relationship Type="http://schemas.openxmlformats.org/officeDocument/2006/relationships/notesMaster" Target="/ppt/notesMasters/notesMaster1.xml" Id="Rd0273e7422df490f" /></Relationships>
</file>

<file path=ppt/notesSlides/_rels/notesSlide6.xml.rels>&#65279;<?xml version="1.0" encoding="utf-8"?><Relationships xmlns="http://schemas.openxmlformats.org/package/2006/relationships"><Relationship Type="http://schemas.openxmlformats.org/officeDocument/2006/relationships/slide" Target="/ppt/slides/slide6.xml" Id="R8dffad31b8014f5c" /><Relationship Type="http://schemas.openxmlformats.org/officeDocument/2006/relationships/notesMaster" Target="/ppt/notesMasters/notesMaster1.xml" Id="R04752ccb3e3846c7" /></Relationships>
</file>

<file path=ppt/notesSlides/_rels/notesSlide7.xml.rels>&#65279;<?xml version="1.0" encoding="utf-8"?><Relationships xmlns="http://schemas.openxmlformats.org/package/2006/relationships"><Relationship Type="http://schemas.openxmlformats.org/officeDocument/2006/relationships/slide" Target="/ppt/slides/slide7.xml" Id="Re09d115ad3bf4309" /><Relationship Type="http://schemas.openxmlformats.org/officeDocument/2006/relationships/notesMaster" Target="/ppt/notesMasters/notesMaster1.xml" Id="R3fcbeeb352e44d9e" /></Relationships>
</file>

<file path=ppt/notesSlides/_rels/notesSlide8.xml.rels>&#65279;<?xml version="1.0" encoding="utf-8"?><Relationships xmlns="http://schemas.openxmlformats.org/package/2006/relationships"><Relationship Type="http://schemas.openxmlformats.org/officeDocument/2006/relationships/slide" Target="/ppt/slides/slide8.xml" Id="Re4a8c5bf577c477a" /><Relationship Type="http://schemas.openxmlformats.org/officeDocument/2006/relationships/notesMaster" Target="/ppt/notesMasters/notesMaster1.xml" Id="R8d395c1fe53748f5" /></Relationships>
</file>

<file path=ppt/notesSlides/_rels/notesSlide9.xml.rels>&#65279;<?xml version="1.0" encoding="utf-8"?><Relationships xmlns="http://schemas.openxmlformats.org/package/2006/relationships"><Relationship Type="http://schemas.openxmlformats.org/officeDocument/2006/relationships/slide" Target="/ppt/slides/slide9.xml" Id="R60ffc3b483654a07" /><Relationship Type="http://schemas.openxmlformats.org/officeDocument/2006/relationships/notesMaster" Target="/ppt/notesMasters/notesMaster1.xml" Id="R5b56cc66794e443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28a3a593f5a49c8" /><Relationship Type="http://schemas.openxmlformats.org/officeDocument/2006/relationships/notesMaster" Target="/ppt/notesMasters/notesMaster1.xml" Id="Rad5343588a24446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60208f7ca5c43d0" /><Relationship Type="http://schemas.openxmlformats.org/officeDocument/2006/relationships/notesMaster" Target="/ppt/notesMasters/notesMaster1.xml" Id="R7ce76e11769c43e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a580358167945b2" /><Relationship Type="http://schemas.openxmlformats.org/officeDocument/2006/relationships/notesMaster" Target="/ppt/notesMasters/notesMaster1.xml" Id="R67b94717c466412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DG32-LITE is Deepgrid Semi's lockstep RISC-V motor-control chip, and this is its preliminary datasheet in twelve slides. Two cores run in lockstep inside a nine-by-nine millimetre, sixty-four-pin QFN. Everything here comes from the design as built for first silicon and from process nominals, not from measured parts, and each slide says which is which.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facts set every design-in. The core runs from a one point eight volt rail. The input and output ring runs at three point three volts. The whole chip runs from one fifty megahertz clock. And every signal comes out through forty-four pins of a sixty-four-pin package, with the other twenty pins given to supplies and ground.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datasheet lists nine features. Two RISC-V cores in lockstep with a fault comparator. Thirty-two kilobytes of SRAM and a sixty-four kilobyte boot ROM. Three-phase PWM with a hardware brake, four DShot channels, encoder and Hall inputs, a CORDIC and an on-die ADC. Serial ports, SPI, I squared C and GPIO, with supervision. And it boots itself, with no management core.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Forty-four signal pins fall into eleven groups. Motor PWM and its sample trigger take seven, and so does the QSPI flash. Position sensing takes six. Serial, SPI, JTAG and GPIO take fifteen between them. Three carry safety signals, including the fault output, and the analog inputs, I squared C, and clock and reset take two each.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pins are placed by job. One side carries the motor: all six gate outputs, the sample trigger, the encoder and two Hall inputs. The opposite side carries the boot flash and the serial ports. The bottom holds JTAG, the clock and the resets, and the top holds I squared C, GPIO, the fault output and the supply-good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electrical limit in this datasheet is a design target or a process nominal, and first-silicon characterisation will replace it. The core supply runs from one point seven one to one point eight nine volts, and the input and output supply from three to three point six. The analog inputs accept zero to one point eight volts, and absolute maximums sit just above the operating range.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Power is simple. All logic, memory and the ADC draw from the one point eight volt user rail. The other user rails are unused, and are tied to their nominal voltage only to keep protection structures biased. Bring up three point three volts before or together with one point eight. The tool estimate is about zero point four three watts at fifty megahertz.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Clocking is just as direct. One three point three volt clock input drives the whole chip at a fifty megahertz design target, and there is no on-die PLL. Two active-low resets are combined on the die with the power-on reset, so a board can use either one and pull the other high. The core itself reaches fifty-five to sixty-two megahertz after place-and-route.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chip boots with no outside help. The ROM prints a banner on the console UART, reads and checks the flash image header, copies the image into SRAM over a quad-SPI read, and jumps to it. Code runs from SRAM, not in place from flash. If the flash is blank, a UART monitor starts instead, so a bare board can still be inspected.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limits firmware can plan on. The UARTs run at one hundred fifteen thousand two hundred baud, SPI to twenty-five megahertz, and I squared C at one hundred or four hundred kilohertz. PWM dead-time reaches five point one microseconds, and the brake acts within two cycles. The ADC samples at about two hundred kilosamples per second, and on this silicon it runs untrimmed.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package is settled: a nine-by-nine millimetre QFN with a half-millimetre pitch and an exposed ground paddle. Three things are still preliminary. The pin map waits on the foundry's bond-diagram confirmation, the electrical section waits on characterisation, and the control core stays frozen for feature work until silicon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 here is what is fixed and what is not. Fixed now: the package, the pin groups, the rails, the clock and the boot path. Measured at first silicon: every electrical limit, and the final pin map. The register-level detail lives in the engineering datasheet; this deck is the plan you build around.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135576854aa4e2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955a3de62c04eff" /><Relationship Type="http://schemas.openxmlformats.org/officeDocument/2006/relationships/slideLayout" Target="/ppt/slideLayouts/slideLayout1.xml" Id="Rec52e3a39844419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c52e3a39844419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f5e47fb63924128" /><Relationship Type="http://schemas.openxmlformats.org/officeDocument/2006/relationships/notesSlide" Target="/ppt/notesSlides/notesSlide1.xml" Id="Rf6136d996aed469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3c4f21394fa4dcf" /><Relationship Type="http://schemas.openxmlformats.org/officeDocument/2006/relationships/notesSlide" Target="/ppt/notesSlides/notesSlide2.xml" Id="R5a3b22e736344f9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783521c22524718" /><Relationship Type="http://schemas.openxmlformats.org/officeDocument/2006/relationships/notesSlide" Target="/ppt/notesSlides/notesSlide3.xml" Id="R88bea64db03a4ec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d6ab1748687486e" /><Relationship Type="http://schemas.openxmlformats.org/officeDocument/2006/relationships/notesSlide" Target="/ppt/notesSlides/notesSlide4.xml" Id="R9c31ce4c308a4e3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80d9b3acf104c7c" /><Relationship Type="http://schemas.openxmlformats.org/officeDocument/2006/relationships/notesSlide" Target="/ppt/notesSlides/notesSlide5.xml" Id="R2936b3316d3c4e1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ba6c1398caf4c43" /><Relationship Type="http://schemas.openxmlformats.org/officeDocument/2006/relationships/notesSlide" Target="/ppt/notesSlides/notesSlide6.xml" Id="Rb75c019cf23b4da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165835604774786" /><Relationship Type="http://schemas.openxmlformats.org/officeDocument/2006/relationships/notesSlide" Target="/ppt/notesSlides/notesSlide7.xml" Id="R7d8580425d5d4b6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e4ab8a425284745" /><Relationship Type="http://schemas.openxmlformats.org/officeDocument/2006/relationships/notesSlide" Target="/ppt/notesSlides/notesSlide8.xml" Id="R34fde0a1e7944de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29dc954444b44fa" /><Relationship Type="http://schemas.openxmlformats.org/officeDocument/2006/relationships/notesSlide" Target="/ppt/notesSlides/notesSlide9.xml" Id="R94dc7582856f4fc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776195e0d054e71" /><Relationship Type="http://schemas.openxmlformats.org/officeDocument/2006/relationships/notesSlide" Target="/ppt/notesSlides/notesSlide10.xml" Id="R9a1b68dfcada42f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175a71c16094cf8" /><Relationship Type="http://schemas.openxmlformats.org/officeDocument/2006/relationships/notesSlide" Target="/ppt/notesSlides/notesSlide11.xml" Id="R88ab1abd7c474eb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13f088090e14f00" /><Relationship Type="http://schemas.openxmlformats.org/officeDocument/2006/relationships/notesSlide" Target="/ppt/notesSlides/notesSlide12.xml" Id="R764745c72e0e42b7"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07" name="">
            <a:extLst xmlns:a="http://schemas.openxmlformats.org/drawingml/2006/main">
              <a:ext uri="{FF2B5EF4-FFF2-40B4-BE49-F238E27FC236}">
                <a16:creationId xmlns:a16="http://schemas.microsoft.com/office/drawing/2014/main" id="{22A0A974-D30A-43E3-9A09-96D370586DA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47353BC-AC72-47CB-84DC-2DE61ACBD0C5}"/>
              </a:ext>
            </a:extLst>
          </p:cNvPr>
          <p:cNvSpPr>
            <a:spLocks xmlns:a="http://schemas.openxmlformats.org/drawingml/2006/main" noGrp="1"/>
          </p:cNvSpPr>
          <p:nvPr/>
        </p:nvSpPr>
        <p:spPr>
          <a:xfrm xmlns:a="http://schemas.openxmlformats.org/drawingml/2006/main">
            <a:off x="457200" y="666750"/>
            <a:ext cx="7239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B4D8"/>
                </a:solidFill>
                <a:latin typeface="Arial"/>
                <a:ea typeface="Arial"/>
                <a:cs typeface="Arial"/>
              </a:defRPr>
            </a:pPr>
            <a:r>
              <a:t>DEEPGRID SEMI  ·  DG32-LITE  ·  PRELIMINARY DATASHEET</a:t>
            </a:r>
          </a:p>
        </p:txBody>
      </p:sp>
      <p:sp>
        <p:nvSpPr>
          <p:cNvPr id="3" name="">
            <a:extLst xmlns:a="http://schemas.openxmlformats.org/drawingml/2006/main">
              <a:ext uri="{FF2B5EF4-FFF2-40B4-BE49-F238E27FC236}">
                <a16:creationId xmlns:a16="http://schemas.microsoft.com/office/drawing/2014/main" id="{03E66364-5E63-42D1-8E4A-70086F015F19}"/>
              </a:ext>
            </a:extLst>
          </p:cNvPr>
          <p:cNvSpPr>
            <a:spLocks xmlns:a="http://schemas.openxmlformats.org/drawingml/2006/main" noGrp="1"/>
          </p:cNvSpPr>
          <p:nvPr/>
        </p:nvSpPr>
        <p:spPr>
          <a:xfrm xmlns:a="http://schemas.openxmlformats.org/drawingml/2006/main">
            <a:off x="457200" y="1066800"/>
            <a:ext cx="7239000" cy="1619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975" b="1">
                <a:solidFill>
                  <a:srgbClr val="FFFFFF"/>
                </a:solidFill>
                <a:latin typeface="Georgia"/>
                <a:ea typeface="Georgia"/>
                <a:cs typeface="Georgia"/>
              </a:defRPr>
            </a:pPr>
            <a:r>
              <a:t>A lockstep motor MCU in a QFN-64 package</a:t>
            </a:r>
          </a:p>
        </p:txBody>
      </p:sp>
      <p:sp>
        <p:nvSpPr>
          <p:cNvPr id="4" name="">
            <a:extLst xmlns:a="http://schemas.openxmlformats.org/drawingml/2006/main">
              <a:ext uri="{FF2B5EF4-FFF2-40B4-BE49-F238E27FC236}">
                <a16:creationId xmlns:a16="http://schemas.microsoft.com/office/drawing/2014/main" id="{7C571D80-48CD-4398-A0D2-6EBBBBCD2DE0}"/>
              </a:ext>
            </a:extLst>
          </p:cNvPr>
          <p:cNvSpPr>
            <a:spLocks xmlns:a="http://schemas.openxmlformats.org/drawingml/2006/main" noGrp="1"/>
          </p:cNvSpPr>
          <p:nvPr/>
        </p:nvSpPr>
        <p:spPr>
          <a:xfrm xmlns:a="http://schemas.openxmlformats.org/drawingml/2006/main">
            <a:off x="457200" y="2781300"/>
            <a:ext cx="1143000" cy="38100"/>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366E6B4-2A0F-499B-9161-168FC21D42E9}"/>
              </a:ext>
            </a:extLst>
          </p:cNvPr>
          <p:cNvSpPr>
            <a:spLocks xmlns:a="http://schemas.openxmlformats.org/drawingml/2006/main" noGrp="1"/>
          </p:cNvSpPr>
          <p:nvPr/>
        </p:nvSpPr>
        <p:spPr>
          <a:xfrm xmlns:a="http://schemas.openxmlformats.org/drawingml/2006/main">
            <a:off x="457200" y="2990850"/>
            <a:ext cx="6667500" cy="609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A9BACD"/>
                </a:solidFill>
                <a:latin typeface="Arial"/>
                <a:ea typeface="Arial"/>
                <a:cs typeface="Arial"/>
              </a:defRPr>
            </a:pPr>
            <a:r>
              <a:t>The preliminary datasheet at overview level, for hardware and firmware leads · design values and process nominals, pending first-silicon characterisation</a:t>
            </a:r>
          </a:p>
        </p:txBody>
      </p:sp>
      <p:sp>
        <p:nvSpPr>
          <p:cNvPr id="6" name="">
            <a:extLst xmlns:a="http://schemas.openxmlformats.org/drawingml/2006/main">
              <a:ext uri="{FF2B5EF4-FFF2-40B4-BE49-F238E27FC236}">
                <a16:creationId xmlns:a16="http://schemas.microsoft.com/office/drawing/2014/main" id="{9248862C-7867-4A40-8140-B7818922AB2C}"/>
              </a:ext>
            </a:extLst>
          </p:cNvPr>
          <p:cNvSpPr>
            <a:spLocks xmlns:a="http://schemas.openxmlformats.org/drawingml/2006/main" noGrp="1"/>
          </p:cNvSpPr>
          <p:nvPr/>
        </p:nvSpPr>
        <p:spPr>
          <a:xfrm xmlns:a="http://schemas.openxmlformats.org/drawingml/2006/main">
            <a:off x="8096250" y="1123950"/>
            <a:ext cx="3048000" cy="3048000"/>
          </a:xfrm>
          <a:prstGeom xmlns:a="http://schemas.openxmlformats.org/drawingml/2006/main" prst="rect">
            <a:avLst/>
          </a:prstGeom>
          <a:solidFill xmlns:a="http://schemas.openxmlformats.org/drawingml/2006/main">
            <a:srgbClr val="12243A"/>
          </a:solidFill>
          <a:ln xmlns:a="http://schemas.openxmlformats.org/drawingml/2006/main" w="19050">
            <a:solidFill>
              <a:srgbClr val="00B4D8"/>
            </a:solidFill>
            <a:prstDash val="solid"/>
          </a:ln>
        </p:spPr>
      </p:sp>
      <p:sp>
        <p:nvSpPr>
          <p:cNvPr id="7" name="">
            <a:extLst xmlns:a="http://schemas.openxmlformats.org/drawingml/2006/main">
              <a:ext uri="{FF2B5EF4-FFF2-40B4-BE49-F238E27FC236}">
                <a16:creationId xmlns:a16="http://schemas.microsoft.com/office/drawing/2014/main" id="{F4B14987-8774-49C3-AA99-10629B724802}"/>
              </a:ext>
            </a:extLst>
          </p:cNvPr>
          <p:cNvSpPr>
            <a:spLocks xmlns:a="http://schemas.openxmlformats.org/drawingml/2006/main" noGrp="1"/>
          </p:cNvSpPr>
          <p:nvPr/>
        </p:nvSpPr>
        <p:spPr>
          <a:xfrm xmlns:a="http://schemas.openxmlformats.org/drawingml/2006/main">
            <a:off x="7943850" y="130492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1AD6F54-621F-468E-9719-6FBBCBF7997F}"/>
              </a:ext>
            </a:extLst>
          </p:cNvPr>
          <p:cNvSpPr>
            <a:spLocks xmlns:a="http://schemas.openxmlformats.org/drawingml/2006/main" noGrp="1"/>
          </p:cNvSpPr>
          <p:nvPr/>
        </p:nvSpPr>
        <p:spPr>
          <a:xfrm xmlns:a="http://schemas.openxmlformats.org/drawingml/2006/main">
            <a:off x="11163300" y="130492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3CBBEA0-23C5-4FAA-B99A-3E79910F5BF4}"/>
              </a:ext>
            </a:extLst>
          </p:cNvPr>
          <p:cNvSpPr>
            <a:spLocks xmlns:a="http://schemas.openxmlformats.org/drawingml/2006/main" noGrp="1"/>
          </p:cNvSpPr>
          <p:nvPr/>
        </p:nvSpPr>
        <p:spPr>
          <a:xfrm xmlns:a="http://schemas.openxmlformats.org/drawingml/2006/main">
            <a:off x="827722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0727188-09D6-4796-BA84-E5B3B325B067}"/>
              </a:ext>
            </a:extLst>
          </p:cNvPr>
          <p:cNvSpPr>
            <a:spLocks xmlns:a="http://schemas.openxmlformats.org/drawingml/2006/main" noGrp="1"/>
          </p:cNvSpPr>
          <p:nvPr/>
        </p:nvSpPr>
        <p:spPr>
          <a:xfrm xmlns:a="http://schemas.openxmlformats.org/drawingml/2006/main">
            <a:off x="827722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3407204-FF7F-410B-B1FC-F15F2BC50A3A}"/>
              </a:ext>
            </a:extLst>
          </p:cNvPr>
          <p:cNvSpPr>
            <a:spLocks xmlns:a="http://schemas.openxmlformats.org/drawingml/2006/main" noGrp="1"/>
          </p:cNvSpPr>
          <p:nvPr/>
        </p:nvSpPr>
        <p:spPr>
          <a:xfrm xmlns:a="http://schemas.openxmlformats.org/drawingml/2006/main">
            <a:off x="7943850" y="147764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1537C91-C980-4FE5-9D56-D8F10FFC712E}"/>
              </a:ext>
            </a:extLst>
          </p:cNvPr>
          <p:cNvSpPr>
            <a:spLocks xmlns:a="http://schemas.openxmlformats.org/drawingml/2006/main" noGrp="1"/>
          </p:cNvSpPr>
          <p:nvPr/>
        </p:nvSpPr>
        <p:spPr>
          <a:xfrm xmlns:a="http://schemas.openxmlformats.org/drawingml/2006/main">
            <a:off x="11163300" y="147764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9E0D210-AF82-488E-90F5-1952B5A9162F}"/>
              </a:ext>
            </a:extLst>
          </p:cNvPr>
          <p:cNvSpPr>
            <a:spLocks xmlns:a="http://schemas.openxmlformats.org/drawingml/2006/main" noGrp="1"/>
          </p:cNvSpPr>
          <p:nvPr/>
        </p:nvSpPr>
        <p:spPr>
          <a:xfrm xmlns:a="http://schemas.openxmlformats.org/drawingml/2006/main">
            <a:off x="844994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57209CE-0854-49AF-A90A-E04EF27FC9F2}"/>
              </a:ext>
            </a:extLst>
          </p:cNvPr>
          <p:cNvSpPr>
            <a:spLocks xmlns:a="http://schemas.openxmlformats.org/drawingml/2006/main" noGrp="1"/>
          </p:cNvSpPr>
          <p:nvPr/>
        </p:nvSpPr>
        <p:spPr>
          <a:xfrm xmlns:a="http://schemas.openxmlformats.org/drawingml/2006/main">
            <a:off x="844994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B7C25DA-4692-4228-B51A-FCDA4738F490}"/>
              </a:ext>
            </a:extLst>
          </p:cNvPr>
          <p:cNvSpPr>
            <a:spLocks xmlns:a="http://schemas.openxmlformats.org/drawingml/2006/main" noGrp="1"/>
          </p:cNvSpPr>
          <p:nvPr/>
        </p:nvSpPr>
        <p:spPr>
          <a:xfrm xmlns:a="http://schemas.openxmlformats.org/drawingml/2006/main">
            <a:off x="7943850" y="165036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64407DCA-FEEE-4FB6-8B74-9E3A674B68C2}"/>
              </a:ext>
            </a:extLst>
          </p:cNvPr>
          <p:cNvSpPr>
            <a:spLocks xmlns:a="http://schemas.openxmlformats.org/drawingml/2006/main" noGrp="1"/>
          </p:cNvSpPr>
          <p:nvPr/>
        </p:nvSpPr>
        <p:spPr>
          <a:xfrm xmlns:a="http://schemas.openxmlformats.org/drawingml/2006/main">
            <a:off x="11163300" y="165036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2CC5AD2-B8AB-40F6-99AB-BBB0A29031F9}"/>
              </a:ext>
            </a:extLst>
          </p:cNvPr>
          <p:cNvSpPr>
            <a:spLocks xmlns:a="http://schemas.openxmlformats.org/drawingml/2006/main" noGrp="1"/>
          </p:cNvSpPr>
          <p:nvPr/>
        </p:nvSpPr>
        <p:spPr>
          <a:xfrm xmlns:a="http://schemas.openxmlformats.org/drawingml/2006/main">
            <a:off x="862266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E675F5A3-53F0-4137-86D9-231B2F00C235}"/>
              </a:ext>
            </a:extLst>
          </p:cNvPr>
          <p:cNvSpPr>
            <a:spLocks xmlns:a="http://schemas.openxmlformats.org/drawingml/2006/main" noGrp="1"/>
          </p:cNvSpPr>
          <p:nvPr/>
        </p:nvSpPr>
        <p:spPr>
          <a:xfrm xmlns:a="http://schemas.openxmlformats.org/drawingml/2006/main">
            <a:off x="862266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415D5CD0-25AA-4116-896B-CBFCAD5CB4DE}"/>
              </a:ext>
            </a:extLst>
          </p:cNvPr>
          <p:cNvSpPr>
            <a:spLocks xmlns:a="http://schemas.openxmlformats.org/drawingml/2006/main" noGrp="1"/>
          </p:cNvSpPr>
          <p:nvPr/>
        </p:nvSpPr>
        <p:spPr>
          <a:xfrm xmlns:a="http://schemas.openxmlformats.org/drawingml/2006/main">
            <a:off x="7943850" y="182308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8E76FB0-EDC9-4E8F-8E4F-023F602B1EB2}"/>
              </a:ext>
            </a:extLst>
          </p:cNvPr>
          <p:cNvSpPr>
            <a:spLocks xmlns:a="http://schemas.openxmlformats.org/drawingml/2006/main" noGrp="1"/>
          </p:cNvSpPr>
          <p:nvPr/>
        </p:nvSpPr>
        <p:spPr>
          <a:xfrm xmlns:a="http://schemas.openxmlformats.org/drawingml/2006/main">
            <a:off x="11163300" y="182308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B73A589F-AC00-436F-8768-35DF30581D36}"/>
              </a:ext>
            </a:extLst>
          </p:cNvPr>
          <p:cNvSpPr>
            <a:spLocks xmlns:a="http://schemas.openxmlformats.org/drawingml/2006/main" noGrp="1"/>
          </p:cNvSpPr>
          <p:nvPr/>
        </p:nvSpPr>
        <p:spPr>
          <a:xfrm xmlns:a="http://schemas.openxmlformats.org/drawingml/2006/main">
            <a:off x="879538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BBFA2729-2093-4B1E-9C24-3F652BFCFA6E}"/>
              </a:ext>
            </a:extLst>
          </p:cNvPr>
          <p:cNvSpPr>
            <a:spLocks xmlns:a="http://schemas.openxmlformats.org/drawingml/2006/main" noGrp="1"/>
          </p:cNvSpPr>
          <p:nvPr/>
        </p:nvSpPr>
        <p:spPr>
          <a:xfrm xmlns:a="http://schemas.openxmlformats.org/drawingml/2006/main">
            <a:off x="879538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F4D2BA35-0753-42FB-97C5-86321F4CCEB5}"/>
              </a:ext>
            </a:extLst>
          </p:cNvPr>
          <p:cNvSpPr>
            <a:spLocks xmlns:a="http://schemas.openxmlformats.org/drawingml/2006/main" noGrp="1"/>
          </p:cNvSpPr>
          <p:nvPr/>
        </p:nvSpPr>
        <p:spPr>
          <a:xfrm xmlns:a="http://schemas.openxmlformats.org/drawingml/2006/main">
            <a:off x="7943850" y="199580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CC742B35-EC8C-4F71-B20C-02D550420B48}"/>
              </a:ext>
            </a:extLst>
          </p:cNvPr>
          <p:cNvSpPr>
            <a:spLocks xmlns:a="http://schemas.openxmlformats.org/drawingml/2006/main" noGrp="1"/>
          </p:cNvSpPr>
          <p:nvPr/>
        </p:nvSpPr>
        <p:spPr>
          <a:xfrm xmlns:a="http://schemas.openxmlformats.org/drawingml/2006/main">
            <a:off x="11163300" y="199580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E3CB412D-B453-49B7-96F2-CBCB4663B8C1}"/>
              </a:ext>
            </a:extLst>
          </p:cNvPr>
          <p:cNvSpPr>
            <a:spLocks xmlns:a="http://schemas.openxmlformats.org/drawingml/2006/main" noGrp="1"/>
          </p:cNvSpPr>
          <p:nvPr/>
        </p:nvSpPr>
        <p:spPr>
          <a:xfrm xmlns:a="http://schemas.openxmlformats.org/drawingml/2006/main">
            <a:off x="896810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5ED2A1E4-479C-483C-B2CC-E5C70CB1626E}"/>
              </a:ext>
            </a:extLst>
          </p:cNvPr>
          <p:cNvSpPr>
            <a:spLocks xmlns:a="http://schemas.openxmlformats.org/drawingml/2006/main" noGrp="1"/>
          </p:cNvSpPr>
          <p:nvPr/>
        </p:nvSpPr>
        <p:spPr>
          <a:xfrm xmlns:a="http://schemas.openxmlformats.org/drawingml/2006/main">
            <a:off x="896810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7DB3CAF1-A8BA-4A22-8D9B-46258AD4E436}"/>
              </a:ext>
            </a:extLst>
          </p:cNvPr>
          <p:cNvSpPr>
            <a:spLocks xmlns:a="http://schemas.openxmlformats.org/drawingml/2006/main" noGrp="1"/>
          </p:cNvSpPr>
          <p:nvPr/>
        </p:nvSpPr>
        <p:spPr>
          <a:xfrm xmlns:a="http://schemas.openxmlformats.org/drawingml/2006/main">
            <a:off x="7943850" y="216852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0E9B89E8-1DB7-4409-89A4-3BAEC7710F17}"/>
              </a:ext>
            </a:extLst>
          </p:cNvPr>
          <p:cNvSpPr>
            <a:spLocks xmlns:a="http://schemas.openxmlformats.org/drawingml/2006/main" noGrp="1"/>
          </p:cNvSpPr>
          <p:nvPr/>
        </p:nvSpPr>
        <p:spPr>
          <a:xfrm xmlns:a="http://schemas.openxmlformats.org/drawingml/2006/main">
            <a:off x="11163300" y="216852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75F737C1-2AE0-4E49-B594-FE14355D37A6}"/>
              </a:ext>
            </a:extLst>
          </p:cNvPr>
          <p:cNvSpPr>
            <a:spLocks xmlns:a="http://schemas.openxmlformats.org/drawingml/2006/main" noGrp="1"/>
          </p:cNvSpPr>
          <p:nvPr/>
        </p:nvSpPr>
        <p:spPr>
          <a:xfrm xmlns:a="http://schemas.openxmlformats.org/drawingml/2006/main">
            <a:off x="914082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0028ABE1-4EDC-4321-8477-F40C6915F296}"/>
              </a:ext>
            </a:extLst>
          </p:cNvPr>
          <p:cNvSpPr>
            <a:spLocks xmlns:a="http://schemas.openxmlformats.org/drawingml/2006/main" noGrp="1"/>
          </p:cNvSpPr>
          <p:nvPr/>
        </p:nvSpPr>
        <p:spPr>
          <a:xfrm xmlns:a="http://schemas.openxmlformats.org/drawingml/2006/main">
            <a:off x="914082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76A73CDA-5C06-4ECF-868A-7BBE60A209AF}"/>
              </a:ext>
            </a:extLst>
          </p:cNvPr>
          <p:cNvSpPr>
            <a:spLocks xmlns:a="http://schemas.openxmlformats.org/drawingml/2006/main" noGrp="1"/>
          </p:cNvSpPr>
          <p:nvPr/>
        </p:nvSpPr>
        <p:spPr>
          <a:xfrm xmlns:a="http://schemas.openxmlformats.org/drawingml/2006/main">
            <a:off x="7943850" y="234124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B3A2D9BB-B580-41F9-8BB6-831CC2CC8B09}"/>
              </a:ext>
            </a:extLst>
          </p:cNvPr>
          <p:cNvSpPr>
            <a:spLocks xmlns:a="http://schemas.openxmlformats.org/drawingml/2006/main" noGrp="1"/>
          </p:cNvSpPr>
          <p:nvPr/>
        </p:nvSpPr>
        <p:spPr>
          <a:xfrm xmlns:a="http://schemas.openxmlformats.org/drawingml/2006/main">
            <a:off x="11163300" y="234124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225F7869-C9FE-4F55-BFB8-FAD6DDAEBF7C}"/>
              </a:ext>
            </a:extLst>
          </p:cNvPr>
          <p:cNvSpPr>
            <a:spLocks xmlns:a="http://schemas.openxmlformats.org/drawingml/2006/main" noGrp="1"/>
          </p:cNvSpPr>
          <p:nvPr/>
        </p:nvSpPr>
        <p:spPr>
          <a:xfrm xmlns:a="http://schemas.openxmlformats.org/drawingml/2006/main">
            <a:off x="931354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C069EBEB-DA78-4BEE-96CC-A7EE3919ACA0}"/>
              </a:ext>
            </a:extLst>
          </p:cNvPr>
          <p:cNvSpPr>
            <a:spLocks xmlns:a="http://schemas.openxmlformats.org/drawingml/2006/main" noGrp="1"/>
          </p:cNvSpPr>
          <p:nvPr/>
        </p:nvSpPr>
        <p:spPr>
          <a:xfrm xmlns:a="http://schemas.openxmlformats.org/drawingml/2006/main">
            <a:off x="931354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F73080DF-F2D0-4706-92A0-2FFC994E51CB}"/>
              </a:ext>
            </a:extLst>
          </p:cNvPr>
          <p:cNvSpPr>
            <a:spLocks xmlns:a="http://schemas.openxmlformats.org/drawingml/2006/main" noGrp="1"/>
          </p:cNvSpPr>
          <p:nvPr/>
        </p:nvSpPr>
        <p:spPr>
          <a:xfrm xmlns:a="http://schemas.openxmlformats.org/drawingml/2006/main">
            <a:off x="7943850" y="251396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E4FB8C91-470B-4930-8E73-4C518572F589}"/>
              </a:ext>
            </a:extLst>
          </p:cNvPr>
          <p:cNvSpPr>
            <a:spLocks xmlns:a="http://schemas.openxmlformats.org/drawingml/2006/main" noGrp="1"/>
          </p:cNvSpPr>
          <p:nvPr/>
        </p:nvSpPr>
        <p:spPr>
          <a:xfrm xmlns:a="http://schemas.openxmlformats.org/drawingml/2006/main">
            <a:off x="11163300" y="251396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F5D60753-AA1B-4976-8718-F8124AE54A0F}"/>
              </a:ext>
            </a:extLst>
          </p:cNvPr>
          <p:cNvSpPr>
            <a:spLocks xmlns:a="http://schemas.openxmlformats.org/drawingml/2006/main" noGrp="1"/>
          </p:cNvSpPr>
          <p:nvPr/>
        </p:nvSpPr>
        <p:spPr>
          <a:xfrm xmlns:a="http://schemas.openxmlformats.org/drawingml/2006/main">
            <a:off x="948626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070D6441-CA5F-4954-BA7F-C5FBD2C977E9}"/>
              </a:ext>
            </a:extLst>
          </p:cNvPr>
          <p:cNvSpPr>
            <a:spLocks xmlns:a="http://schemas.openxmlformats.org/drawingml/2006/main" noGrp="1"/>
          </p:cNvSpPr>
          <p:nvPr/>
        </p:nvSpPr>
        <p:spPr>
          <a:xfrm xmlns:a="http://schemas.openxmlformats.org/drawingml/2006/main">
            <a:off x="948626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614AE1F5-9D7C-4494-AEFA-7ABAC41C4199}"/>
              </a:ext>
            </a:extLst>
          </p:cNvPr>
          <p:cNvSpPr>
            <a:spLocks xmlns:a="http://schemas.openxmlformats.org/drawingml/2006/main" noGrp="1"/>
          </p:cNvSpPr>
          <p:nvPr/>
        </p:nvSpPr>
        <p:spPr>
          <a:xfrm xmlns:a="http://schemas.openxmlformats.org/drawingml/2006/main">
            <a:off x="7943850" y="268668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AC7ABC4B-FB8F-4A50-BCCE-B2C2A5567ED5}"/>
              </a:ext>
            </a:extLst>
          </p:cNvPr>
          <p:cNvSpPr>
            <a:spLocks xmlns:a="http://schemas.openxmlformats.org/drawingml/2006/main" noGrp="1"/>
          </p:cNvSpPr>
          <p:nvPr/>
        </p:nvSpPr>
        <p:spPr>
          <a:xfrm xmlns:a="http://schemas.openxmlformats.org/drawingml/2006/main">
            <a:off x="11163300" y="268668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46DF6FBD-9A92-4CA2-8FFC-BE173C047943}"/>
              </a:ext>
            </a:extLst>
          </p:cNvPr>
          <p:cNvSpPr>
            <a:spLocks xmlns:a="http://schemas.openxmlformats.org/drawingml/2006/main" noGrp="1"/>
          </p:cNvSpPr>
          <p:nvPr/>
        </p:nvSpPr>
        <p:spPr>
          <a:xfrm xmlns:a="http://schemas.openxmlformats.org/drawingml/2006/main">
            <a:off x="965898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E0B7DC9E-48F6-46A2-B79B-7E5B2FB45899}"/>
              </a:ext>
            </a:extLst>
          </p:cNvPr>
          <p:cNvSpPr>
            <a:spLocks xmlns:a="http://schemas.openxmlformats.org/drawingml/2006/main" noGrp="1"/>
          </p:cNvSpPr>
          <p:nvPr/>
        </p:nvSpPr>
        <p:spPr>
          <a:xfrm xmlns:a="http://schemas.openxmlformats.org/drawingml/2006/main">
            <a:off x="965898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41E74F6B-D193-4614-9A23-302D4DBE9249}"/>
              </a:ext>
            </a:extLst>
          </p:cNvPr>
          <p:cNvSpPr>
            <a:spLocks xmlns:a="http://schemas.openxmlformats.org/drawingml/2006/main" noGrp="1"/>
          </p:cNvSpPr>
          <p:nvPr/>
        </p:nvSpPr>
        <p:spPr>
          <a:xfrm xmlns:a="http://schemas.openxmlformats.org/drawingml/2006/main">
            <a:off x="7943850" y="285940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4865D49D-3BD4-45FF-903F-6058D8BB3537}"/>
              </a:ext>
            </a:extLst>
          </p:cNvPr>
          <p:cNvSpPr>
            <a:spLocks xmlns:a="http://schemas.openxmlformats.org/drawingml/2006/main" noGrp="1"/>
          </p:cNvSpPr>
          <p:nvPr/>
        </p:nvSpPr>
        <p:spPr>
          <a:xfrm xmlns:a="http://schemas.openxmlformats.org/drawingml/2006/main">
            <a:off x="11163300" y="285940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D6BD3CEA-0B7A-4244-B735-A4A220B124EE}"/>
              </a:ext>
            </a:extLst>
          </p:cNvPr>
          <p:cNvSpPr>
            <a:spLocks xmlns:a="http://schemas.openxmlformats.org/drawingml/2006/main" noGrp="1"/>
          </p:cNvSpPr>
          <p:nvPr/>
        </p:nvSpPr>
        <p:spPr>
          <a:xfrm xmlns:a="http://schemas.openxmlformats.org/drawingml/2006/main">
            <a:off x="983170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D9B939C6-5D19-419D-8FE2-40A411007006}"/>
              </a:ext>
            </a:extLst>
          </p:cNvPr>
          <p:cNvSpPr>
            <a:spLocks xmlns:a="http://schemas.openxmlformats.org/drawingml/2006/main" noGrp="1"/>
          </p:cNvSpPr>
          <p:nvPr/>
        </p:nvSpPr>
        <p:spPr>
          <a:xfrm xmlns:a="http://schemas.openxmlformats.org/drawingml/2006/main">
            <a:off x="983170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CB202E56-87BE-4B20-88F1-0E572A3B19CA}"/>
              </a:ext>
            </a:extLst>
          </p:cNvPr>
          <p:cNvSpPr>
            <a:spLocks xmlns:a="http://schemas.openxmlformats.org/drawingml/2006/main" noGrp="1"/>
          </p:cNvSpPr>
          <p:nvPr/>
        </p:nvSpPr>
        <p:spPr>
          <a:xfrm xmlns:a="http://schemas.openxmlformats.org/drawingml/2006/main">
            <a:off x="7943850" y="303212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1A86117C-1B7B-479E-B1E4-CE0EA244B4A9}"/>
              </a:ext>
            </a:extLst>
          </p:cNvPr>
          <p:cNvSpPr>
            <a:spLocks xmlns:a="http://schemas.openxmlformats.org/drawingml/2006/main" noGrp="1"/>
          </p:cNvSpPr>
          <p:nvPr/>
        </p:nvSpPr>
        <p:spPr>
          <a:xfrm xmlns:a="http://schemas.openxmlformats.org/drawingml/2006/main">
            <a:off x="11163300" y="303212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1C90BA7E-6E9E-4FA9-A41E-345A9736C777}"/>
              </a:ext>
            </a:extLst>
          </p:cNvPr>
          <p:cNvSpPr>
            <a:spLocks xmlns:a="http://schemas.openxmlformats.org/drawingml/2006/main" noGrp="1"/>
          </p:cNvSpPr>
          <p:nvPr/>
        </p:nvSpPr>
        <p:spPr>
          <a:xfrm xmlns:a="http://schemas.openxmlformats.org/drawingml/2006/main">
            <a:off x="1000442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8B10169A-791C-41A7-81CC-6F2132A6BA58}"/>
              </a:ext>
            </a:extLst>
          </p:cNvPr>
          <p:cNvSpPr>
            <a:spLocks xmlns:a="http://schemas.openxmlformats.org/drawingml/2006/main" noGrp="1"/>
          </p:cNvSpPr>
          <p:nvPr/>
        </p:nvSpPr>
        <p:spPr>
          <a:xfrm xmlns:a="http://schemas.openxmlformats.org/drawingml/2006/main">
            <a:off x="1000442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EBE5AA9D-B3C2-48D9-9CC5-15046322D6BD}"/>
              </a:ext>
            </a:extLst>
          </p:cNvPr>
          <p:cNvSpPr>
            <a:spLocks xmlns:a="http://schemas.openxmlformats.org/drawingml/2006/main" noGrp="1"/>
          </p:cNvSpPr>
          <p:nvPr/>
        </p:nvSpPr>
        <p:spPr>
          <a:xfrm xmlns:a="http://schemas.openxmlformats.org/drawingml/2006/main">
            <a:off x="7943850" y="320484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6B75B4CB-35B3-447D-92CE-8AC0C26D1ED8}"/>
              </a:ext>
            </a:extLst>
          </p:cNvPr>
          <p:cNvSpPr>
            <a:spLocks xmlns:a="http://schemas.openxmlformats.org/drawingml/2006/main" noGrp="1"/>
          </p:cNvSpPr>
          <p:nvPr/>
        </p:nvSpPr>
        <p:spPr>
          <a:xfrm xmlns:a="http://schemas.openxmlformats.org/drawingml/2006/main">
            <a:off x="11163300" y="320484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927C0DD1-9F98-4152-9086-41BD29B6E554}"/>
              </a:ext>
            </a:extLst>
          </p:cNvPr>
          <p:cNvSpPr>
            <a:spLocks xmlns:a="http://schemas.openxmlformats.org/drawingml/2006/main" noGrp="1"/>
          </p:cNvSpPr>
          <p:nvPr/>
        </p:nvSpPr>
        <p:spPr>
          <a:xfrm xmlns:a="http://schemas.openxmlformats.org/drawingml/2006/main">
            <a:off x="1017714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8DFDB96B-9A19-46A0-BF2C-1583EC5AE59E}"/>
              </a:ext>
            </a:extLst>
          </p:cNvPr>
          <p:cNvSpPr>
            <a:spLocks xmlns:a="http://schemas.openxmlformats.org/drawingml/2006/main" noGrp="1"/>
          </p:cNvSpPr>
          <p:nvPr/>
        </p:nvSpPr>
        <p:spPr>
          <a:xfrm xmlns:a="http://schemas.openxmlformats.org/drawingml/2006/main">
            <a:off x="1017714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429B908B-6566-4138-AB5A-9C87A6B0DB94}"/>
              </a:ext>
            </a:extLst>
          </p:cNvPr>
          <p:cNvSpPr>
            <a:spLocks xmlns:a="http://schemas.openxmlformats.org/drawingml/2006/main" noGrp="1"/>
          </p:cNvSpPr>
          <p:nvPr/>
        </p:nvSpPr>
        <p:spPr>
          <a:xfrm xmlns:a="http://schemas.openxmlformats.org/drawingml/2006/main">
            <a:off x="7943850" y="337756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80B433C6-BF3B-475C-AF4C-0E0E01E8DF71}"/>
              </a:ext>
            </a:extLst>
          </p:cNvPr>
          <p:cNvSpPr>
            <a:spLocks xmlns:a="http://schemas.openxmlformats.org/drawingml/2006/main" noGrp="1"/>
          </p:cNvSpPr>
          <p:nvPr/>
        </p:nvSpPr>
        <p:spPr>
          <a:xfrm xmlns:a="http://schemas.openxmlformats.org/drawingml/2006/main">
            <a:off x="11163300" y="337756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7" name="">
            <a:extLst xmlns:a="http://schemas.openxmlformats.org/drawingml/2006/main">
              <a:ext uri="{FF2B5EF4-FFF2-40B4-BE49-F238E27FC236}">
                <a16:creationId xmlns:a16="http://schemas.microsoft.com/office/drawing/2014/main" id="{360BE7DD-2A24-492F-8C1E-C58C94FA69D4}"/>
              </a:ext>
            </a:extLst>
          </p:cNvPr>
          <p:cNvSpPr>
            <a:spLocks xmlns:a="http://schemas.openxmlformats.org/drawingml/2006/main" noGrp="1"/>
          </p:cNvSpPr>
          <p:nvPr/>
        </p:nvSpPr>
        <p:spPr>
          <a:xfrm xmlns:a="http://schemas.openxmlformats.org/drawingml/2006/main">
            <a:off x="1034986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7F3EBBC0-D5E6-48E3-9885-8B825C4F37A2}"/>
              </a:ext>
            </a:extLst>
          </p:cNvPr>
          <p:cNvSpPr>
            <a:spLocks xmlns:a="http://schemas.openxmlformats.org/drawingml/2006/main" noGrp="1"/>
          </p:cNvSpPr>
          <p:nvPr/>
        </p:nvSpPr>
        <p:spPr>
          <a:xfrm xmlns:a="http://schemas.openxmlformats.org/drawingml/2006/main">
            <a:off x="1034986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8280D031-A5A1-4FA9-8C3C-4477D3E06AEA}"/>
              </a:ext>
            </a:extLst>
          </p:cNvPr>
          <p:cNvSpPr>
            <a:spLocks xmlns:a="http://schemas.openxmlformats.org/drawingml/2006/main" noGrp="1"/>
          </p:cNvSpPr>
          <p:nvPr/>
        </p:nvSpPr>
        <p:spPr>
          <a:xfrm xmlns:a="http://schemas.openxmlformats.org/drawingml/2006/main">
            <a:off x="7943850" y="355028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C951F324-3987-434F-AED1-14B2FB471031}"/>
              </a:ext>
            </a:extLst>
          </p:cNvPr>
          <p:cNvSpPr>
            <a:spLocks xmlns:a="http://schemas.openxmlformats.org/drawingml/2006/main" noGrp="1"/>
          </p:cNvSpPr>
          <p:nvPr/>
        </p:nvSpPr>
        <p:spPr>
          <a:xfrm xmlns:a="http://schemas.openxmlformats.org/drawingml/2006/main">
            <a:off x="11163300" y="355028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3B0E78EA-FCE5-40D0-9DDE-CCE6603380FF}"/>
              </a:ext>
            </a:extLst>
          </p:cNvPr>
          <p:cNvSpPr>
            <a:spLocks xmlns:a="http://schemas.openxmlformats.org/drawingml/2006/main" noGrp="1"/>
          </p:cNvSpPr>
          <p:nvPr/>
        </p:nvSpPr>
        <p:spPr>
          <a:xfrm xmlns:a="http://schemas.openxmlformats.org/drawingml/2006/main">
            <a:off x="1052258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2558F6DA-1C31-4E0B-957C-705B17ABAE4E}"/>
              </a:ext>
            </a:extLst>
          </p:cNvPr>
          <p:cNvSpPr>
            <a:spLocks xmlns:a="http://schemas.openxmlformats.org/drawingml/2006/main" noGrp="1"/>
          </p:cNvSpPr>
          <p:nvPr/>
        </p:nvSpPr>
        <p:spPr>
          <a:xfrm xmlns:a="http://schemas.openxmlformats.org/drawingml/2006/main">
            <a:off x="1052258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3" name="">
            <a:extLst xmlns:a="http://schemas.openxmlformats.org/drawingml/2006/main">
              <a:ext uri="{FF2B5EF4-FFF2-40B4-BE49-F238E27FC236}">
                <a16:creationId xmlns:a16="http://schemas.microsoft.com/office/drawing/2014/main" id="{8236B4BE-E5D9-416A-8CE9-AED6225B1595}"/>
              </a:ext>
            </a:extLst>
          </p:cNvPr>
          <p:cNvSpPr>
            <a:spLocks xmlns:a="http://schemas.openxmlformats.org/drawingml/2006/main" noGrp="1"/>
          </p:cNvSpPr>
          <p:nvPr/>
        </p:nvSpPr>
        <p:spPr>
          <a:xfrm xmlns:a="http://schemas.openxmlformats.org/drawingml/2006/main">
            <a:off x="7943850" y="372300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01D90339-2FA8-4F2A-B75C-F4B653BCD652}"/>
              </a:ext>
            </a:extLst>
          </p:cNvPr>
          <p:cNvSpPr>
            <a:spLocks xmlns:a="http://schemas.openxmlformats.org/drawingml/2006/main" noGrp="1"/>
          </p:cNvSpPr>
          <p:nvPr/>
        </p:nvSpPr>
        <p:spPr>
          <a:xfrm xmlns:a="http://schemas.openxmlformats.org/drawingml/2006/main">
            <a:off x="11163300" y="372300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F52E9C81-4FAE-4D87-8A38-84200D35C8D8}"/>
              </a:ext>
            </a:extLst>
          </p:cNvPr>
          <p:cNvSpPr>
            <a:spLocks xmlns:a="http://schemas.openxmlformats.org/drawingml/2006/main" noGrp="1"/>
          </p:cNvSpPr>
          <p:nvPr/>
        </p:nvSpPr>
        <p:spPr>
          <a:xfrm xmlns:a="http://schemas.openxmlformats.org/drawingml/2006/main">
            <a:off x="1069530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6" name="">
            <a:extLst xmlns:a="http://schemas.openxmlformats.org/drawingml/2006/main">
              <a:ext uri="{FF2B5EF4-FFF2-40B4-BE49-F238E27FC236}">
                <a16:creationId xmlns:a16="http://schemas.microsoft.com/office/drawing/2014/main" id="{A3C03D50-7F29-4904-B8F2-66706778EB39}"/>
              </a:ext>
            </a:extLst>
          </p:cNvPr>
          <p:cNvSpPr>
            <a:spLocks xmlns:a="http://schemas.openxmlformats.org/drawingml/2006/main" noGrp="1"/>
          </p:cNvSpPr>
          <p:nvPr/>
        </p:nvSpPr>
        <p:spPr>
          <a:xfrm xmlns:a="http://schemas.openxmlformats.org/drawingml/2006/main">
            <a:off x="1069530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7" name="">
            <a:extLst xmlns:a="http://schemas.openxmlformats.org/drawingml/2006/main">
              <a:ext uri="{FF2B5EF4-FFF2-40B4-BE49-F238E27FC236}">
                <a16:creationId xmlns:a16="http://schemas.microsoft.com/office/drawing/2014/main" id="{311FB72B-1158-4BCA-9598-02B8A75ADB10}"/>
              </a:ext>
            </a:extLst>
          </p:cNvPr>
          <p:cNvSpPr>
            <a:spLocks xmlns:a="http://schemas.openxmlformats.org/drawingml/2006/main" noGrp="1"/>
          </p:cNvSpPr>
          <p:nvPr/>
        </p:nvSpPr>
        <p:spPr>
          <a:xfrm xmlns:a="http://schemas.openxmlformats.org/drawingml/2006/main">
            <a:off x="7943850" y="389572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8" name="">
            <a:extLst xmlns:a="http://schemas.openxmlformats.org/drawingml/2006/main">
              <a:ext uri="{FF2B5EF4-FFF2-40B4-BE49-F238E27FC236}">
                <a16:creationId xmlns:a16="http://schemas.microsoft.com/office/drawing/2014/main" id="{99D763F2-826E-4423-AA04-18CFDAB92468}"/>
              </a:ext>
            </a:extLst>
          </p:cNvPr>
          <p:cNvSpPr>
            <a:spLocks xmlns:a="http://schemas.openxmlformats.org/drawingml/2006/main" noGrp="1"/>
          </p:cNvSpPr>
          <p:nvPr/>
        </p:nvSpPr>
        <p:spPr>
          <a:xfrm xmlns:a="http://schemas.openxmlformats.org/drawingml/2006/main">
            <a:off x="11163300" y="389572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9" name="">
            <a:extLst xmlns:a="http://schemas.openxmlformats.org/drawingml/2006/main">
              <a:ext uri="{FF2B5EF4-FFF2-40B4-BE49-F238E27FC236}">
                <a16:creationId xmlns:a16="http://schemas.microsoft.com/office/drawing/2014/main" id="{41D5B9EE-D742-4ADF-A5E1-D09FFB6BC2F1}"/>
              </a:ext>
            </a:extLst>
          </p:cNvPr>
          <p:cNvSpPr>
            <a:spLocks xmlns:a="http://schemas.openxmlformats.org/drawingml/2006/main" noGrp="1"/>
          </p:cNvSpPr>
          <p:nvPr/>
        </p:nvSpPr>
        <p:spPr>
          <a:xfrm xmlns:a="http://schemas.openxmlformats.org/drawingml/2006/main">
            <a:off x="1086802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70" name="">
            <a:extLst xmlns:a="http://schemas.openxmlformats.org/drawingml/2006/main">
              <a:ext uri="{FF2B5EF4-FFF2-40B4-BE49-F238E27FC236}">
                <a16:creationId xmlns:a16="http://schemas.microsoft.com/office/drawing/2014/main" id="{F52B6631-E0F4-4F85-9959-3BE6F1C621B2}"/>
              </a:ext>
            </a:extLst>
          </p:cNvPr>
          <p:cNvSpPr>
            <a:spLocks xmlns:a="http://schemas.openxmlformats.org/drawingml/2006/main" noGrp="1"/>
          </p:cNvSpPr>
          <p:nvPr/>
        </p:nvSpPr>
        <p:spPr>
          <a:xfrm xmlns:a="http://schemas.openxmlformats.org/drawingml/2006/main">
            <a:off x="1086802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71" name="">
            <a:extLst xmlns:a="http://schemas.openxmlformats.org/drawingml/2006/main">
              <a:ext uri="{FF2B5EF4-FFF2-40B4-BE49-F238E27FC236}">
                <a16:creationId xmlns:a16="http://schemas.microsoft.com/office/drawing/2014/main" id="{A1A18D26-6B3C-430B-9A61-3D55142FFC60}"/>
              </a:ext>
            </a:extLst>
          </p:cNvPr>
          <p:cNvSpPr>
            <a:spLocks xmlns:a="http://schemas.openxmlformats.org/drawingml/2006/main" noGrp="1"/>
          </p:cNvSpPr>
          <p:nvPr/>
        </p:nvSpPr>
        <p:spPr>
          <a:xfrm xmlns:a="http://schemas.openxmlformats.org/drawingml/2006/main">
            <a:off x="8286750" y="1314450"/>
            <a:ext cx="133350" cy="133350"/>
          </a:xfrm>
          <a:prstGeom xmlns:a="http://schemas.openxmlformats.org/drawingml/2006/main" prst="ellipse">
            <a:avLst/>
          </a:prstGeom>
          <a:solidFill xmlns:a="http://schemas.openxmlformats.org/drawingml/2006/main">
            <a:srgbClr val="00B4D8"/>
          </a:solidFill>
          <a:ln xmlns:a="http://schemas.openxmlformats.org/drawingml/2006/main" w="0">
            <a:noFill/>
            <a:prstDash val="solid"/>
          </a:ln>
        </p:spPr>
      </p:sp>
      <p:sp>
        <p:nvSpPr>
          <p:cNvPr id="72" name="">
            <a:extLst xmlns:a="http://schemas.openxmlformats.org/drawingml/2006/main">
              <a:ext uri="{FF2B5EF4-FFF2-40B4-BE49-F238E27FC236}">
                <a16:creationId xmlns:a16="http://schemas.microsoft.com/office/drawing/2014/main" id="{2B567EE2-526A-4CCF-B2B6-6FC2721D7ABB}"/>
              </a:ext>
            </a:extLst>
          </p:cNvPr>
          <p:cNvSpPr>
            <a:spLocks xmlns:a="http://schemas.openxmlformats.org/drawingml/2006/main" noGrp="1"/>
          </p:cNvSpPr>
          <p:nvPr/>
        </p:nvSpPr>
        <p:spPr>
          <a:xfrm xmlns:a="http://schemas.openxmlformats.org/drawingml/2006/main">
            <a:off x="8991600" y="1671638"/>
            <a:ext cx="1257300" cy="1952625"/>
          </a:xfrm>
          <a:prstGeom xmlns:a="http://schemas.openxmlformats.org/drawingml/2006/main" prst="rect">
            <a:avLst/>
          </a:prstGeom>
          <a:solidFill xmlns:a="http://schemas.openxmlformats.org/drawingml/2006/main">
            <a:srgbClr val="1E3A55"/>
          </a:solidFill>
          <a:ln xmlns:a="http://schemas.openxmlformats.org/drawingml/2006/main" w="9525">
            <a:solidFill>
              <a:srgbClr val="8DB4D4"/>
            </a:solidFill>
            <a:prstDash val="solid"/>
          </a:ln>
        </p:spPr>
      </p:sp>
      <p:sp>
        <p:nvSpPr>
          <p:cNvPr id="73" name="">
            <a:extLst xmlns:a="http://schemas.openxmlformats.org/drawingml/2006/main">
              <a:ext uri="{FF2B5EF4-FFF2-40B4-BE49-F238E27FC236}">
                <a16:creationId xmlns:a16="http://schemas.microsoft.com/office/drawing/2014/main" id="{9A237FE7-27EF-4A02-A00B-ACD37EEA431B}"/>
              </a:ext>
            </a:extLst>
          </p:cNvPr>
          <p:cNvSpPr>
            <a:spLocks xmlns:a="http://schemas.openxmlformats.org/drawingml/2006/main" noGrp="1"/>
          </p:cNvSpPr>
          <p:nvPr/>
        </p:nvSpPr>
        <p:spPr>
          <a:xfrm xmlns:a="http://schemas.openxmlformats.org/drawingml/2006/main">
            <a:off x="9105900" y="1804988"/>
            <a:ext cx="476250" cy="590550"/>
          </a:xfrm>
          <a:prstGeom xmlns:a="http://schemas.openxmlformats.org/drawingml/2006/main" prst="rect">
            <a:avLst/>
          </a:prstGeom>
          <a:solidFill xmlns:a="http://schemas.openxmlformats.org/drawingml/2006/main">
            <a:srgbClr val="2B5277"/>
          </a:solidFill>
          <a:ln xmlns:a="http://schemas.openxmlformats.org/drawingml/2006/main" w="0">
            <a:noFill/>
            <a:prstDash val="solid"/>
          </a:ln>
        </p:spPr>
      </p:sp>
      <p:sp>
        <p:nvSpPr>
          <p:cNvPr id="74" name="">
            <a:extLst xmlns:a="http://schemas.openxmlformats.org/drawingml/2006/main">
              <a:ext uri="{FF2B5EF4-FFF2-40B4-BE49-F238E27FC236}">
                <a16:creationId xmlns:a16="http://schemas.microsoft.com/office/drawing/2014/main" id="{01D93A48-7F5C-46CF-A8A1-9105CA22080E}"/>
              </a:ext>
            </a:extLst>
          </p:cNvPr>
          <p:cNvSpPr>
            <a:spLocks xmlns:a="http://schemas.openxmlformats.org/drawingml/2006/main" noGrp="1"/>
          </p:cNvSpPr>
          <p:nvPr/>
        </p:nvSpPr>
        <p:spPr>
          <a:xfrm xmlns:a="http://schemas.openxmlformats.org/drawingml/2006/main">
            <a:off x="9658350" y="1804988"/>
            <a:ext cx="476250" cy="590550"/>
          </a:xfrm>
          <a:prstGeom xmlns:a="http://schemas.openxmlformats.org/drawingml/2006/main" prst="rect">
            <a:avLst/>
          </a:prstGeom>
          <a:solidFill xmlns:a="http://schemas.openxmlformats.org/drawingml/2006/main">
            <a:srgbClr val="2B5277"/>
          </a:solidFill>
          <a:ln xmlns:a="http://schemas.openxmlformats.org/drawingml/2006/main" w="0">
            <a:noFill/>
            <a:prstDash val="solid"/>
          </a:ln>
        </p:spPr>
      </p:sp>
      <p:sp>
        <p:nvSpPr>
          <p:cNvPr id="75" name="">
            <a:extLst xmlns:a="http://schemas.openxmlformats.org/drawingml/2006/main">
              <a:ext uri="{FF2B5EF4-FFF2-40B4-BE49-F238E27FC236}">
                <a16:creationId xmlns:a16="http://schemas.microsoft.com/office/drawing/2014/main" id="{E5CB0742-8CC1-4847-B2DF-7E89E49642B4}"/>
              </a:ext>
            </a:extLst>
          </p:cNvPr>
          <p:cNvSpPr>
            <a:spLocks xmlns:a="http://schemas.openxmlformats.org/drawingml/2006/main" noGrp="1"/>
          </p:cNvSpPr>
          <p:nvPr/>
        </p:nvSpPr>
        <p:spPr>
          <a:xfrm xmlns:a="http://schemas.openxmlformats.org/drawingml/2006/main">
            <a:off x="9105900" y="2471738"/>
            <a:ext cx="1028700" cy="95250"/>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76" name="">
            <a:extLst xmlns:a="http://schemas.openxmlformats.org/drawingml/2006/main">
              <a:ext uri="{FF2B5EF4-FFF2-40B4-BE49-F238E27FC236}">
                <a16:creationId xmlns:a16="http://schemas.microsoft.com/office/drawing/2014/main" id="{3537FB86-35C5-41A6-A949-1521364A2279}"/>
              </a:ext>
            </a:extLst>
          </p:cNvPr>
          <p:cNvSpPr>
            <a:spLocks xmlns:a="http://schemas.openxmlformats.org/drawingml/2006/main" noGrp="1"/>
          </p:cNvSpPr>
          <p:nvPr/>
        </p:nvSpPr>
        <p:spPr>
          <a:xfrm xmlns:a="http://schemas.openxmlformats.org/drawingml/2006/main">
            <a:off x="9105900" y="2662238"/>
            <a:ext cx="209550" cy="1524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77" name="">
            <a:extLst xmlns:a="http://schemas.openxmlformats.org/drawingml/2006/main">
              <a:ext uri="{FF2B5EF4-FFF2-40B4-BE49-F238E27FC236}">
                <a16:creationId xmlns:a16="http://schemas.microsoft.com/office/drawing/2014/main" id="{A5ACC265-32F0-4F01-A47D-E0A8B8C5F10B}"/>
              </a:ext>
            </a:extLst>
          </p:cNvPr>
          <p:cNvSpPr>
            <a:spLocks xmlns:a="http://schemas.openxmlformats.org/drawingml/2006/main" noGrp="1"/>
          </p:cNvSpPr>
          <p:nvPr/>
        </p:nvSpPr>
        <p:spPr>
          <a:xfrm xmlns:a="http://schemas.openxmlformats.org/drawingml/2006/main">
            <a:off x="9372600" y="2662238"/>
            <a:ext cx="209550" cy="1524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78" name="">
            <a:extLst xmlns:a="http://schemas.openxmlformats.org/drawingml/2006/main">
              <a:ext uri="{FF2B5EF4-FFF2-40B4-BE49-F238E27FC236}">
                <a16:creationId xmlns:a16="http://schemas.microsoft.com/office/drawing/2014/main" id="{52D50E16-C629-4BD9-95F0-CDAE3927DDB9}"/>
              </a:ext>
            </a:extLst>
          </p:cNvPr>
          <p:cNvSpPr>
            <a:spLocks xmlns:a="http://schemas.openxmlformats.org/drawingml/2006/main" noGrp="1"/>
          </p:cNvSpPr>
          <p:nvPr/>
        </p:nvSpPr>
        <p:spPr>
          <a:xfrm xmlns:a="http://schemas.openxmlformats.org/drawingml/2006/main">
            <a:off x="9639300" y="2662238"/>
            <a:ext cx="209550" cy="1524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79" name="">
            <a:extLst xmlns:a="http://schemas.openxmlformats.org/drawingml/2006/main">
              <a:ext uri="{FF2B5EF4-FFF2-40B4-BE49-F238E27FC236}">
                <a16:creationId xmlns:a16="http://schemas.microsoft.com/office/drawing/2014/main" id="{D5FE6F31-CC4D-4512-A153-7B1D45AF1E22}"/>
              </a:ext>
            </a:extLst>
          </p:cNvPr>
          <p:cNvSpPr>
            <a:spLocks xmlns:a="http://schemas.openxmlformats.org/drawingml/2006/main" noGrp="1"/>
          </p:cNvSpPr>
          <p:nvPr/>
        </p:nvSpPr>
        <p:spPr>
          <a:xfrm xmlns:a="http://schemas.openxmlformats.org/drawingml/2006/main">
            <a:off x="9906000" y="2662238"/>
            <a:ext cx="209550" cy="1524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80" name="">
            <a:extLst xmlns:a="http://schemas.openxmlformats.org/drawingml/2006/main">
              <a:ext uri="{FF2B5EF4-FFF2-40B4-BE49-F238E27FC236}">
                <a16:creationId xmlns:a16="http://schemas.microsoft.com/office/drawing/2014/main" id="{A68ABF38-4DE5-4B05-B3E6-C176743B4F15}"/>
              </a:ext>
            </a:extLst>
          </p:cNvPr>
          <p:cNvSpPr>
            <a:spLocks xmlns:a="http://schemas.openxmlformats.org/drawingml/2006/main" noGrp="1"/>
          </p:cNvSpPr>
          <p:nvPr/>
        </p:nvSpPr>
        <p:spPr>
          <a:xfrm xmlns:a="http://schemas.openxmlformats.org/drawingml/2006/main">
            <a:off x="9105900" y="2871788"/>
            <a:ext cx="209550" cy="1524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81" name="">
            <a:extLst xmlns:a="http://schemas.openxmlformats.org/drawingml/2006/main">
              <a:ext uri="{FF2B5EF4-FFF2-40B4-BE49-F238E27FC236}">
                <a16:creationId xmlns:a16="http://schemas.microsoft.com/office/drawing/2014/main" id="{ABC7E907-54AC-471C-A5F3-75CA57205A57}"/>
              </a:ext>
            </a:extLst>
          </p:cNvPr>
          <p:cNvSpPr>
            <a:spLocks xmlns:a="http://schemas.openxmlformats.org/drawingml/2006/main" noGrp="1"/>
          </p:cNvSpPr>
          <p:nvPr/>
        </p:nvSpPr>
        <p:spPr>
          <a:xfrm xmlns:a="http://schemas.openxmlformats.org/drawingml/2006/main">
            <a:off x="9372600" y="2871788"/>
            <a:ext cx="209550" cy="1524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82" name="">
            <a:extLst xmlns:a="http://schemas.openxmlformats.org/drawingml/2006/main">
              <a:ext uri="{FF2B5EF4-FFF2-40B4-BE49-F238E27FC236}">
                <a16:creationId xmlns:a16="http://schemas.microsoft.com/office/drawing/2014/main" id="{9ED7E809-7B40-4CEF-B524-629DAA21479E}"/>
              </a:ext>
            </a:extLst>
          </p:cNvPr>
          <p:cNvSpPr>
            <a:spLocks xmlns:a="http://schemas.openxmlformats.org/drawingml/2006/main" noGrp="1"/>
          </p:cNvSpPr>
          <p:nvPr/>
        </p:nvSpPr>
        <p:spPr>
          <a:xfrm xmlns:a="http://schemas.openxmlformats.org/drawingml/2006/main">
            <a:off x="9639300" y="2871788"/>
            <a:ext cx="209550" cy="1524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83" name="">
            <a:extLst xmlns:a="http://schemas.openxmlformats.org/drawingml/2006/main">
              <a:ext uri="{FF2B5EF4-FFF2-40B4-BE49-F238E27FC236}">
                <a16:creationId xmlns:a16="http://schemas.microsoft.com/office/drawing/2014/main" id="{49A58359-E40E-4071-BA24-4B830348215B}"/>
              </a:ext>
            </a:extLst>
          </p:cNvPr>
          <p:cNvSpPr>
            <a:spLocks xmlns:a="http://schemas.openxmlformats.org/drawingml/2006/main" noGrp="1"/>
          </p:cNvSpPr>
          <p:nvPr/>
        </p:nvSpPr>
        <p:spPr>
          <a:xfrm xmlns:a="http://schemas.openxmlformats.org/drawingml/2006/main">
            <a:off x="9906000" y="2871788"/>
            <a:ext cx="209550" cy="1524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84" name="">
            <a:extLst xmlns:a="http://schemas.openxmlformats.org/drawingml/2006/main">
              <a:ext uri="{FF2B5EF4-FFF2-40B4-BE49-F238E27FC236}">
                <a16:creationId xmlns:a16="http://schemas.microsoft.com/office/drawing/2014/main" id="{2DEA6AE9-84D3-4FA1-B072-46C717BC3DC2}"/>
              </a:ext>
            </a:extLst>
          </p:cNvPr>
          <p:cNvSpPr>
            <a:spLocks xmlns:a="http://schemas.openxmlformats.org/drawingml/2006/main" noGrp="1"/>
          </p:cNvSpPr>
          <p:nvPr/>
        </p:nvSpPr>
        <p:spPr>
          <a:xfrm xmlns:a="http://schemas.openxmlformats.org/drawingml/2006/main">
            <a:off x="9105900" y="3081338"/>
            <a:ext cx="209550" cy="1524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85" name="">
            <a:extLst xmlns:a="http://schemas.openxmlformats.org/drawingml/2006/main">
              <a:ext uri="{FF2B5EF4-FFF2-40B4-BE49-F238E27FC236}">
                <a16:creationId xmlns:a16="http://schemas.microsoft.com/office/drawing/2014/main" id="{FD76F55E-8C28-418D-838B-9D2C7F96722F}"/>
              </a:ext>
            </a:extLst>
          </p:cNvPr>
          <p:cNvSpPr>
            <a:spLocks xmlns:a="http://schemas.openxmlformats.org/drawingml/2006/main" noGrp="1"/>
          </p:cNvSpPr>
          <p:nvPr/>
        </p:nvSpPr>
        <p:spPr>
          <a:xfrm xmlns:a="http://schemas.openxmlformats.org/drawingml/2006/main">
            <a:off x="9372600" y="3081338"/>
            <a:ext cx="209550" cy="1524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86" name="">
            <a:extLst xmlns:a="http://schemas.openxmlformats.org/drawingml/2006/main">
              <a:ext uri="{FF2B5EF4-FFF2-40B4-BE49-F238E27FC236}">
                <a16:creationId xmlns:a16="http://schemas.microsoft.com/office/drawing/2014/main" id="{E550EFC2-1623-4CA4-B310-542F353BE3B7}"/>
              </a:ext>
            </a:extLst>
          </p:cNvPr>
          <p:cNvSpPr>
            <a:spLocks xmlns:a="http://schemas.openxmlformats.org/drawingml/2006/main" noGrp="1"/>
          </p:cNvSpPr>
          <p:nvPr/>
        </p:nvSpPr>
        <p:spPr>
          <a:xfrm xmlns:a="http://schemas.openxmlformats.org/drawingml/2006/main">
            <a:off x="9639300" y="3081338"/>
            <a:ext cx="209550" cy="1524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87" name="">
            <a:extLst xmlns:a="http://schemas.openxmlformats.org/drawingml/2006/main">
              <a:ext uri="{FF2B5EF4-FFF2-40B4-BE49-F238E27FC236}">
                <a16:creationId xmlns:a16="http://schemas.microsoft.com/office/drawing/2014/main" id="{706B6347-D2E1-4CD3-8F1C-68FE580D1202}"/>
              </a:ext>
            </a:extLst>
          </p:cNvPr>
          <p:cNvSpPr>
            <a:spLocks xmlns:a="http://schemas.openxmlformats.org/drawingml/2006/main" noGrp="1"/>
          </p:cNvSpPr>
          <p:nvPr/>
        </p:nvSpPr>
        <p:spPr>
          <a:xfrm xmlns:a="http://schemas.openxmlformats.org/drawingml/2006/main">
            <a:off x="9906000" y="3081338"/>
            <a:ext cx="209550" cy="1524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88" name="">
            <a:extLst xmlns:a="http://schemas.openxmlformats.org/drawingml/2006/main">
              <a:ext uri="{FF2B5EF4-FFF2-40B4-BE49-F238E27FC236}">
                <a16:creationId xmlns:a16="http://schemas.microsoft.com/office/drawing/2014/main" id="{B303FC14-5765-4DC5-8687-EA9B594E68DC}"/>
              </a:ext>
            </a:extLst>
          </p:cNvPr>
          <p:cNvSpPr>
            <a:spLocks xmlns:a="http://schemas.openxmlformats.org/drawingml/2006/main" noGrp="1"/>
          </p:cNvSpPr>
          <p:nvPr/>
        </p:nvSpPr>
        <p:spPr>
          <a:xfrm xmlns:a="http://schemas.openxmlformats.org/drawingml/2006/main">
            <a:off x="9105900" y="3328988"/>
            <a:ext cx="476250" cy="190500"/>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89" name="">
            <a:extLst xmlns:a="http://schemas.openxmlformats.org/drawingml/2006/main">
              <a:ext uri="{FF2B5EF4-FFF2-40B4-BE49-F238E27FC236}">
                <a16:creationId xmlns:a16="http://schemas.microsoft.com/office/drawing/2014/main" id="{6DAC180F-D169-4447-AF26-6F7C9A82F2B9}"/>
              </a:ext>
            </a:extLst>
          </p:cNvPr>
          <p:cNvSpPr>
            <a:spLocks xmlns:a="http://schemas.openxmlformats.org/drawingml/2006/main" noGrp="1"/>
          </p:cNvSpPr>
          <p:nvPr/>
        </p:nvSpPr>
        <p:spPr>
          <a:xfrm xmlns:a="http://schemas.openxmlformats.org/drawingml/2006/main">
            <a:off x="9658350" y="3328988"/>
            <a:ext cx="476250" cy="190500"/>
          </a:xfrm>
          <a:prstGeom xmlns:a="http://schemas.openxmlformats.org/drawingml/2006/main" prst="rect">
            <a:avLst/>
          </a:prstGeom>
          <a:solidFill xmlns:a="http://schemas.openxmlformats.org/drawingml/2006/main">
            <a:srgbClr val="2B5277"/>
          </a:solidFill>
          <a:ln xmlns:a="http://schemas.openxmlformats.org/drawingml/2006/main" w="0">
            <a:noFill/>
            <a:prstDash val="solid"/>
          </a:ln>
        </p:spPr>
      </p:sp>
      <p:sp>
        <p:nvSpPr>
          <p:cNvPr id="90" name="">
            <a:extLst xmlns:a="http://schemas.openxmlformats.org/drawingml/2006/main">
              <a:ext uri="{FF2B5EF4-FFF2-40B4-BE49-F238E27FC236}">
                <a16:creationId xmlns:a16="http://schemas.microsoft.com/office/drawing/2014/main" id="{B5B789A4-DE40-45F5-B463-E2BAB91653EC}"/>
              </a:ext>
            </a:extLst>
          </p:cNvPr>
          <p:cNvSpPr>
            <a:spLocks xmlns:a="http://schemas.openxmlformats.org/drawingml/2006/main" noGrp="1"/>
          </p:cNvSpPr>
          <p:nvPr/>
        </p:nvSpPr>
        <p:spPr>
          <a:xfrm xmlns:a="http://schemas.openxmlformats.org/drawingml/2006/main">
            <a:off x="7905750" y="4457700"/>
            <a:ext cx="3429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00" b="1">
                <a:solidFill>
                  <a:srgbClr val="A9BACD"/>
                </a:solidFill>
                <a:latin typeface="Arial"/>
                <a:ea typeface="Arial"/>
                <a:cs typeface="Arial"/>
              </a:defRPr>
            </a:pPr>
            <a:r>
              <a:t>QFN-64  ·  ILLUSTRATIVE</a:t>
            </a:r>
          </a:p>
        </p:txBody>
      </p:sp>
      <p:sp>
        <p:nvSpPr>
          <p:cNvPr id="91" name="">
            <a:extLst xmlns:a="http://schemas.openxmlformats.org/drawingml/2006/main">
              <a:ext uri="{FF2B5EF4-FFF2-40B4-BE49-F238E27FC236}">
                <a16:creationId xmlns:a16="http://schemas.microsoft.com/office/drawing/2014/main" id="{2C403946-4497-4A34-934C-B4F3105EE303}"/>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92" name="">
            <a:extLst xmlns:a="http://schemas.openxmlformats.org/drawingml/2006/main">
              <a:ext uri="{FF2B5EF4-FFF2-40B4-BE49-F238E27FC236}">
                <a16:creationId xmlns:a16="http://schemas.microsoft.com/office/drawing/2014/main" id="{C97BD8E1-11C5-42D1-9FF3-AD7BF28DDE50}"/>
              </a:ext>
            </a:extLst>
          </p:cNvPr>
          <p:cNvSpPr>
            <a:spLocks xmlns:a="http://schemas.openxmlformats.org/drawingml/2006/main" noGrp="1"/>
          </p:cNvSpPr>
          <p:nvPr/>
        </p:nvSpPr>
        <p:spPr>
          <a:xfrm xmlns:a="http://schemas.openxmlformats.org/drawingml/2006/main">
            <a:off x="457200" y="4953000"/>
            <a:ext cx="25146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475" b="1">
                <a:solidFill>
                  <a:srgbClr val="00B4D8"/>
                </a:solidFill>
                <a:latin typeface="Georgia"/>
                <a:ea typeface="Georgia"/>
                <a:cs typeface="Georgia"/>
              </a:defRPr>
            </a:pPr>
            <a:r>
              <a:t>9 × 9 mm</a:t>
            </a:r>
          </a:p>
        </p:txBody>
      </p:sp>
      <p:sp>
        <p:nvSpPr>
          <p:cNvPr id="93" name="">
            <a:extLst xmlns:a="http://schemas.openxmlformats.org/drawingml/2006/main">
              <a:ext uri="{FF2B5EF4-FFF2-40B4-BE49-F238E27FC236}">
                <a16:creationId xmlns:a16="http://schemas.microsoft.com/office/drawing/2014/main" id="{1F35FA15-2373-44E4-B011-A08FCFDE769D}"/>
              </a:ext>
            </a:extLst>
          </p:cNvPr>
          <p:cNvSpPr>
            <a:spLocks xmlns:a="http://schemas.openxmlformats.org/drawingml/2006/main" noGrp="1"/>
          </p:cNvSpPr>
          <p:nvPr/>
        </p:nvSpPr>
        <p:spPr>
          <a:xfrm xmlns:a="http://schemas.openxmlformats.org/drawingml/2006/main">
            <a:off x="457200" y="5505450"/>
            <a:ext cx="25146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QFN-64 BODY</a:t>
            </a:r>
          </a:p>
        </p:txBody>
      </p:sp>
      <p:sp>
        <p:nvSpPr>
          <p:cNvPr id="94" name="">
            <a:extLst xmlns:a="http://schemas.openxmlformats.org/drawingml/2006/main">
              <a:ext uri="{FF2B5EF4-FFF2-40B4-BE49-F238E27FC236}">
                <a16:creationId xmlns:a16="http://schemas.microsoft.com/office/drawing/2014/main" id="{0FF67F26-D6E7-4489-A9DD-3287CA5EB165}"/>
              </a:ext>
            </a:extLst>
          </p:cNvPr>
          <p:cNvSpPr>
            <a:spLocks xmlns:a="http://schemas.openxmlformats.org/drawingml/2006/main" noGrp="1"/>
          </p:cNvSpPr>
          <p:nvPr/>
        </p:nvSpPr>
        <p:spPr>
          <a:xfrm xmlns:a="http://schemas.openxmlformats.org/drawingml/2006/main">
            <a:off x="3276600" y="4953000"/>
            <a:ext cx="9525" cy="876300"/>
          </a:xfrm>
          <a:prstGeom xmlns:a="http://schemas.openxmlformats.org/drawingml/2006/main" prst="rect">
            <a:avLst/>
          </a:prstGeom>
          <a:solidFill xmlns:a="http://schemas.openxmlformats.org/drawingml/2006/main">
            <a:srgbClr val="23364C"/>
          </a:solidFill>
          <a:ln xmlns:a="http://schemas.openxmlformats.org/drawingml/2006/main" w="0">
            <a:noFill/>
            <a:prstDash val="solid"/>
          </a:ln>
        </p:spPr>
      </p:sp>
      <p:sp>
        <p:nvSpPr>
          <p:cNvPr id="95" name="">
            <a:extLst xmlns:a="http://schemas.openxmlformats.org/drawingml/2006/main">
              <a:ext uri="{FF2B5EF4-FFF2-40B4-BE49-F238E27FC236}">
                <a16:creationId xmlns:a16="http://schemas.microsoft.com/office/drawing/2014/main" id="{CFC522EA-62C8-4EFF-B526-F41EFE7C8B98}"/>
              </a:ext>
            </a:extLst>
          </p:cNvPr>
          <p:cNvSpPr>
            <a:spLocks xmlns:a="http://schemas.openxmlformats.org/drawingml/2006/main" noGrp="1"/>
          </p:cNvSpPr>
          <p:nvPr/>
        </p:nvSpPr>
        <p:spPr>
          <a:xfrm xmlns:a="http://schemas.openxmlformats.org/drawingml/2006/main">
            <a:off x="3505200" y="4953000"/>
            <a:ext cx="25146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475" b="1">
                <a:solidFill>
                  <a:srgbClr val="00B4D8"/>
                </a:solidFill>
                <a:latin typeface="Georgia"/>
                <a:ea typeface="Georgia"/>
                <a:cs typeface="Georgia"/>
              </a:defRPr>
            </a:pPr>
            <a:r>
              <a:t>44</a:t>
            </a:r>
          </a:p>
        </p:txBody>
      </p:sp>
      <p:sp>
        <p:nvSpPr>
          <p:cNvPr id="96" name="">
            <a:extLst xmlns:a="http://schemas.openxmlformats.org/drawingml/2006/main">
              <a:ext uri="{FF2B5EF4-FFF2-40B4-BE49-F238E27FC236}">
                <a16:creationId xmlns:a16="http://schemas.microsoft.com/office/drawing/2014/main" id="{CB389523-AB74-4ADB-9BE1-79B91708EA9A}"/>
              </a:ext>
            </a:extLst>
          </p:cNvPr>
          <p:cNvSpPr>
            <a:spLocks xmlns:a="http://schemas.openxmlformats.org/drawingml/2006/main" noGrp="1"/>
          </p:cNvSpPr>
          <p:nvPr/>
        </p:nvSpPr>
        <p:spPr>
          <a:xfrm xmlns:a="http://schemas.openxmlformats.org/drawingml/2006/main">
            <a:off x="3505200" y="5505450"/>
            <a:ext cx="25146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SIGNAL PINS</a:t>
            </a:r>
          </a:p>
        </p:txBody>
      </p:sp>
      <p:sp>
        <p:nvSpPr>
          <p:cNvPr id="97" name="">
            <a:extLst xmlns:a="http://schemas.openxmlformats.org/drawingml/2006/main">
              <a:ext uri="{FF2B5EF4-FFF2-40B4-BE49-F238E27FC236}">
                <a16:creationId xmlns:a16="http://schemas.microsoft.com/office/drawing/2014/main" id="{1427BDB9-D40B-40C8-BF70-4989D59586C0}"/>
              </a:ext>
            </a:extLst>
          </p:cNvPr>
          <p:cNvSpPr>
            <a:spLocks xmlns:a="http://schemas.openxmlformats.org/drawingml/2006/main" noGrp="1"/>
          </p:cNvSpPr>
          <p:nvPr/>
        </p:nvSpPr>
        <p:spPr>
          <a:xfrm xmlns:a="http://schemas.openxmlformats.org/drawingml/2006/main">
            <a:off x="6096000" y="4953000"/>
            <a:ext cx="9525" cy="876300"/>
          </a:xfrm>
          <a:prstGeom xmlns:a="http://schemas.openxmlformats.org/drawingml/2006/main" prst="rect">
            <a:avLst/>
          </a:prstGeom>
          <a:solidFill xmlns:a="http://schemas.openxmlformats.org/drawingml/2006/main">
            <a:srgbClr val="23364C"/>
          </a:solidFill>
          <a:ln xmlns:a="http://schemas.openxmlformats.org/drawingml/2006/main" w="0">
            <a:noFill/>
            <a:prstDash val="solid"/>
          </a:ln>
        </p:spPr>
      </p:sp>
      <p:sp>
        <p:nvSpPr>
          <p:cNvPr id="98" name="">
            <a:extLst xmlns:a="http://schemas.openxmlformats.org/drawingml/2006/main">
              <a:ext uri="{FF2B5EF4-FFF2-40B4-BE49-F238E27FC236}">
                <a16:creationId xmlns:a16="http://schemas.microsoft.com/office/drawing/2014/main" id="{D2A13369-88C2-4108-B0E5-1DE656EDA50E}"/>
              </a:ext>
            </a:extLst>
          </p:cNvPr>
          <p:cNvSpPr>
            <a:spLocks xmlns:a="http://schemas.openxmlformats.org/drawingml/2006/main" noGrp="1"/>
          </p:cNvSpPr>
          <p:nvPr/>
        </p:nvSpPr>
        <p:spPr>
          <a:xfrm xmlns:a="http://schemas.openxmlformats.org/drawingml/2006/main">
            <a:off x="6324600" y="4953000"/>
            <a:ext cx="25146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475" b="1">
                <a:solidFill>
                  <a:srgbClr val="00B4D8"/>
                </a:solidFill>
                <a:latin typeface="Georgia"/>
                <a:ea typeface="Georgia"/>
                <a:cs typeface="Georgia"/>
              </a:defRPr>
            </a:pPr>
            <a:r>
              <a:t>1.8 / 3.3 V</a:t>
            </a:r>
          </a:p>
        </p:txBody>
      </p:sp>
      <p:sp>
        <p:nvSpPr>
          <p:cNvPr id="99" name="">
            <a:extLst xmlns:a="http://schemas.openxmlformats.org/drawingml/2006/main">
              <a:ext uri="{FF2B5EF4-FFF2-40B4-BE49-F238E27FC236}">
                <a16:creationId xmlns:a16="http://schemas.microsoft.com/office/drawing/2014/main" id="{FC8BBE6A-F7ED-4E52-8B24-B3C20D5EF29A}"/>
              </a:ext>
            </a:extLst>
          </p:cNvPr>
          <p:cNvSpPr>
            <a:spLocks xmlns:a="http://schemas.openxmlformats.org/drawingml/2006/main" noGrp="1"/>
          </p:cNvSpPr>
          <p:nvPr/>
        </p:nvSpPr>
        <p:spPr>
          <a:xfrm xmlns:a="http://schemas.openxmlformats.org/drawingml/2006/main">
            <a:off x="6324600" y="5505450"/>
            <a:ext cx="25146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CORE / I/O RAILS</a:t>
            </a:r>
          </a:p>
        </p:txBody>
      </p:sp>
      <p:sp>
        <p:nvSpPr>
          <p:cNvPr id="100" name="">
            <a:extLst xmlns:a="http://schemas.openxmlformats.org/drawingml/2006/main">
              <a:ext uri="{FF2B5EF4-FFF2-40B4-BE49-F238E27FC236}">
                <a16:creationId xmlns:a16="http://schemas.microsoft.com/office/drawing/2014/main" id="{560DA25E-00B9-4342-8E75-062B7EE758AE}"/>
              </a:ext>
            </a:extLst>
          </p:cNvPr>
          <p:cNvSpPr>
            <a:spLocks xmlns:a="http://schemas.openxmlformats.org/drawingml/2006/main" noGrp="1"/>
          </p:cNvSpPr>
          <p:nvPr/>
        </p:nvSpPr>
        <p:spPr>
          <a:xfrm xmlns:a="http://schemas.openxmlformats.org/drawingml/2006/main">
            <a:off x="8915400" y="4953000"/>
            <a:ext cx="9525" cy="876300"/>
          </a:xfrm>
          <a:prstGeom xmlns:a="http://schemas.openxmlformats.org/drawingml/2006/main" prst="rect">
            <a:avLst/>
          </a:prstGeom>
          <a:solidFill xmlns:a="http://schemas.openxmlformats.org/drawingml/2006/main">
            <a:srgbClr val="23364C"/>
          </a:solidFill>
          <a:ln xmlns:a="http://schemas.openxmlformats.org/drawingml/2006/main" w="0">
            <a:noFill/>
            <a:prstDash val="solid"/>
          </a:ln>
        </p:spPr>
      </p:sp>
      <p:sp>
        <p:nvSpPr>
          <p:cNvPr id="101" name="">
            <a:extLst xmlns:a="http://schemas.openxmlformats.org/drawingml/2006/main">
              <a:ext uri="{FF2B5EF4-FFF2-40B4-BE49-F238E27FC236}">
                <a16:creationId xmlns:a16="http://schemas.microsoft.com/office/drawing/2014/main" id="{F15E3186-B13B-4E07-9AED-F848B748DE74}"/>
              </a:ext>
            </a:extLst>
          </p:cNvPr>
          <p:cNvSpPr>
            <a:spLocks xmlns:a="http://schemas.openxmlformats.org/drawingml/2006/main" noGrp="1"/>
          </p:cNvSpPr>
          <p:nvPr/>
        </p:nvSpPr>
        <p:spPr>
          <a:xfrm xmlns:a="http://schemas.openxmlformats.org/drawingml/2006/main">
            <a:off x="9144000" y="4953000"/>
            <a:ext cx="25146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475" b="1">
                <a:solidFill>
                  <a:srgbClr val="00B4D8"/>
                </a:solidFill>
                <a:latin typeface="Georgia"/>
                <a:ea typeface="Georgia"/>
                <a:cs typeface="Georgia"/>
              </a:defRPr>
            </a:pPr>
            <a:r>
              <a:t>50 MHz</a:t>
            </a:r>
          </a:p>
        </p:txBody>
      </p:sp>
      <p:sp>
        <p:nvSpPr>
          <p:cNvPr id="102" name="">
            <a:extLst xmlns:a="http://schemas.openxmlformats.org/drawingml/2006/main">
              <a:ext uri="{FF2B5EF4-FFF2-40B4-BE49-F238E27FC236}">
                <a16:creationId xmlns:a16="http://schemas.microsoft.com/office/drawing/2014/main" id="{D5A1C4BA-AC92-4569-B4F2-89F3C6C0E8D2}"/>
              </a:ext>
            </a:extLst>
          </p:cNvPr>
          <p:cNvSpPr>
            <a:spLocks xmlns:a="http://schemas.openxmlformats.org/drawingml/2006/main" noGrp="1"/>
          </p:cNvSpPr>
          <p:nvPr/>
        </p:nvSpPr>
        <p:spPr>
          <a:xfrm xmlns:a="http://schemas.openxmlformats.org/drawingml/2006/main">
            <a:off x="9144000" y="5505450"/>
            <a:ext cx="25146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ONE CLOCK DOMAIN</a:t>
            </a:r>
          </a:p>
        </p:txBody>
      </p:sp>
      <p:sp>
        <p:nvSpPr>
          <p:cNvPr id="103" name="">
            <a:extLst xmlns:a="http://schemas.openxmlformats.org/drawingml/2006/main">
              <a:ext uri="{FF2B5EF4-FFF2-40B4-BE49-F238E27FC236}">
                <a16:creationId xmlns:a16="http://schemas.microsoft.com/office/drawing/2014/main" id="{AEA3CFF9-A10D-4894-AF1C-D544F8647BED}"/>
              </a:ext>
            </a:extLst>
          </p:cNvPr>
          <p:cNvSpPr>
            <a:spLocks xmlns:a="http://schemas.openxmlformats.org/drawingml/2006/main" noGrp="1"/>
          </p:cNvSpPr>
          <p:nvPr/>
        </p:nvSpPr>
        <p:spPr>
          <a:xfrm xmlns:a="http://schemas.openxmlformats.org/drawingml/2006/main">
            <a:off x="457200" y="6096000"/>
            <a:ext cx="104775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A9BACD"/>
                </a:solidFill>
                <a:latin typeface="Arial"/>
                <a:ea typeface="Arial"/>
                <a:cs typeface="Arial"/>
              </a:defRPr>
            </a:pPr>
            <a:r>
              <a:t>Preliminary, pre-silicon. Register maps, the memory map and board-design rules are in the engineering datasheet, not this deck.</a:t>
            </a:r>
          </a:p>
        </p:txBody>
      </p:sp>
      <p:sp>
        <p:nvSpPr>
          <p:cNvPr id="104" name="">
            <a:extLst xmlns:a="http://schemas.openxmlformats.org/drawingml/2006/main">
              <a:ext uri="{FF2B5EF4-FFF2-40B4-BE49-F238E27FC236}">
                <a16:creationId xmlns:a16="http://schemas.microsoft.com/office/drawing/2014/main" id="{A9C65E5F-6DF2-4B21-8E7A-E330A9261D19}"/>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23364C"/>
          </a:solidFill>
          <a:ln xmlns:a="http://schemas.openxmlformats.org/drawingml/2006/main" w="0">
            <a:noFill/>
            <a:prstDash val="solid"/>
          </a:ln>
        </p:spPr>
      </p:sp>
      <p:sp>
        <p:nvSpPr>
          <p:cNvPr id="105" name="">
            <a:extLst xmlns:a="http://schemas.openxmlformats.org/drawingml/2006/main">
              <a:ext uri="{FF2B5EF4-FFF2-40B4-BE49-F238E27FC236}">
                <a16:creationId xmlns:a16="http://schemas.microsoft.com/office/drawing/2014/main" id="{7DBDCBBD-9065-4CBB-80DA-0F32029ACC4D}"/>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8FA2B7"/>
                </a:solidFill>
                <a:latin typeface="Arial"/>
                <a:ea typeface="Arial"/>
                <a:cs typeface="Arial"/>
              </a:defRPr>
            </a:pPr>
            <a:r>
              <a:t>DEEPGRID SEMI  ·  DG32-LITE PRELIMINARY DATASHEET  ·  SEPTEMBER 2026  ·  PRE-SILICON</a:t>
            </a:r>
          </a:p>
        </p:txBody>
      </p:sp>
      <p:sp>
        <p:nvSpPr>
          <p:cNvPr id="106" name="">
            <a:extLst xmlns:a="http://schemas.openxmlformats.org/drawingml/2006/main">
              <a:ext uri="{FF2B5EF4-FFF2-40B4-BE49-F238E27FC236}">
                <a16:creationId xmlns:a16="http://schemas.microsoft.com/office/drawing/2014/main" id="{1C3C43BD-19D8-4AAB-A891-BB9671F71080}"/>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8FA2B7"/>
                </a:solidFill>
                <a:latin typeface="Arial"/>
                <a:ea typeface="Arial"/>
                <a:cs typeface="Arial"/>
              </a:defRPr>
            </a:pPr>
            <a:r>
              <a:t>01</a:t>
            </a:r>
          </a:p>
        </p:txBody>
      </p:sp>
    </p:spTree>
    <p:extLst>
      <p:ext uri="{BB962C8B-B14F-4D97-AF65-F5344CB8AC3E}">
        <p14:creationId xmlns:p14="http://schemas.microsoft.com/office/powerpoint/2010/main" val="17958437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0152A969-F975-410C-BDA8-B40DD1AA69C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5F2980A-7E8E-4372-86B6-7B27D8CE4CB6}"/>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77A3"/>
                </a:solidFill>
                <a:latin typeface="Arial"/>
                <a:ea typeface="Arial"/>
                <a:cs typeface="Arial"/>
              </a:defRPr>
            </a:pPr>
            <a:r>
              <a:t>02 · DESIGN-IN</a:t>
            </a:r>
          </a:p>
        </p:txBody>
      </p:sp>
      <p:sp>
        <p:nvSpPr>
          <p:cNvPr id="3" name="">
            <a:extLst xmlns:a="http://schemas.openxmlformats.org/drawingml/2006/main">
              <a:ext uri="{FF2B5EF4-FFF2-40B4-BE49-F238E27FC236}">
                <a16:creationId xmlns:a16="http://schemas.microsoft.com/office/drawing/2014/main" id="{D67449CC-DC36-4348-82A2-942E8B323F8F}"/>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Four facts set every DG32-LITE design-in</a:t>
            </a:r>
          </a:p>
        </p:txBody>
      </p:sp>
      <p:sp>
        <p:nvSpPr>
          <p:cNvPr id="4" name="">
            <a:extLst xmlns:a="http://schemas.openxmlformats.org/drawingml/2006/main">
              <a:ext uri="{FF2B5EF4-FFF2-40B4-BE49-F238E27FC236}">
                <a16:creationId xmlns:a16="http://schemas.microsoft.com/office/drawing/2014/main" id="{5BB6B94B-FC60-4108-B36D-6D06A725BA61}"/>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Rails, clock and pins: the parts of the datasheet a design commits to first</a:t>
            </a:r>
          </a:p>
        </p:txBody>
      </p:sp>
      <p:sp>
        <p:nvSpPr>
          <p:cNvPr id="5" name="">
            <a:extLst xmlns:a="http://schemas.openxmlformats.org/drawingml/2006/main">
              <a:ext uri="{FF2B5EF4-FFF2-40B4-BE49-F238E27FC236}">
                <a16:creationId xmlns:a16="http://schemas.microsoft.com/office/drawing/2014/main" id="{68AFC48E-8EBF-46E4-B107-AD8ECF764443}"/>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7942114-9E36-471A-A8BB-164827F431C5}"/>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AB1B248-0ABB-444D-9F35-C8F19E9EE815}"/>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DEEPGRID SEMI  ·  DG32-LITE PRELIMINARY DATASHEET  ·  SEPTEMBER 2026  ·  PRE-SILICON</a:t>
            </a:r>
          </a:p>
        </p:txBody>
      </p:sp>
      <p:sp>
        <p:nvSpPr>
          <p:cNvPr id="8" name="">
            <a:extLst xmlns:a="http://schemas.openxmlformats.org/drawingml/2006/main">
              <a:ext uri="{FF2B5EF4-FFF2-40B4-BE49-F238E27FC236}">
                <a16:creationId xmlns:a16="http://schemas.microsoft.com/office/drawing/2014/main" id="{64550D9D-FE64-40B1-A9DD-01E61B4CFB43}"/>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02</a:t>
            </a:r>
          </a:p>
        </p:txBody>
      </p:sp>
      <p:sp>
        <p:nvSpPr>
          <p:cNvPr id="9" name="">
            <a:extLst xmlns:a="http://schemas.openxmlformats.org/drawingml/2006/main">
              <a:ext uri="{FF2B5EF4-FFF2-40B4-BE49-F238E27FC236}">
                <a16:creationId xmlns:a16="http://schemas.microsoft.com/office/drawing/2014/main" id="{328646D1-C82D-4CFE-9E35-AF91C2E49F49}"/>
              </a:ext>
            </a:extLst>
          </p:cNvPr>
          <p:cNvSpPr>
            <a:spLocks xmlns:a="http://schemas.openxmlformats.org/drawingml/2006/main" noGrp="1"/>
          </p:cNvSpPr>
          <p:nvPr/>
        </p:nvSpPr>
        <p:spPr>
          <a:xfrm xmlns:a="http://schemas.openxmlformats.org/drawingml/2006/main">
            <a:off x="457200" y="1638300"/>
            <a:ext cx="2647950" cy="1428750"/>
          </a:xfrm>
          <a:prstGeom xmlns:a="http://schemas.openxmlformats.org/drawingml/2006/main" prst="roundRect">
            <a:avLst>
              <a:gd name="adj" fmla="val 5333"/>
            </a:avLst>
          </a:prstGeom>
          <a:solidFill xmlns:a="http://schemas.openxmlformats.org/drawingml/2006/main">
            <a:srgbClr val="F8FAFC"/>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9159D016-36A0-45A9-A6ED-0E38D0397648}"/>
              </a:ext>
            </a:extLst>
          </p:cNvPr>
          <p:cNvSpPr>
            <a:spLocks xmlns:a="http://schemas.openxmlformats.org/drawingml/2006/main" noGrp="1"/>
          </p:cNvSpPr>
          <p:nvPr/>
        </p:nvSpPr>
        <p:spPr>
          <a:xfrm xmlns:a="http://schemas.openxmlformats.org/drawingml/2006/main">
            <a:off x="571500" y="1790700"/>
            <a:ext cx="2419350" cy="5429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3225" b="1">
                <a:solidFill>
                  <a:srgbClr val="0077A3"/>
                </a:solidFill>
                <a:latin typeface="Georgia"/>
                <a:ea typeface="Georgia"/>
                <a:cs typeface="Georgia"/>
              </a:defRPr>
            </a:pPr>
            <a:r>
              <a:t>1.8 V</a:t>
            </a:r>
          </a:p>
        </p:txBody>
      </p:sp>
      <p:sp>
        <p:nvSpPr>
          <p:cNvPr id="11" name="">
            <a:extLst xmlns:a="http://schemas.openxmlformats.org/drawingml/2006/main">
              <a:ext uri="{FF2B5EF4-FFF2-40B4-BE49-F238E27FC236}">
                <a16:creationId xmlns:a16="http://schemas.microsoft.com/office/drawing/2014/main" id="{83BE6454-3D3D-482F-98BA-482BFEED0F43}"/>
              </a:ext>
            </a:extLst>
          </p:cNvPr>
          <p:cNvSpPr>
            <a:spLocks xmlns:a="http://schemas.openxmlformats.org/drawingml/2006/main" noGrp="1"/>
          </p:cNvSpPr>
          <p:nvPr/>
        </p:nvSpPr>
        <p:spPr>
          <a:xfrm xmlns:a="http://schemas.openxmlformats.org/drawingml/2006/main">
            <a:off x="571500" y="2352675"/>
            <a:ext cx="24193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CORE RAIL</a:t>
            </a:r>
          </a:p>
        </p:txBody>
      </p:sp>
      <p:sp>
        <p:nvSpPr>
          <p:cNvPr id="12" name="">
            <a:extLst xmlns:a="http://schemas.openxmlformats.org/drawingml/2006/main">
              <a:ext uri="{FF2B5EF4-FFF2-40B4-BE49-F238E27FC236}">
                <a16:creationId xmlns:a16="http://schemas.microsoft.com/office/drawing/2014/main" id="{57E63AF6-D543-4E49-81B6-282D9053D9A9}"/>
              </a:ext>
            </a:extLst>
          </p:cNvPr>
          <p:cNvSpPr>
            <a:spLocks xmlns:a="http://schemas.openxmlformats.org/drawingml/2006/main" noGrp="1"/>
          </p:cNvSpPr>
          <p:nvPr/>
        </p:nvSpPr>
        <p:spPr>
          <a:xfrm xmlns:a="http://schemas.openxmlformats.org/drawingml/2006/main">
            <a:off x="590550" y="2600325"/>
            <a:ext cx="2381250" cy="4095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Logic, SRAM and the ADC · 1.71–1.89 V</a:t>
            </a:r>
          </a:p>
        </p:txBody>
      </p:sp>
      <p:sp>
        <p:nvSpPr>
          <p:cNvPr id="13" name="">
            <a:extLst xmlns:a="http://schemas.openxmlformats.org/drawingml/2006/main">
              <a:ext uri="{FF2B5EF4-FFF2-40B4-BE49-F238E27FC236}">
                <a16:creationId xmlns:a16="http://schemas.microsoft.com/office/drawing/2014/main" id="{9EA07F68-BE88-4C27-B48D-07453475BE5C}"/>
              </a:ext>
            </a:extLst>
          </p:cNvPr>
          <p:cNvSpPr>
            <a:spLocks xmlns:a="http://schemas.openxmlformats.org/drawingml/2006/main" noGrp="1"/>
          </p:cNvSpPr>
          <p:nvPr/>
        </p:nvSpPr>
        <p:spPr>
          <a:xfrm xmlns:a="http://schemas.openxmlformats.org/drawingml/2006/main">
            <a:off x="3333750" y="1638300"/>
            <a:ext cx="2647950" cy="1428750"/>
          </a:xfrm>
          <a:prstGeom xmlns:a="http://schemas.openxmlformats.org/drawingml/2006/main" prst="roundRect">
            <a:avLst>
              <a:gd name="adj" fmla="val 5333"/>
            </a:avLst>
          </a:prstGeom>
          <a:solidFill xmlns:a="http://schemas.openxmlformats.org/drawingml/2006/main">
            <a:srgbClr val="F8FAFC"/>
          </a:solidFill>
          <a:ln xmlns:a="http://schemas.openxmlformats.org/drawingml/2006/main" w="9525">
            <a:solidFill>
              <a:srgbClr val="E2E8F0"/>
            </a:solidFill>
            <a:prstDash val="solid"/>
          </a:ln>
        </p:spPr>
      </p:sp>
      <p:sp>
        <p:nvSpPr>
          <p:cNvPr id="14" name="">
            <a:extLst xmlns:a="http://schemas.openxmlformats.org/drawingml/2006/main">
              <a:ext uri="{FF2B5EF4-FFF2-40B4-BE49-F238E27FC236}">
                <a16:creationId xmlns:a16="http://schemas.microsoft.com/office/drawing/2014/main" id="{08BF92BB-2E73-42C8-A187-F7EA459C9F97}"/>
              </a:ext>
            </a:extLst>
          </p:cNvPr>
          <p:cNvSpPr>
            <a:spLocks xmlns:a="http://schemas.openxmlformats.org/drawingml/2006/main" noGrp="1"/>
          </p:cNvSpPr>
          <p:nvPr/>
        </p:nvSpPr>
        <p:spPr>
          <a:xfrm xmlns:a="http://schemas.openxmlformats.org/drawingml/2006/main">
            <a:off x="3448050" y="1790700"/>
            <a:ext cx="2419350" cy="5429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3225" b="1">
                <a:solidFill>
                  <a:srgbClr val="07686A"/>
                </a:solidFill>
                <a:latin typeface="Georgia"/>
                <a:ea typeface="Georgia"/>
                <a:cs typeface="Georgia"/>
              </a:defRPr>
            </a:pPr>
            <a:r>
              <a:t>3.3 V</a:t>
            </a:r>
          </a:p>
        </p:txBody>
      </p:sp>
      <p:sp>
        <p:nvSpPr>
          <p:cNvPr id="15" name="">
            <a:extLst xmlns:a="http://schemas.openxmlformats.org/drawingml/2006/main">
              <a:ext uri="{FF2B5EF4-FFF2-40B4-BE49-F238E27FC236}">
                <a16:creationId xmlns:a16="http://schemas.microsoft.com/office/drawing/2014/main" id="{D1A4BA9F-DFF6-4A9D-95AA-C48D23FF5750}"/>
              </a:ext>
            </a:extLst>
          </p:cNvPr>
          <p:cNvSpPr>
            <a:spLocks xmlns:a="http://schemas.openxmlformats.org/drawingml/2006/main" noGrp="1"/>
          </p:cNvSpPr>
          <p:nvPr/>
        </p:nvSpPr>
        <p:spPr>
          <a:xfrm xmlns:a="http://schemas.openxmlformats.org/drawingml/2006/main">
            <a:off x="3448050" y="2352675"/>
            <a:ext cx="24193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I/O RING</a:t>
            </a:r>
          </a:p>
        </p:txBody>
      </p:sp>
      <p:sp>
        <p:nvSpPr>
          <p:cNvPr id="16" name="">
            <a:extLst xmlns:a="http://schemas.openxmlformats.org/drawingml/2006/main">
              <a:ext uri="{FF2B5EF4-FFF2-40B4-BE49-F238E27FC236}">
                <a16:creationId xmlns:a16="http://schemas.microsoft.com/office/drawing/2014/main" id="{F584C6DE-7A45-4D79-A57B-EBEE437C4E55}"/>
              </a:ext>
            </a:extLst>
          </p:cNvPr>
          <p:cNvSpPr>
            <a:spLocks xmlns:a="http://schemas.openxmlformats.org/drawingml/2006/main" noGrp="1"/>
          </p:cNvSpPr>
          <p:nvPr/>
        </p:nvSpPr>
        <p:spPr>
          <a:xfrm xmlns:a="http://schemas.openxmlformats.org/drawingml/2006/main">
            <a:off x="3467100" y="2600325"/>
            <a:ext cx="2381250" cy="4095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Pads and ESD · 3.0–3.6 V</a:t>
            </a:r>
          </a:p>
        </p:txBody>
      </p:sp>
      <p:sp>
        <p:nvSpPr>
          <p:cNvPr id="17" name="">
            <a:extLst xmlns:a="http://schemas.openxmlformats.org/drawingml/2006/main">
              <a:ext uri="{FF2B5EF4-FFF2-40B4-BE49-F238E27FC236}">
                <a16:creationId xmlns:a16="http://schemas.microsoft.com/office/drawing/2014/main" id="{04C6150E-F412-49D7-A909-8C8C2D42F316}"/>
              </a:ext>
            </a:extLst>
          </p:cNvPr>
          <p:cNvSpPr>
            <a:spLocks xmlns:a="http://schemas.openxmlformats.org/drawingml/2006/main" noGrp="1"/>
          </p:cNvSpPr>
          <p:nvPr/>
        </p:nvSpPr>
        <p:spPr>
          <a:xfrm xmlns:a="http://schemas.openxmlformats.org/drawingml/2006/main">
            <a:off x="6210300" y="1638300"/>
            <a:ext cx="2647950" cy="1428750"/>
          </a:xfrm>
          <a:prstGeom xmlns:a="http://schemas.openxmlformats.org/drawingml/2006/main" prst="roundRect">
            <a:avLst>
              <a:gd name="adj" fmla="val 5333"/>
            </a:avLst>
          </a:prstGeom>
          <a:solidFill xmlns:a="http://schemas.openxmlformats.org/drawingml/2006/main">
            <a:srgbClr val="F8FAFC"/>
          </a:solidFill>
          <a:ln xmlns:a="http://schemas.openxmlformats.org/drawingml/2006/main" w="9525">
            <a:solidFill>
              <a:srgbClr val="E2E8F0"/>
            </a:solidFill>
            <a:prstDash val="solid"/>
          </a:ln>
        </p:spPr>
      </p:sp>
      <p:sp>
        <p:nvSpPr>
          <p:cNvPr id="18" name="">
            <a:extLst xmlns:a="http://schemas.openxmlformats.org/drawingml/2006/main">
              <a:ext uri="{FF2B5EF4-FFF2-40B4-BE49-F238E27FC236}">
                <a16:creationId xmlns:a16="http://schemas.microsoft.com/office/drawing/2014/main" id="{3CAFD4D0-E791-4669-A7EB-C7CADCF43D84}"/>
              </a:ext>
            </a:extLst>
          </p:cNvPr>
          <p:cNvSpPr>
            <a:spLocks xmlns:a="http://schemas.openxmlformats.org/drawingml/2006/main" noGrp="1"/>
          </p:cNvSpPr>
          <p:nvPr/>
        </p:nvSpPr>
        <p:spPr>
          <a:xfrm xmlns:a="http://schemas.openxmlformats.org/drawingml/2006/main">
            <a:off x="6324600" y="1790700"/>
            <a:ext cx="2419350" cy="5429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3225" b="1">
                <a:solidFill>
                  <a:srgbClr val="07686A"/>
                </a:solidFill>
                <a:latin typeface="Georgia"/>
                <a:ea typeface="Georgia"/>
                <a:cs typeface="Georgia"/>
              </a:defRPr>
            </a:pPr>
            <a:r>
              <a:t>50 MHz</a:t>
            </a:r>
          </a:p>
        </p:txBody>
      </p:sp>
      <p:sp>
        <p:nvSpPr>
          <p:cNvPr id="19" name="">
            <a:extLst xmlns:a="http://schemas.openxmlformats.org/drawingml/2006/main">
              <a:ext uri="{FF2B5EF4-FFF2-40B4-BE49-F238E27FC236}">
                <a16:creationId xmlns:a16="http://schemas.microsoft.com/office/drawing/2014/main" id="{A48BD690-29FB-44DF-B638-C55B12A839A1}"/>
              </a:ext>
            </a:extLst>
          </p:cNvPr>
          <p:cNvSpPr>
            <a:spLocks xmlns:a="http://schemas.openxmlformats.org/drawingml/2006/main" noGrp="1"/>
          </p:cNvSpPr>
          <p:nvPr/>
        </p:nvSpPr>
        <p:spPr>
          <a:xfrm xmlns:a="http://schemas.openxmlformats.org/drawingml/2006/main">
            <a:off x="6324600" y="2352675"/>
            <a:ext cx="24193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CLOCK</a:t>
            </a:r>
          </a:p>
        </p:txBody>
      </p:sp>
      <p:sp>
        <p:nvSpPr>
          <p:cNvPr id="20" name="">
            <a:extLst xmlns:a="http://schemas.openxmlformats.org/drawingml/2006/main">
              <a:ext uri="{FF2B5EF4-FFF2-40B4-BE49-F238E27FC236}">
                <a16:creationId xmlns:a16="http://schemas.microsoft.com/office/drawing/2014/main" id="{0339144A-E18A-4F69-83D0-F2AD89D25BC6}"/>
              </a:ext>
            </a:extLst>
          </p:cNvPr>
          <p:cNvSpPr>
            <a:spLocks xmlns:a="http://schemas.openxmlformats.org/drawingml/2006/main" noGrp="1"/>
          </p:cNvSpPr>
          <p:nvPr/>
        </p:nvSpPr>
        <p:spPr>
          <a:xfrm xmlns:a="http://schemas.openxmlformats.org/drawingml/2006/main">
            <a:off x="6343650" y="2600325"/>
            <a:ext cx="2381250" cy="4095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One domain, no on-die PLL</a:t>
            </a:r>
          </a:p>
        </p:txBody>
      </p:sp>
      <p:sp>
        <p:nvSpPr>
          <p:cNvPr id="21" name="">
            <a:extLst xmlns:a="http://schemas.openxmlformats.org/drawingml/2006/main">
              <a:ext uri="{FF2B5EF4-FFF2-40B4-BE49-F238E27FC236}">
                <a16:creationId xmlns:a16="http://schemas.microsoft.com/office/drawing/2014/main" id="{A2435E23-3787-4D44-8956-23D884AE2ABE}"/>
              </a:ext>
            </a:extLst>
          </p:cNvPr>
          <p:cNvSpPr>
            <a:spLocks xmlns:a="http://schemas.openxmlformats.org/drawingml/2006/main" noGrp="1"/>
          </p:cNvSpPr>
          <p:nvPr/>
        </p:nvSpPr>
        <p:spPr>
          <a:xfrm xmlns:a="http://schemas.openxmlformats.org/drawingml/2006/main">
            <a:off x="9086850" y="1638300"/>
            <a:ext cx="2647950" cy="1428750"/>
          </a:xfrm>
          <a:prstGeom xmlns:a="http://schemas.openxmlformats.org/drawingml/2006/main" prst="roundRect">
            <a:avLst>
              <a:gd name="adj" fmla="val 5333"/>
            </a:avLst>
          </a:prstGeom>
          <a:solidFill xmlns:a="http://schemas.openxmlformats.org/drawingml/2006/main">
            <a:srgbClr val="F8FAFC"/>
          </a:solidFill>
          <a:ln xmlns:a="http://schemas.openxmlformats.org/drawingml/2006/main" w="9525">
            <a:solidFill>
              <a:srgbClr val="E2E8F0"/>
            </a:solidFill>
            <a:prstDash val="solid"/>
          </a:ln>
        </p:spPr>
      </p:sp>
      <p:sp>
        <p:nvSpPr>
          <p:cNvPr id="22" name="">
            <a:extLst xmlns:a="http://schemas.openxmlformats.org/drawingml/2006/main">
              <a:ext uri="{FF2B5EF4-FFF2-40B4-BE49-F238E27FC236}">
                <a16:creationId xmlns:a16="http://schemas.microsoft.com/office/drawing/2014/main" id="{0C20FCB3-F051-4821-A553-391C72B37477}"/>
              </a:ext>
            </a:extLst>
          </p:cNvPr>
          <p:cNvSpPr>
            <a:spLocks xmlns:a="http://schemas.openxmlformats.org/drawingml/2006/main" noGrp="1"/>
          </p:cNvSpPr>
          <p:nvPr/>
        </p:nvSpPr>
        <p:spPr>
          <a:xfrm xmlns:a="http://schemas.openxmlformats.org/drawingml/2006/main">
            <a:off x="9201150" y="1790700"/>
            <a:ext cx="2419350" cy="5429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3225" b="1">
                <a:solidFill>
                  <a:srgbClr val="07686A"/>
                </a:solidFill>
                <a:latin typeface="Georgia"/>
                <a:ea typeface="Georgia"/>
                <a:cs typeface="Georgia"/>
              </a:defRPr>
            </a:pPr>
            <a:r>
              <a:t>44 / 64</a:t>
            </a:r>
          </a:p>
        </p:txBody>
      </p:sp>
      <p:sp>
        <p:nvSpPr>
          <p:cNvPr id="23" name="">
            <a:extLst xmlns:a="http://schemas.openxmlformats.org/drawingml/2006/main">
              <a:ext uri="{FF2B5EF4-FFF2-40B4-BE49-F238E27FC236}">
                <a16:creationId xmlns:a16="http://schemas.microsoft.com/office/drawing/2014/main" id="{C353B959-0AA5-4AEC-91F2-6CC31E931ECF}"/>
              </a:ext>
            </a:extLst>
          </p:cNvPr>
          <p:cNvSpPr>
            <a:spLocks xmlns:a="http://schemas.openxmlformats.org/drawingml/2006/main" noGrp="1"/>
          </p:cNvSpPr>
          <p:nvPr/>
        </p:nvSpPr>
        <p:spPr>
          <a:xfrm xmlns:a="http://schemas.openxmlformats.org/drawingml/2006/main">
            <a:off x="9201150" y="2352675"/>
            <a:ext cx="24193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SIGNAL PINS</a:t>
            </a:r>
          </a:p>
        </p:txBody>
      </p:sp>
      <p:sp>
        <p:nvSpPr>
          <p:cNvPr id="24" name="">
            <a:extLst xmlns:a="http://schemas.openxmlformats.org/drawingml/2006/main">
              <a:ext uri="{FF2B5EF4-FFF2-40B4-BE49-F238E27FC236}">
                <a16:creationId xmlns:a16="http://schemas.microsoft.com/office/drawing/2014/main" id="{762B4E5A-9BD5-42F3-9E57-3097518B96F4}"/>
              </a:ext>
            </a:extLst>
          </p:cNvPr>
          <p:cNvSpPr>
            <a:spLocks xmlns:a="http://schemas.openxmlformats.org/drawingml/2006/main" noGrp="1"/>
          </p:cNvSpPr>
          <p:nvPr/>
        </p:nvSpPr>
        <p:spPr>
          <a:xfrm xmlns:a="http://schemas.openxmlformats.org/drawingml/2006/main">
            <a:off x="9220200" y="2600325"/>
            <a:ext cx="2381250" cy="4095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Twenty supplies and grounds</a:t>
            </a:r>
          </a:p>
        </p:txBody>
      </p:sp>
      <p:sp>
        <p:nvSpPr>
          <p:cNvPr id="25" name="">
            <a:extLst xmlns:a="http://schemas.openxmlformats.org/drawingml/2006/main">
              <a:ext uri="{FF2B5EF4-FFF2-40B4-BE49-F238E27FC236}">
                <a16:creationId xmlns:a16="http://schemas.microsoft.com/office/drawing/2014/main" id="{FBE0B0F0-F155-45F3-A194-2BE137845C65}"/>
              </a:ext>
            </a:extLst>
          </p:cNvPr>
          <p:cNvSpPr>
            <a:spLocks xmlns:a="http://schemas.openxmlformats.org/drawingml/2006/main" noGrp="1"/>
          </p:cNvSpPr>
          <p:nvPr/>
        </p:nvSpPr>
        <p:spPr>
          <a:xfrm xmlns:a="http://schemas.openxmlformats.org/drawingml/2006/main">
            <a:off x="457200" y="3219450"/>
            <a:ext cx="11277600" cy="110490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CFBE26DD-9456-4C08-ACE2-BEE19C85B914}"/>
              </a:ext>
            </a:extLst>
          </p:cNvPr>
          <p:cNvSpPr>
            <a:spLocks xmlns:a="http://schemas.openxmlformats.org/drawingml/2006/main" noGrp="1"/>
          </p:cNvSpPr>
          <p:nvPr/>
        </p:nvSpPr>
        <p:spPr>
          <a:xfrm xmlns:a="http://schemas.openxmlformats.org/drawingml/2006/main">
            <a:off x="457200" y="3219450"/>
            <a:ext cx="57150" cy="1104900"/>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B70E5D2D-FE11-4626-AB21-2FE88ECE2663}"/>
              </a:ext>
            </a:extLst>
          </p:cNvPr>
          <p:cNvSpPr>
            <a:spLocks xmlns:a="http://schemas.openxmlformats.org/drawingml/2006/main" noGrp="1"/>
          </p:cNvSpPr>
          <p:nvPr/>
        </p:nvSpPr>
        <p:spPr>
          <a:xfrm xmlns:a="http://schemas.openxmlformats.org/drawingml/2006/main">
            <a:off x="762000" y="3429000"/>
            <a:ext cx="10668000" cy="723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1">
                <a:solidFill>
                  <a:srgbClr val="FFFFFF"/>
                </a:solidFill>
                <a:latin typeface="Georgia"/>
                <a:ea typeface="Georgia"/>
                <a:cs typeface="Georgia"/>
              </a:defRPr>
            </a:pPr>
            <a:r>
              <a:t>Everything else in the datasheet follows from these four facts: which rails to provide, which clock to route, and which pins the drive, the flash and debug take.</a:t>
            </a:r>
          </a:p>
        </p:txBody>
      </p:sp>
      <p:sp>
        <p:nvSpPr>
          <p:cNvPr id="28" name="">
            <a:extLst xmlns:a="http://schemas.openxmlformats.org/drawingml/2006/main">
              <a:ext uri="{FF2B5EF4-FFF2-40B4-BE49-F238E27FC236}">
                <a16:creationId xmlns:a16="http://schemas.microsoft.com/office/drawing/2014/main" id="{95A7654C-1DF0-4966-A0A6-8842C171B2DD}"/>
              </a:ext>
            </a:extLst>
          </p:cNvPr>
          <p:cNvSpPr>
            <a:spLocks xmlns:a="http://schemas.openxmlformats.org/drawingml/2006/main" noGrp="1"/>
          </p:cNvSpPr>
          <p:nvPr/>
        </p:nvSpPr>
        <p:spPr>
          <a:xfrm xmlns:a="http://schemas.openxmlformats.org/drawingml/2006/main">
            <a:off x="457200" y="4495800"/>
            <a:ext cx="35814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29" name="">
            <a:extLst xmlns:a="http://schemas.openxmlformats.org/drawingml/2006/main">
              <a:ext uri="{FF2B5EF4-FFF2-40B4-BE49-F238E27FC236}">
                <a16:creationId xmlns:a16="http://schemas.microsoft.com/office/drawing/2014/main" id="{181FA902-2633-47FE-8687-113AD8CA637B}"/>
              </a:ext>
            </a:extLst>
          </p:cNvPr>
          <p:cNvSpPr>
            <a:spLocks xmlns:a="http://schemas.openxmlformats.org/drawingml/2006/main" noGrp="1"/>
          </p:cNvSpPr>
          <p:nvPr/>
        </p:nvSpPr>
        <p:spPr>
          <a:xfrm xmlns:a="http://schemas.openxmlformats.org/drawingml/2006/main">
            <a:off x="457200" y="4495800"/>
            <a:ext cx="57150" cy="124777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5A8C08D1-CE75-48EB-80B5-4B35E3192856}"/>
              </a:ext>
            </a:extLst>
          </p:cNvPr>
          <p:cNvSpPr>
            <a:spLocks xmlns:a="http://schemas.openxmlformats.org/drawingml/2006/main" noGrp="1"/>
          </p:cNvSpPr>
          <p:nvPr/>
        </p:nvSpPr>
        <p:spPr>
          <a:xfrm xmlns:a="http://schemas.openxmlformats.org/drawingml/2006/main">
            <a:off x="685800" y="4686300"/>
            <a:ext cx="31623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Rails</a:t>
            </a:r>
          </a:p>
        </p:txBody>
      </p:sp>
      <p:sp>
        <p:nvSpPr>
          <p:cNvPr id="31" name="">
            <a:extLst xmlns:a="http://schemas.openxmlformats.org/drawingml/2006/main">
              <a:ext uri="{FF2B5EF4-FFF2-40B4-BE49-F238E27FC236}">
                <a16:creationId xmlns:a16="http://schemas.microsoft.com/office/drawing/2014/main" id="{8ADDD9AD-BC6B-480B-B8B7-133E7536F25D}"/>
              </a:ext>
            </a:extLst>
          </p:cNvPr>
          <p:cNvSpPr>
            <a:spLocks xmlns:a="http://schemas.openxmlformats.org/drawingml/2006/main" noGrp="1"/>
          </p:cNvSpPr>
          <p:nvPr/>
        </p:nvSpPr>
        <p:spPr>
          <a:xfrm xmlns:a="http://schemas.openxmlformats.org/drawingml/2006/main">
            <a:off x="685800" y="5048250"/>
            <a:ext cx="31242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Four required rails; unused rails tied to nominal.</a:t>
            </a:r>
          </a:p>
        </p:txBody>
      </p:sp>
      <p:sp>
        <p:nvSpPr>
          <p:cNvPr id="32" name="">
            <a:extLst xmlns:a="http://schemas.openxmlformats.org/drawingml/2006/main">
              <a:ext uri="{FF2B5EF4-FFF2-40B4-BE49-F238E27FC236}">
                <a16:creationId xmlns:a16="http://schemas.microsoft.com/office/drawing/2014/main" id="{74B4EB7E-9585-4A65-B257-02789A1336B5}"/>
              </a:ext>
            </a:extLst>
          </p:cNvPr>
          <p:cNvSpPr>
            <a:spLocks xmlns:a="http://schemas.openxmlformats.org/drawingml/2006/main" noGrp="1"/>
          </p:cNvSpPr>
          <p:nvPr/>
        </p:nvSpPr>
        <p:spPr>
          <a:xfrm xmlns:a="http://schemas.openxmlformats.org/drawingml/2006/main">
            <a:off x="4305300" y="4495800"/>
            <a:ext cx="35814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33" name="">
            <a:extLst xmlns:a="http://schemas.openxmlformats.org/drawingml/2006/main">
              <a:ext uri="{FF2B5EF4-FFF2-40B4-BE49-F238E27FC236}">
                <a16:creationId xmlns:a16="http://schemas.microsoft.com/office/drawing/2014/main" id="{1A2551E3-AED0-4173-88E3-8AB53EF42193}"/>
              </a:ext>
            </a:extLst>
          </p:cNvPr>
          <p:cNvSpPr>
            <a:spLocks xmlns:a="http://schemas.openxmlformats.org/drawingml/2006/main" noGrp="1"/>
          </p:cNvSpPr>
          <p:nvPr/>
        </p:nvSpPr>
        <p:spPr>
          <a:xfrm xmlns:a="http://schemas.openxmlformats.org/drawingml/2006/main">
            <a:off x="4305300" y="4495800"/>
            <a:ext cx="57150" cy="124777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D2B8470C-92C2-4080-B0F0-4E626E41CC86}"/>
              </a:ext>
            </a:extLst>
          </p:cNvPr>
          <p:cNvSpPr>
            <a:spLocks xmlns:a="http://schemas.openxmlformats.org/drawingml/2006/main" noGrp="1"/>
          </p:cNvSpPr>
          <p:nvPr/>
        </p:nvSpPr>
        <p:spPr>
          <a:xfrm xmlns:a="http://schemas.openxmlformats.org/drawingml/2006/main">
            <a:off x="4533900" y="4686300"/>
            <a:ext cx="31623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Clock</a:t>
            </a:r>
          </a:p>
        </p:txBody>
      </p:sp>
      <p:sp>
        <p:nvSpPr>
          <p:cNvPr id="35" name="">
            <a:extLst xmlns:a="http://schemas.openxmlformats.org/drawingml/2006/main">
              <a:ext uri="{FF2B5EF4-FFF2-40B4-BE49-F238E27FC236}">
                <a16:creationId xmlns:a16="http://schemas.microsoft.com/office/drawing/2014/main" id="{0B0D3D2E-5408-467E-8197-8CAF4F43AA8B}"/>
              </a:ext>
            </a:extLst>
          </p:cNvPr>
          <p:cNvSpPr>
            <a:spLocks xmlns:a="http://schemas.openxmlformats.org/drawingml/2006/main" noGrp="1"/>
          </p:cNvSpPr>
          <p:nvPr/>
        </p:nvSpPr>
        <p:spPr>
          <a:xfrm xmlns:a="http://schemas.openxmlformats.org/drawingml/2006/main">
            <a:off x="4533900" y="5048250"/>
            <a:ext cx="31242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One 3.3 V CMOS input, no PLL; core ~55–62 MHz.</a:t>
            </a:r>
          </a:p>
        </p:txBody>
      </p:sp>
      <p:sp>
        <p:nvSpPr>
          <p:cNvPr id="36" name="">
            <a:extLst xmlns:a="http://schemas.openxmlformats.org/drawingml/2006/main">
              <a:ext uri="{FF2B5EF4-FFF2-40B4-BE49-F238E27FC236}">
                <a16:creationId xmlns:a16="http://schemas.microsoft.com/office/drawing/2014/main" id="{34F5742B-76C9-4D52-B941-A13FEDE9B28F}"/>
              </a:ext>
            </a:extLst>
          </p:cNvPr>
          <p:cNvSpPr>
            <a:spLocks xmlns:a="http://schemas.openxmlformats.org/drawingml/2006/main" noGrp="1"/>
          </p:cNvSpPr>
          <p:nvPr/>
        </p:nvSpPr>
        <p:spPr>
          <a:xfrm xmlns:a="http://schemas.openxmlformats.org/drawingml/2006/main">
            <a:off x="8153400" y="4495800"/>
            <a:ext cx="35814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37" name="">
            <a:extLst xmlns:a="http://schemas.openxmlformats.org/drawingml/2006/main">
              <a:ext uri="{FF2B5EF4-FFF2-40B4-BE49-F238E27FC236}">
                <a16:creationId xmlns:a16="http://schemas.microsoft.com/office/drawing/2014/main" id="{D637FE19-5AEC-45CA-AC34-2C06C576A205}"/>
              </a:ext>
            </a:extLst>
          </p:cNvPr>
          <p:cNvSpPr>
            <a:spLocks xmlns:a="http://schemas.openxmlformats.org/drawingml/2006/main" noGrp="1"/>
          </p:cNvSpPr>
          <p:nvPr/>
        </p:nvSpPr>
        <p:spPr>
          <a:xfrm xmlns:a="http://schemas.openxmlformats.org/drawingml/2006/main">
            <a:off x="8153400" y="4495800"/>
            <a:ext cx="57150" cy="1247775"/>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93BD1587-DC86-47AB-9C89-AD1CA1907F42}"/>
              </a:ext>
            </a:extLst>
          </p:cNvPr>
          <p:cNvSpPr>
            <a:spLocks xmlns:a="http://schemas.openxmlformats.org/drawingml/2006/main" noGrp="1"/>
          </p:cNvSpPr>
          <p:nvPr/>
        </p:nvSpPr>
        <p:spPr>
          <a:xfrm xmlns:a="http://schemas.openxmlformats.org/drawingml/2006/main">
            <a:off x="8382000" y="4686300"/>
            <a:ext cx="31623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Pins</a:t>
            </a:r>
          </a:p>
        </p:txBody>
      </p:sp>
      <p:sp>
        <p:nvSpPr>
          <p:cNvPr id="39" name="">
            <a:extLst xmlns:a="http://schemas.openxmlformats.org/drawingml/2006/main">
              <a:ext uri="{FF2B5EF4-FFF2-40B4-BE49-F238E27FC236}">
                <a16:creationId xmlns:a16="http://schemas.microsoft.com/office/drawing/2014/main" id="{B174E5BB-FFF4-4476-8529-B68A1BE575A0}"/>
              </a:ext>
            </a:extLst>
          </p:cNvPr>
          <p:cNvSpPr>
            <a:spLocks xmlns:a="http://schemas.openxmlformats.org/drawingml/2006/main" noGrp="1"/>
          </p:cNvSpPr>
          <p:nvPr/>
        </p:nvSpPr>
        <p:spPr>
          <a:xfrm xmlns:a="http://schemas.openxmlformats.org/drawingml/2006/main">
            <a:off x="8382000" y="5048250"/>
            <a:ext cx="31242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44 signals in eleven groups; 20 supplies and grounds.</a:t>
            </a:r>
          </a:p>
        </p:txBody>
      </p:sp>
      <p:sp>
        <p:nvSpPr>
          <p:cNvPr id="40" name="">
            <a:extLst xmlns:a="http://schemas.openxmlformats.org/drawingml/2006/main">
              <a:ext uri="{FF2B5EF4-FFF2-40B4-BE49-F238E27FC236}">
                <a16:creationId xmlns:a16="http://schemas.microsoft.com/office/drawing/2014/main" id="{289657AB-8F82-478A-9A27-5D0937968B27}"/>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6B7280"/>
                </a:solidFill>
                <a:latin typeface="Arial"/>
                <a:ea typeface="Arial"/>
                <a:cs typeface="Arial"/>
              </a:defRPr>
            </a:pPr>
            <a:r>
              <a:t>Source: DG32-LITE preliminary datasheet §2, §4.1, §5, §6.1.</a:t>
            </a:r>
          </a:p>
        </p:txBody>
      </p:sp>
    </p:spTree>
    <p:extLst>
      <p:ext uri="{BB962C8B-B14F-4D97-AF65-F5344CB8AC3E}">
        <p14:creationId xmlns:p14="http://schemas.microsoft.com/office/powerpoint/2010/main" val="1656212760"/>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6611F228-957B-4ABB-89DF-F2F10CC9FAB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C759471-F0C0-42F2-94A5-BF59A2197125}"/>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77A3"/>
                </a:solidFill>
                <a:latin typeface="Arial"/>
                <a:ea typeface="Arial"/>
                <a:cs typeface="Arial"/>
              </a:defRPr>
            </a:pPr>
            <a:r>
              <a:t>03 · FEATURES</a:t>
            </a:r>
          </a:p>
        </p:txBody>
      </p:sp>
      <p:sp>
        <p:nvSpPr>
          <p:cNvPr id="3" name="">
            <a:extLst xmlns:a="http://schemas.openxmlformats.org/drawingml/2006/main">
              <a:ext uri="{FF2B5EF4-FFF2-40B4-BE49-F238E27FC236}">
                <a16:creationId xmlns:a16="http://schemas.microsoft.com/office/drawing/2014/main" id="{E509F8E4-BBCF-4424-8CE8-3047DF17D530}"/>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Nine features, one self-booting safety SoC</a:t>
            </a:r>
          </a:p>
        </p:txBody>
      </p:sp>
      <p:sp>
        <p:nvSpPr>
          <p:cNvPr id="4" name="">
            <a:extLst xmlns:a="http://schemas.openxmlformats.org/drawingml/2006/main">
              <a:ext uri="{FF2B5EF4-FFF2-40B4-BE49-F238E27FC236}">
                <a16:creationId xmlns:a16="http://schemas.microsoft.com/office/drawing/2014/main" id="{27EF21B9-78D8-46E3-94EF-B1C7FB2A2A08}"/>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The datasheet’s feature list, grouped as a design sees it</a:t>
            </a:r>
          </a:p>
        </p:txBody>
      </p:sp>
      <p:sp>
        <p:nvSpPr>
          <p:cNvPr id="5" name="">
            <a:extLst xmlns:a="http://schemas.openxmlformats.org/drawingml/2006/main">
              <a:ext uri="{FF2B5EF4-FFF2-40B4-BE49-F238E27FC236}">
                <a16:creationId xmlns:a16="http://schemas.microsoft.com/office/drawing/2014/main" id="{42C3E941-EAB3-420F-92EF-7B72FDBFC282}"/>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FB370B7-5AB4-4064-B9B7-19ABBC295D61}"/>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890359F-3876-4175-8D6F-D292AB89517E}"/>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DEEPGRID SEMI  ·  DG32-LITE PRELIMINARY DATASHEET  ·  SEPTEMBER 2026  ·  PRE-SILICON</a:t>
            </a:r>
          </a:p>
        </p:txBody>
      </p:sp>
      <p:sp>
        <p:nvSpPr>
          <p:cNvPr id="8" name="">
            <a:extLst xmlns:a="http://schemas.openxmlformats.org/drawingml/2006/main">
              <a:ext uri="{FF2B5EF4-FFF2-40B4-BE49-F238E27FC236}">
                <a16:creationId xmlns:a16="http://schemas.microsoft.com/office/drawing/2014/main" id="{BD5062EA-1F72-4731-9FE2-1DB99E266084}"/>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03</a:t>
            </a:r>
          </a:p>
        </p:txBody>
      </p:sp>
      <p:sp>
        <p:nvSpPr>
          <p:cNvPr id="9" name="">
            <a:extLst xmlns:a="http://schemas.openxmlformats.org/drawingml/2006/main">
              <a:ext uri="{FF2B5EF4-FFF2-40B4-BE49-F238E27FC236}">
                <a16:creationId xmlns:a16="http://schemas.microsoft.com/office/drawing/2014/main" id="{1D50F31E-463A-4F48-8724-3544EEFE2514}"/>
              </a:ext>
            </a:extLst>
          </p:cNvPr>
          <p:cNvSpPr>
            <a:spLocks xmlns:a="http://schemas.openxmlformats.org/drawingml/2006/main" noGrp="1"/>
          </p:cNvSpPr>
          <p:nvPr/>
        </p:nvSpPr>
        <p:spPr>
          <a:xfrm xmlns:a="http://schemas.openxmlformats.org/drawingml/2006/main">
            <a:off x="457200" y="1638300"/>
            <a:ext cx="35814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6D410810-3FAD-41F4-9D08-6D4BBDF9778E}"/>
              </a:ext>
            </a:extLst>
          </p:cNvPr>
          <p:cNvSpPr>
            <a:spLocks xmlns:a="http://schemas.openxmlformats.org/drawingml/2006/main" noGrp="1"/>
          </p:cNvSpPr>
          <p:nvPr/>
        </p:nvSpPr>
        <p:spPr>
          <a:xfrm xmlns:a="http://schemas.openxmlformats.org/drawingml/2006/main">
            <a:off x="457200" y="1638300"/>
            <a:ext cx="57150" cy="124777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D918437-79E2-4D36-9675-EEAFD0EA972F}"/>
              </a:ext>
            </a:extLst>
          </p:cNvPr>
          <p:cNvSpPr>
            <a:spLocks xmlns:a="http://schemas.openxmlformats.org/drawingml/2006/main" noGrp="1"/>
          </p:cNvSpPr>
          <p:nvPr/>
        </p:nvSpPr>
        <p:spPr>
          <a:xfrm xmlns:a="http://schemas.openxmlformats.org/drawingml/2006/main">
            <a:off x="685800" y="1828800"/>
            <a:ext cx="31623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Lockstep cores</a:t>
            </a:r>
          </a:p>
        </p:txBody>
      </p:sp>
      <p:sp>
        <p:nvSpPr>
          <p:cNvPr id="12" name="">
            <a:extLst xmlns:a="http://schemas.openxmlformats.org/drawingml/2006/main">
              <a:ext uri="{FF2B5EF4-FFF2-40B4-BE49-F238E27FC236}">
                <a16:creationId xmlns:a16="http://schemas.microsoft.com/office/drawing/2014/main" id="{81AC4743-8F93-40FF-A532-6CDB24BC8A33}"/>
              </a:ext>
            </a:extLst>
          </p:cNvPr>
          <p:cNvSpPr>
            <a:spLocks xmlns:a="http://schemas.openxmlformats.org/drawingml/2006/main" noGrp="1"/>
          </p:cNvSpPr>
          <p:nvPr/>
        </p:nvSpPr>
        <p:spPr>
          <a:xfrm xmlns:a="http://schemas.openxmlformats.org/drawingml/2006/main">
            <a:off x="685800" y="2190750"/>
            <a:ext cx="31242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Two RV32IM cores, a fault comparator and a sticky fault register</a:t>
            </a:r>
          </a:p>
        </p:txBody>
      </p:sp>
      <p:sp>
        <p:nvSpPr>
          <p:cNvPr id="13" name="">
            <a:extLst xmlns:a="http://schemas.openxmlformats.org/drawingml/2006/main">
              <a:ext uri="{FF2B5EF4-FFF2-40B4-BE49-F238E27FC236}">
                <a16:creationId xmlns:a16="http://schemas.microsoft.com/office/drawing/2014/main" id="{70423C17-0603-47A7-A17B-0B92720174CE}"/>
              </a:ext>
            </a:extLst>
          </p:cNvPr>
          <p:cNvSpPr>
            <a:spLocks xmlns:a="http://schemas.openxmlformats.org/drawingml/2006/main" noGrp="1"/>
          </p:cNvSpPr>
          <p:nvPr/>
        </p:nvSpPr>
        <p:spPr>
          <a:xfrm xmlns:a="http://schemas.openxmlformats.org/drawingml/2006/main">
            <a:off x="4305300" y="1638300"/>
            <a:ext cx="35814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14" name="">
            <a:extLst xmlns:a="http://schemas.openxmlformats.org/drawingml/2006/main">
              <a:ext uri="{FF2B5EF4-FFF2-40B4-BE49-F238E27FC236}">
                <a16:creationId xmlns:a16="http://schemas.microsoft.com/office/drawing/2014/main" id="{AACF003B-DB8D-40EB-AAAC-0F0D6D3C1515}"/>
              </a:ext>
            </a:extLst>
          </p:cNvPr>
          <p:cNvSpPr>
            <a:spLocks xmlns:a="http://schemas.openxmlformats.org/drawingml/2006/main" noGrp="1"/>
          </p:cNvSpPr>
          <p:nvPr/>
        </p:nvSpPr>
        <p:spPr>
          <a:xfrm xmlns:a="http://schemas.openxmlformats.org/drawingml/2006/main">
            <a:off x="4305300" y="1638300"/>
            <a:ext cx="57150" cy="124777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B7A2034-C675-4869-8138-ABCCC97C57C5}"/>
              </a:ext>
            </a:extLst>
          </p:cNvPr>
          <p:cNvSpPr>
            <a:spLocks xmlns:a="http://schemas.openxmlformats.org/drawingml/2006/main" noGrp="1"/>
          </p:cNvSpPr>
          <p:nvPr/>
        </p:nvSpPr>
        <p:spPr>
          <a:xfrm xmlns:a="http://schemas.openxmlformats.org/drawingml/2006/main">
            <a:off x="4533900" y="1828800"/>
            <a:ext cx="31623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Memory</a:t>
            </a:r>
          </a:p>
        </p:txBody>
      </p:sp>
      <p:sp>
        <p:nvSpPr>
          <p:cNvPr id="16" name="">
            <a:extLst xmlns:a="http://schemas.openxmlformats.org/drawingml/2006/main">
              <a:ext uri="{FF2B5EF4-FFF2-40B4-BE49-F238E27FC236}">
                <a16:creationId xmlns:a16="http://schemas.microsoft.com/office/drawing/2014/main" id="{91BD7261-CB22-45F2-9F21-2CEA021000EE}"/>
              </a:ext>
            </a:extLst>
          </p:cNvPr>
          <p:cNvSpPr>
            <a:spLocks xmlns:a="http://schemas.openxmlformats.org/drawingml/2006/main" noGrp="1"/>
          </p:cNvSpPr>
          <p:nvPr/>
        </p:nvSpPr>
        <p:spPr>
          <a:xfrm xmlns:a="http://schemas.openxmlformats.org/drawingml/2006/main">
            <a:off x="4533900" y="2190750"/>
            <a:ext cx="31242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32 KB SRAM, 64 KB boot ROM and a window onto external flash</a:t>
            </a:r>
          </a:p>
        </p:txBody>
      </p:sp>
      <p:sp>
        <p:nvSpPr>
          <p:cNvPr id="17" name="">
            <a:extLst xmlns:a="http://schemas.openxmlformats.org/drawingml/2006/main">
              <a:ext uri="{FF2B5EF4-FFF2-40B4-BE49-F238E27FC236}">
                <a16:creationId xmlns:a16="http://schemas.microsoft.com/office/drawing/2014/main" id="{B56DAA6C-0B57-4BC3-80D1-F678A4A738D3}"/>
              </a:ext>
            </a:extLst>
          </p:cNvPr>
          <p:cNvSpPr>
            <a:spLocks xmlns:a="http://schemas.openxmlformats.org/drawingml/2006/main" noGrp="1"/>
          </p:cNvSpPr>
          <p:nvPr/>
        </p:nvSpPr>
        <p:spPr>
          <a:xfrm xmlns:a="http://schemas.openxmlformats.org/drawingml/2006/main">
            <a:off x="8153400" y="1638300"/>
            <a:ext cx="35814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18" name="">
            <a:extLst xmlns:a="http://schemas.openxmlformats.org/drawingml/2006/main">
              <a:ext uri="{FF2B5EF4-FFF2-40B4-BE49-F238E27FC236}">
                <a16:creationId xmlns:a16="http://schemas.microsoft.com/office/drawing/2014/main" id="{1C9F7068-A779-43F5-B412-A8A9FE996263}"/>
              </a:ext>
            </a:extLst>
          </p:cNvPr>
          <p:cNvSpPr>
            <a:spLocks xmlns:a="http://schemas.openxmlformats.org/drawingml/2006/main" noGrp="1"/>
          </p:cNvSpPr>
          <p:nvPr/>
        </p:nvSpPr>
        <p:spPr>
          <a:xfrm xmlns:a="http://schemas.openxmlformats.org/drawingml/2006/main">
            <a:off x="8153400" y="1638300"/>
            <a:ext cx="57150" cy="124777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C969393-0B5B-44A0-AA6E-C65A40D9C5E5}"/>
              </a:ext>
            </a:extLst>
          </p:cNvPr>
          <p:cNvSpPr>
            <a:spLocks xmlns:a="http://schemas.openxmlformats.org/drawingml/2006/main" noGrp="1"/>
          </p:cNvSpPr>
          <p:nvPr/>
        </p:nvSpPr>
        <p:spPr>
          <a:xfrm xmlns:a="http://schemas.openxmlformats.org/drawingml/2006/main">
            <a:off x="8382000" y="1828800"/>
            <a:ext cx="31623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3-phase PWM</a:t>
            </a:r>
          </a:p>
        </p:txBody>
      </p:sp>
      <p:sp>
        <p:nvSpPr>
          <p:cNvPr id="20" name="">
            <a:extLst xmlns:a="http://schemas.openxmlformats.org/drawingml/2006/main">
              <a:ext uri="{FF2B5EF4-FFF2-40B4-BE49-F238E27FC236}">
                <a16:creationId xmlns:a16="http://schemas.microsoft.com/office/drawing/2014/main" id="{5D761A34-4914-4C13-8D81-7BBF3C849DDB}"/>
              </a:ext>
            </a:extLst>
          </p:cNvPr>
          <p:cNvSpPr>
            <a:spLocks xmlns:a="http://schemas.openxmlformats.org/drawingml/2006/main" noGrp="1"/>
          </p:cNvSpPr>
          <p:nvPr/>
        </p:nvSpPr>
        <p:spPr>
          <a:xfrm xmlns:a="http://schemas.openxmlformats.org/drawingml/2006/main">
            <a:off x="8382000" y="2190750"/>
            <a:ext cx="31242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Complementary, programmable dead-time, hardware brake</a:t>
            </a:r>
          </a:p>
        </p:txBody>
      </p:sp>
      <p:sp>
        <p:nvSpPr>
          <p:cNvPr id="21" name="">
            <a:extLst xmlns:a="http://schemas.openxmlformats.org/drawingml/2006/main">
              <a:ext uri="{FF2B5EF4-FFF2-40B4-BE49-F238E27FC236}">
                <a16:creationId xmlns:a16="http://schemas.microsoft.com/office/drawing/2014/main" id="{FB6328FD-E796-431F-8198-7F8647E7B274}"/>
              </a:ext>
            </a:extLst>
          </p:cNvPr>
          <p:cNvSpPr>
            <a:spLocks xmlns:a="http://schemas.openxmlformats.org/drawingml/2006/main" noGrp="1"/>
          </p:cNvSpPr>
          <p:nvPr/>
        </p:nvSpPr>
        <p:spPr>
          <a:xfrm xmlns:a="http://schemas.openxmlformats.org/drawingml/2006/main">
            <a:off x="457200" y="3019425"/>
            <a:ext cx="35814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22" name="">
            <a:extLst xmlns:a="http://schemas.openxmlformats.org/drawingml/2006/main">
              <a:ext uri="{FF2B5EF4-FFF2-40B4-BE49-F238E27FC236}">
                <a16:creationId xmlns:a16="http://schemas.microsoft.com/office/drawing/2014/main" id="{061EE9A5-1CB1-4004-86F2-5A8A1B31905F}"/>
              </a:ext>
            </a:extLst>
          </p:cNvPr>
          <p:cNvSpPr>
            <a:spLocks xmlns:a="http://schemas.openxmlformats.org/drawingml/2006/main" noGrp="1"/>
          </p:cNvSpPr>
          <p:nvPr/>
        </p:nvSpPr>
        <p:spPr>
          <a:xfrm xmlns:a="http://schemas.openxmlformats.org/drawingml/2006/main">
            <a:off x="457200" y="3019425"/>
            <a:ext cx="57150" cy="124777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DB55D870-8644-4CC5-B37F-99E217B2951F}"/>
              </a:ext>
            </a:extLst>
          </p:cNvPr>
          <p:cNvSpPr>
            <a:spLocks xmlns:a="http://schemas.openxmlformats.org/drawingml/2006/main" noGrp="1"/>
          </p:cNvSpPr>
          <p:nvPr/>
        </p:nvSpPr>
        <p:spPr>
          <a:xfrm xmlns:a="http://schemas.openxmlformats.org/drawingml/2006/main">
            <a:off x="685800" y="3209925"/>
            <a:ext cx="31623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DShot × 4</a:t>
            </a:r>
          </a:p>
        </p:txBody>
      </p:sp>
      <p:sp>
        <p:nvSpPr>
          <p:cNvPr id="24" name="">
            <a:extLst xmlns:a="http://schemas.openxmlformats.org/drawingml/2006/main">
              <a:ext uri="{FF2B5EF4-FFF2-40B4-BE49-F238E27FC236}">
                <a16:creationId xmlns:a16="http://schemas.microsoft.com/office/drawing/2014/main" id="{675E70C2-24E0-4202-9BDD-FDCECC5F8C57}"/>
              </a:ext>
            </a:extLst>
          </p:cNvPr>
          <p:cNvSpPr>
            <a:spLocks xmlns:a="http://schemas.openxmlformats.org/drawingml/2006/main" noGrp="1"/>
          </p:cNvSpPr>
          <p:nvPr/>
        </p:nvSpPr>
        <p:spPr>
          <a:xfrm xmlns:a="http://schemas.openxmlformats.org/drawingml/2006/main">
            <a:off x="685800" y="3571875"/>
            <a:ext cx="31242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Four ESC channels, pin-muxed onto the PWM pads</a:t>
            </a:r>
          </a:p>
        </p:txBody>
      </p:sp>
      <p:sp>
        <p:nvSpPr>
          <p:cNvPr id="25" name="">
            <a:extLst xmlns:a="http://schemas.openxmlformats.org/drawingml/2006/main">
              <a:ext uri="{FF2B5EF4-FFF2-40B4-BE49-F238E27FC236}">
                <a16:creationId xmlns:a16="http://schemas.microsoft.com/office/drawing/2014/main" id="{C2D55A15-682B-473B-A110-E26C372C39E0}"/>
              </a:ext>
            </a:extLst>
          </p:cNvPr>
          <p:cNvSpPr>
            <a:spLocks xmlns:a="http://schemas.openxmlformats.org/drawingml/2006/main" noGrp="1"/>
          </p:cNvSpPr>
          <p:nvPr/>
        </p:nvSpPr>
        <p:spPr>
          <a:xfrm xmlns:a="http://schemas.openxmlformats.org/drawingml/2006/main">
            <a:off x="4305300" y="3019425"/>
            <a:ext cx="35814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26" name="">
            <a:extLst xmlns:a="http://schemas.openxmlformats.org/drawingml/2006/main">
              <a:ext uri="{FF2B5EF4-FFF2-40B4-BE49-F238E27FC236}">
                <a16:creationId xmlns:a16="http://schemas.microsoft.com/office/drawing/2014/main" id="{1DFE4B1A-0538-44DC-936A-A8E4D1052079}"/>
              </a:ext>
            </a:extLst>
          </p:cNvPr>
          <p:cNvSpPr>
            <a:spLocks xmlns:a="http://schemas.openxmlformats.org/drawingml/2006/main" noGrp="1"/>
          </p:cNvSpPr>
          <p:nvPr/>
        </p:nvSpPr>
        <p:spPr>
          <a:xfrm xmlns:a="http://schemas.openxmlformats.org/drawingml/2006/main">
            <a:off x="4305300" y="3019425"/>
            <a:ext cx="57150" cy="124777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5DDBC179-163E-4151-A17C-7D845DEB8EAA}"/>
              </a:ext>
            </a:extLst>
          </p:cNvPr>
          <p:cNvSpPr>
            <a:spLocks xmlns:a="http://schemas.openxmlformats.org/drawingml/2006/main" noGrp="1"/>
          </p:cNvSpPr>
          <p:nvPr/>
        </p:nvSpPr>
        <p:spPr>
          <a:xfrm xmlns:a="http://schemas.openxmlformats.org/drawingml/2006/main">
            <a:off x="4533900" y="3209925"/>
            <a:ext cx="31623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Position and math</a:t>
            </a:r>
          </a:p>
        </p:txBody>
      </p:sp>
      <p:sp>
        <p:nvSpPr>
          <p:cNvPr id="28" name="">
            <a:extLst xmlns:a="http://schemas.openxmlformats.org/drawingml/2006/main">
              <a:ext uri="{FF2B5EF4-FFF2-40B4-BE49-F238E27FC236}">
                <a16:creationId xmlns:a16="http://schemas.microsoft.com/office/drawing/2014/main" id="{19A6BF99-7C94-4CC9-9937-13314F5F461B}"/>
              </a:ext>
            </a:extLst>
          </p:cNvPr>
          <p:cNvSpPr>
            <a:spLocks xmlns:a="http://schemas.openxmlformats.org/drawingml/2006/main" noGrp="1"/>
          </p:cNvSpPr>
          <p:nvPr/>
        </p:nvSpPr>
        <p:spPr>
          <a:xfrm xmlns:a="http://schemas.openxmlformats.org/drawingml/2006/main">
            <a:off x="4533900" y="3571875"/>
            <a:ext cx="31242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Quadrature and Hall with timestamps; CORDIC for FOC</a:t>
            </a:r>
          </a:p>
        </p:txBody>
      </p:sp>
      <p:sp>
        <p:nvSpPr>
          <p:cNvPr id="29" name="">
            <a:extLst xmlns:a="http://schemas.openxmlformats.org/drawingml/2006/main">
              <a:ext uri="{FF2B5EF4-FFF2-40B4-BE49-F238E27FC236}">
                <a16:creationId xmlns:a16="http://schemas.microsoft.com/office/drawing/2014/main" id="{700A1923-3440-4907-A296-843F5DDFAAC9}"/>
              </a:ext>
            </a:extLst>
          </p:cNvPr>
          <p:cNvSpPr>
            <a:spLocks xmlns:a="http://schemas.openxmlformats.org/drawingml/2006/main" noGrp="1"/>
          </p:cNvSpPr>
          <p:nvPr/>
        </p:nvSpPr>
        <p:spPr>
          <a:xfrm xmlns:a="http://schemas.openxmlformats.org/drawingml/2006/main">
            <a:off x="8153400" y="3019425"/>
            <a:ext cx="35814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30" name="">
            <a:extLst xmlns:a="http://schemas.openxmlformats.org/drawingml/2006/main">
              <a:ext uri="{FF2B5EF4-FFF2-40B4-BE49-F238E27FC236}">
                <a16:creationId xmlns:a16="http://schemas.microsoft.com/office/drawing/2014/main" id="{AF8CB500-04FF-46B6-842F-78950E6C8CBB}"/>
              </a:ext>
            </a:extLst>
          </p:cNvPr>
          <p:cNvSpPr>
            <a:spLocks xmlns:a="http://schemas.openxmlformats.org/drawingml/2006/main" noGrp="1"/>
          </p:cNvSpPr>
          <p:nvPr/>
        </p:nvSpPr>
        <p:spPr>
          <a:xfrm xmlns:a="http://schemas.openxmlformats.org/drawingml/2006/main">
            <a:off x="8153400" y="3019425"/>
            <a:ext cx="57150" cy="124777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6107829A-17BB-4FBE-849A-FF6467AC924C}"/>
              </a:ext>
            </a:extLst>
          </p:cNvPr>
          <p:cNvSpPr>
            <a:spLocks xmlns:a="http://schemas.openxmlformats.org/drawingml/2006/main" noGrp="1"/>
          </p:cNvSpPr>
          <p:nvPr/>
        </p:nvSpPr>
        <p:spPr>
          <a:xfrm xmlns:a="http://schemas.openxmlformats.org/drawingml/2006/main">
            <a:off x="8382000" y="3209925"/>
            <a:ext cx="31623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On-die ADC</a:t>
            </a:r>
          </a:p>
        </p:txBody>
      </p:sp>
      <p:sp>
        <p:nvSpPr>
          <p:cNvPr id="32" name="">
            <a:extLst xmlns:a="http://schemas.openxmlformats.org/drawingml/2006/main">
              <a:ext uri="{FF2B5EF4-FFF2-40B4-BE49-F238E27FC236}">
                <a16:creationId xmlns:a16="http://schemas.microsoft.com/office/drawing/2014/main" id="{EEC467A6-E0EA-439A-9F8F-449B9FD73EA4}"/>
              </a:ext>
            </a:extLst>
          </p:cNvPr>
          <p:cNvSpPr>
            <a:spLocks xmlns:a="http://schemas.openxmlformats.org/drawingml/2006/main" noGrp="1"/>
          </p:cNvSpPr>
          <p:nvPr/>
        </p:nvSpPr>
        <p:spPr>
          <a:xfrm xmlns:a="http://schemas.openxmlformats.org/drawingml/2006/main">
            <a:off x="8382000" y="3571875"/>
            <a:ext cx="31242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8-bit differential SAR, triggered by the PWM</a:t>
            </a:r>
          </a:p>
        </p:txBody>
      </p:sp>
      <p:sp>
        <p:nvSpPr>
          <p:cNvPr id="33" name="">
            <a:extLst xmlns:a="http://schemas.openxmlformats.org/drawingml/2006/main">
              <a:ext uri="{FF2B5EF4-FFF2-40B4-BE49-F238E27FC236}">
                <a16:creationId xmlns:a16="http://schemas.microsoft.com/office/drawing/2014/main" id="{3026B696-2D65-4E47-B3FA-BB2DB6D08F0E}"/>
              </a:ext>
            </a:extLst>
          </p:cNvPr>
          <p:cNvSpPr>
            <a:spLocks xmlns:a="http://schemas.openxmlformats.org/drawingml/2006/main" noGrp="1"/>
          </p:cNvSpPr>
          <p:nvPr/>
        </p:nvSpPr>
        <p:spPr>
          <a:xfrm xmlns:a="http://schemas.openxmlformats.org/drawingml/2006/main">
            <a:off x="457200" y="4400550"/>
            <a:ext cx="35814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34" name="">
            <a:extLst xmlns:a="http://schemas.openxmlformats.org/drawingml/2006/main">
              <a:ext uri="{FF2B5EF4-FFF2-40B4-BE49-F238E27FC236}">
                <a16:creationId xmlns:a16="http://schemas.microsoft.com/office/drawing/2014/main" id="{103F67BF-5B24-4AE1-A6DA-0F8AEBEB5B04}"/>
              </a:ext>
            </a:extLst>
          </p:cNvPr>
          <p:cNvSpPr>
            <a:spLocks xmlns:a="http://schemas.openxmlformats.org/drawingml/2006/main" noGrp="1"/>
          </p:cNvSpPr>
          <p:nvPr/>
        </p:nvSpPr>
        <p:spPr>
          <a:xfrm xmlns:a="http://schemas.openxmlformats.org/drawingml/2006/main">
            <a:off x="457200" y="4400550"/>
            <a:ext cx="57150" cy="1247775"/>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CD2E3C14-F1C4-4548-BBB9-11F1ADA8D5D7}"/>
              </a:ext>
            </a:extLst>
          </p:cNvPr>
          <p:cNvSpPr>
            <a:spLocks xmlns:a="http://schemas.openxmlformats.org/drawingml/2006/main" noGrp="1"/>
          </p:cNvSpPr>
          <p:nvPr/>
        </p:nvSpPr>
        <p:spPr>
          <a:xfrm xmlns:a="http://schemas.openxmlformats.org/drawingml/2006/main">
            <a:off x="685800" y="4591050"/>
            <a:ext cx="31623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Connectivity</a:t>
            </a:r>
          </a:p>
        </p:txBody>
      </p:sp>
      <p:sp>
        <p:nvSpPr>
          <p:cNvPr id="36" name="">
            <a:extLst xmlns:a="http://schemas.openxmlformats.org/drawingml/2006/main">
              <a:ext uri="{FF2B5EF4-FFF2-40B4-BE49-F238E27FC236}">
                <a16:creationId xmlns:a16="http://schemas.microsoft.com/office/drawing/2014/main" id="{E7D34F1F-5D95-4789-A553-4259B4C9EAB1}"/>
              </a:ext>
            </a:extLst>
          </p:cNvPr>
          <p:cNvSpPr>
            <a:spLocks xmlns:a="http://schemas.openxmlformats.org/drawingml/2006/main" noGrp="1"/>
          </p:cNvSpPr>
          <p:nvPr/>
        </p:nvSpPr>
        <p:spPr>
          <a:xfrm xmlns:a="http://schemas.openxmlformats.org/drawingml/2006/main">
            <a:off x="685800" y="4953000"/>
            <a:ext cx="31242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Two UARTs, an SPI master, an I²C master and GPIO</a:t>
            </a:r>
          </a:p>
        </p:txBody>
      </p:sp>
      <p:sp>
        <p:nvSpPr>
          <p:cNvPr id="37" name="">
            <a:extLst xmlns:a="http://schemas.openxmlformats.org/drawingml/2006/main">
              <a:ext uri="{FF2B5EF4-FFF2-40B4-BE49-F238E27FC236}">
                <a16:creationId xmlns:a16="http://schemas.microsoft.com/office/drawing/2014/main" id="{C8A7B450-40BF-4C05-BDD4-CB7F10E93EDA}"/>
              </a:ext>
            </a:extLst>
          </p:cNvPr>
          <p:cNvSpPr>
            <a:spLocks xmlns:a="http://schemas.openxmlformats.org/drawingml/2006/main" noGrp="1"/>
          </p:cNvSpPr>
          <p:nvPr/>
        </p:nvSpPr>
        <p:spPr>
          <a:xfrm xmlns:a="http://schemas.openxmlformats.org/drawingml/2006/main">
            <a:off x="4305300" y="4400550"/>
            <a:ext cx="35814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38" name="">
            <a:extLst xmlns:a="http://schemas.openxmlformats.org/drawingml/2006/main">
              <a:ext uri="{FF2B5EF4-FFF2-40B4-BE49-F238E27FC236}">
                <a16:creationId xmlns:a16="http://schemas.microsoft.com/office/drawing/2014/main" id="{6E922070-CA47-433B-A5A7-8E1E4E6EF0E6}"/>
              </a:ext>
            </a:extLst>
          </p:cNvPr>
          <p:cNvSpPr>
            <a:spLocks xmlns:a="http://schemas.openxmlformats.org/drawingml/2006/main" noGrp="1"/>
          </p:cNvSpPr>
          <p:nvPr/>
        </p:nvSpPr>
        <p:spPr>
          <a:xfrm xmlns:a="http://schemas.openxmlformats.org/drawingml/2006/main">
            <a:off x="4305300" y="4400550"/>
            <a:ext cx="57150" cy="1247775"/>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5F9DDE5A-570C-4C6C-8518-22D8FBAE171A}"/>
              </a:ext>
            </a:extLst>
          </p:cNvPr>
          <p:cNvSpPr>
            <a:spLocks xmlns:a="http://schemas.openxmlformats.org/drawingml/2006/main" noGrp="1"/>
          </p:cNvSpPr>
          <p:nvPr/>
        </p:nvSpPr>
        <p:spPr>
          <a:xfrm xmlns:a="http://schemas.openxmlformats.org/drawingml/2006/main">
            <a:off x="4533900" y="4591050"/>
            <a:ext cx="31623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Supervision</a:t>
            </a:r>
          </a:p>
        </p:txBody>
      </p:sp>
      <p:sp>
        <p:nvSpPr>
          <p:cNvPr id="40" name="">
            <a:extLst xmlns:a="http://schemas.openxmlformats.org/drawingml/2006/main">
              <a:ext uri="{FF2B5EF4-FFF2-40B4-BE49-F238E27FC236}">
                <a16:creationId xmlns:a16="http://schemas.microsoft.com/office/drawing/2014/main" id="{C652D107-0892-4722-8CEE-925C1D9E3A56}"/>
              </a:ext>
            </a:extLst>
          </p:cNvPr>
          <p:cNvSpPr>
            <a:spLocks xmlns:a="http://schemas.openxmlformats.org/drawingml/2006/main" noGrp="1"/>
          </p:cNvSpPr>
          <p:nvPr/>
        </p:nvSpPr>
        <p:spPr>
          <a:xfrm xmlns:a="http://schemas.openxmlformats.org/drawingml/2006/main">
            <a:off x="4533900" y="4953000"/>
            <a:ext cx="31242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Two timers, a windowed watchdog and a supply supervisor</a:t>
            </a:r>
          </a:p>
        </p:txBody>
      </p:sp>
      <p:sp>
        <p:nvSpPr>
          <p:cNvPr id="41" name="">
            <a:extLst xmlns:a="http://schemas.openxmlformats.org/drawingml/2006/main">
              <a:ext uri="{FF2B5EF4-FFF2-40B4-BE49-F238E27FC236}">
                <a16:creationId xmlns:a16="http://schemas.microsoft.com/office/drawing/2014/main" id="{CBF5DA01-9287-437D-986D-5D0413D9CC53}"/>
              </a:ext>
            </a:extLst>
          </p:cNvPr>
          <p:cNvSpPr>
            <a:spLocks xmlns:a="http://schemas.openxmlformats.org/drawingml/2006/main" noGrp="1"/>
          </p:cNvSpPr>
          <p:nvPr/>
        </p:nvSpPr>
        <p:spPr>
          <a:xfrm xmlns:a="http://schemas.openxmlformats.org/drawingml/2006/main">
            <a:off x="8153400" y="4400550"/>
            <a:ext cx="35814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42" name="">
            <a:extLst xmlns:a="http://schemas.openxmlformats.org/drawingml/2006/main">
              <a:ext uri="{FF2B5EF4-FFF2-40B4-BE49-F238E27FC236}">
                <a16:creationId xmlns:a16="http://schemas.microsoft.com/office/drawing/2014/main" id="{9A8B2C0D-4B70-4C5D-AFE7-C38F6FD4D991}"/>
              </a:ext>
            </a:extLst>
          </p:cNvPr>
          <p:cNvSpPr>
            <a:spLocks xmlns:a="http://schemas.openxmlformats.org/drawingml/2006/main" noGrp="1"/>
          </p:cNvSpPr>
          <p:nvPr/>
        </p:nvSpPr>
        <p:spPr>
          <a:xfrm xmlns:a="http://schemas.openxmlformats.org/drawingml/2006/main">
            <a:off x="8153400" y="4400550"/>
            <a:ext cx="57150" cy="124777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21F96F2E-A03E-4BCD-ABA2-9F4B6B3CC3BB}"/>
              </a:ext>
            </a:extLst>
          </p:cNvPr>
          <p:cNvSpPr>
            <a:spLocks xmlns:a="http://schemas.openxmlformats.org/drawingml/2006/main" noGrp="1"/>
          </p:cNvSpPr>
          <p:nvPr/>
        </p:nvSpPr>
        <p:spPr>
          <a:xfrm xmlns:a="http://schemas.openxmlformats.org/drawingml/2006/main">
            <a:off x="8382000" y="4591050"/>
            <a:ext cx="31623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Self-boot</a:t>
            </a:r>
          </a:p>
        </p:txBody>
      </p:sp>
      <p:sp>
        <p:nvSpPr>
          <p:cNvPr id="44" name="">
            <a:extLst xmlns:a="http://schemas.openxmlformats.org/drawingml/2006/main">
              <a:ext uri="{FF2B5EF4-FFF2-40B4-BE49-F238E27FC236}">
                <a16:creationId xmlns:a16="http://schemas.microsoft.com/office/drawing/2014/main" id="{2E744341-678D-40EE-A4BB-A8CB25CCEA01}"/>
              </a:ext>
            </a:extLst>
          </p:cNvPr>
          <p:cNvSpPr>
            <a:spLocks xmlns:a="http://schemas.openxmlformats.org/drawingml/2006/main" noGrp="1"/>
          </p:cNvSpPr>
          <p:nvPr/>
        </p:nvSpPr>
        <p:spPr>
          <a:xfrm xmlns:a="http://schemas.openxmlformats.org/drawingml/2006/main">
            <a:off x="8382000" y="4953000"/>
            <a:ext cx="31242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No management core; an unmapped access returns an error</a:t>
            </a:r>
          </a:p>
        </p:txBody>
      </p:sp>
      <p:sp>
        <p:nvSpPr>
          <p:cNvPr id="45" name="">
            <a:extLst xmlns:a="http://schemas.openxmlformats.org/drawingml/2006/main">
              <a:ext uri="{FF2B5EF4-FFF2-40B4-BE49-F238E27FC236}">
                <a16:creationId xmlns:a16="http://schemas.microsoft.com/office/drawing/2014/main" id="{FD75837B-AD18-4D23-BFFA-20DF02B12FCC}"/>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6B7280"/>
                </a:solidFill>
                <a:latin typeface="Arial"/>
                <a:ea typeface="Arial"/>
                <a:cs typeface="Arial"/>
              </a:defRPr>
            </a:pPr>
            <a:r>
              <a:t>Source: DG32-LITE preliminary datasheet §1, features.</a:t>
            </a:r>
          </a:p>
        </p:txBody>
      </p:sp>
    </p:spTree>
    <p:extLst>
      <p:ext uri="{BB962C8B-B14F-4D97-AF65-F5344CB8AC3E}">
        <p14:creationId xmlns:p14="http://schemas.microsoft.com/office/powerpoint/2010/main" val="26468935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04" name="">
            <a:extLst xmlns:a="http://schemas.openxmlformats.org/drawingml/2006/main">
              <a:ext uri="{FF2B5EF4-FFF2-40B4-BE49-F238E27FC236}">
                <a16:creationId xmlns:a16="http://schemas.microsoft.com/office/drawing/2014/main" id="{B5E43E1E-7B1B-40E9-901E-C8B54BC52DD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BE9854C-033D-48AE-BDD3-7246CC220F3C}"/>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77A3"/>
                </a:solidFill>
                <a:latin typeface="Arial"/>
                <a:ea typeface="Arial"/>
                <a:cs typeface="Arial"/>
              </a:defRPr>
            </a:pPr>
            <a:r>
              <a:t>04 · PIN GROUPS</a:t>
            </a:r>
          </a:p>
        </p:txBody>
      </p:sp>
      <p:sp>
        <p:nvSpPr>
          <p:cNvPr id="3" name="">
            <a:extLst xmlns:a="http://schemas.openxmlformats.org/drawingml/2006/main">
              <a:ext uri="{FF2B5EF4-FFF2-40B4-BE49-F238E27FC236}">
                <a16:creationId xmlns:a16="http://schemas.microsoft.com/office/drawing/2014/main" id="{E1CCABEA-A19C-405E-BB72-072C3C8CA759}"/>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44 signal pins in eleven functional groups</a:t>
            </a:r>
          </a:p>
        </p:txBody>
      </p:sp>
      <p:sp>
        <p:nvSpPr>
          <p:cNvPr id="4" name="">
            <a:extLst xmlns:a="http://schemas.openxmlformats.org/drawingml/2006/main">
              <a:ext uri="{FF2B5EF4-FFF2-40B4-BE49-F238E27FC236}">
                <a16:creationId xmlns:a16="http://schemas.microsoft.com/office/drawing/2014/main" id="{D49AA38A-F10B-4500-8420-2D16BA254F7E}"/>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Every signal pin by function; the remaining 20 pins are supplies and grounds</a:t>
            </a:r>
          </a:p>
        </p:txBody>
      </p:sp>
      <p:sp>
        <p:nvSpPr>
          <p:cNvPr id="5" name="">
            <a:extLst xmlns:a="http://schemas.openxmlformats.org/drawingml/2006/main">
              <a:ext uri="{FF2B5EF4-FFF2-40B4-BE49-F238E27FC236}">
                <a16:creationId xmlns:a16="http://schemas.microsoft.com/office/drawing/2014/main" id="{2AA17F65-CFE3-4896-9E1E-6A71A536B273}"/>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F612CBE-D6C5-4810-8608-D163AB72BB68}"/>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54C4C57-876D-483C-98D2-62375A0B90E1}"/>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DEEPGRID SEMI  ·  DG32-LITE PRELIMINARY DATASHEET  ·  SEPTEMBER 2026  ·  PRE-SILICON</a:t>
            </a:r>
          </a:p>
        </p:txBody>
      </p:sp>
      <p:sp>
        <p:nvSpPr>
          <p:cNvPr id="8" name="">
            <a:extLst xmlns:a="http://schemas.openxmlformats.org/drawingml/2006/main">
              <a:ext uri="{FF2B5EF4-FFF2-40B4-BE49-F238E27FC236}">
                <a16:creationId xmlns:a16="http://schemas.microsoft.com/office/drawing/2014/main" id="{BCF7A367-D1C6-41F7-B9C8-E90C09D526EB}"/>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04</a:t>
            </a:r>
          </a:p>
        </p:txBody>
      </p:sp>
      <p:sp>
        <p:nvSpPr>
          <p:cNvPr id="9" name="">
            <a:extLst xmlns:a="http://schemas.openxmlformats.org/drawingml/2006/main">
              <a:ext uri="{FF2B5EF4-FFF2-40B4-BE49-F238E27FC236}">
                <a16:creationId xmlns:a16="http://schemas.microsoft.com/office/drawing/2014/main" id="{4572EE80-20D2-44D1-9F30-14F32F9610B4}"/>
              </a:ext>
            </a:extLst>
          </p:cNvPr>
          <p:cNvSpPr>
            <a:spLocks xmlns:a="http://schemas.openxmlformats.org/drawingml/2006/main" noGrp="1"/>
          </p:cNvSpPr>
          <p:nvPr/>
        </p:nvSpPr>
        <p:spPr>
          <a:xfrm xmlns:a="http://schemas.openxmlformats.org/drawingml/2006/main">
            <a:off x="457200" y="1619250"/>
            <a:ext cx="6858000" cy="36195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2F0D0F5-8495-4772-9E83-E2EC3B905BAA}"/>
              </a:ext>
            </a:extLst>
          </p:cNvPr>
          <p:cNvSpPr>
            <a:spLocks xmlns:a="http://schemas.openxmlformats.org/drawingml/2006/main" noGrp="1"/>
          </p:cNvSpPr>
          <p:nvPr/>
        </p:nvSpPr>
        <p:spPr>
          <a:xfrm xmlns:a="http://schemas.openxmlformats.org/drawingml/2006/main">
            <a:off x="590550" y="1733550"/>
            <a:ext cx="17145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GROUP</a:t>
            </a:r>
          </a:p>
        </p:txBody>
      </p:sp>
      <p:sp>
        <p:nvSpPr>
          <p:cNvPr id="11" name="">
            <a:extLst xmlns:a="http://schemas.openxmlformats.org/drawingml/2006/main">
              <a:ext uri="{FF2B5EF4-FFF2-40B4-BE49-F238E27FC236}">
                <a16:creationId xmlns:a16="http://schemas.microsoft.com/office/drawing/2014/main" id="{105F51D0-ECDE-4F6E-BF99-17C355D9999F}"/>
              </a:ext>
            </a:extLst>
          </p:cNvPr>
          <p:cNvSpPr>
            <a:spLocks xmlns:a="http://schemas.openxmlformats.org/drawingml/2006/main" noGrp="1"/>
          </p:cNvSpPr>
          <p:nvPr/>
        </p:nvSpPr>
        <p:spPr>
          <a:xfrm xmlns:a="http://schemas.openxmlformats.org/drawingml/2006/main">
            <a:off x="2495550" y="1733550"/>
            <a:ext cx="381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SIGNALS</a:t>
            </a:r>
          </a:p>
        </p:txBody>
      </p:sp>
      <p:sp>
        <p:nvSpPr>
          <p:cNvPr id="12" name="">
            <a:extLst xmlns:a="http://schemas.openxmlformats.org/drawingml/2006/main">
              <a:ext uri="{FF2B5EF4-FFF2-40B4-BE49-F238E27FC236}">
                <a16:creationId xmlns:a16="http://schemas.microsoft.com/office/drawing/2014/main" id="{85FA5456-E5AB-445B-AEAE-DA7DDAE944AE}"/>
              </a:ext>
            </a:extLst>
          </p:cNvPr>
          <p:cNvSpPr>
            <a:spLocks xmlns:a="http://schemas.openxmlformats.org/drawingml/2006/main" noGrp="1"/>
          </p:cNvSpPr>
          <p:nvPr/>
        </p:nvSpPr>
        <p:spPr>
          <a:xfrm xmlns:a="http://schemas.openxmlformats.org/drawingml/2006/main">
            <a:off x="6496050" y="1733550"/>
            <a:ext cx="762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1">
                <a:solidFill>
                  <a:srgbClr val="FFFFFF"/>
                </a:solidFill>
                <a:latin typeface="Arial"/>
                <a:ea typeface="Arial"/>
                <a:cs typeface="Arial"/>
              </a:defRPr>
            </a:pPr>
            <a:r>
              <a:t>PINS</a:t>
            </a:r>
          </a:p>
        </p:txBody>
      </p:sp>
      <p:sp>
        <p:nvSpPr>
          <p:cNvPr id="13" name="">
            <a:extLst xmlns:a="http://schemas.openxmlformats.org/drawingml/2006/main">
              <a:ext uri="{FF2B5EF4-FFF2-40B4-BE49-F238E27FC236}">
                <a16:creationId xmlns:a16="http://schemas.microsoft.com/office/drawing/2014/main" id="{491F730E-B52A-4F3F-B66C-D79D6B337A4A}"/>
              </a:ext>
            </a:extLst>
          </p:cNvPr>
          <p:cNvSpPr>
            <a:spLocks xmlns:a="http://schemas.openxmlformats.org/drawingml/2006/main" noGrp="1"/>
          </p:cNvSpPr>
          <p:nvPr/>
        </p:nvSpPr>
        <p:spPr>
          <a:xfrm xmlns:a="http://schemas.openxmlformats.org/drawingml/2006/main">
            <a:off x="457200" y="1981200"/>
            <a:ext cx="6858000" cy="3429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14" name="">
            <a:extLst xmlns:a="http://schemas.openxmlformats.org/drawingml/2006/main">
              <a:ext uri="{FF2B5EF4-FFF2-40B4-BE49-F238E27FC236}">
                <a16:creationId xmlns:a16="http://schemas.microsoft.com/office/drawing/2014/main" id="{AA669AC4-6051-4C6B-B1A0-893178CAF6D9}"/>
              </a:ext>
            </a:extLst>
          </p:cNvPr>
          <p:cNvSpPr>
            <a:spLocks xmlns:a="http://schemas.openxmlformats.org/drawingml/2006/main" noGrp="1"/>
          </p:cNvSpPr>
          <p:nvPr/>
        </p:nvSpPr>
        <p:spPr>
          <a:xfrm xmlns:a="http://schemas.openxmlformats.org/drawingml/2006/main">
            <a:off x="590550" y="2085975"/>
            <a:ext cx="16954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Motor PWM</a:t>
            </a:r>
          </a:p>
        </p:txBody>
      </p:sp>
      <p:sp>
        <p:nvSpPr>
          <p:cNvPr id="15" name="">
            <a:extLst xmlns:a="http://schemas.openxmlformats.org/drawingml/2006/main">
              <a:ext uri="{FF2B5EF4-FFF2-40B4-BE49-F238E27FC236}">
                <a16:creationId xmlns:a16="http://schemas.microsoft.com/office/drawing/2014/main" id="{32593130-D17F-4B95-B034-7813CD3CC284}"/>
              </a:ext>
            </a:extLst>
          </p:cNvPr>
          <p:cNvSpPr>
            <a:spLocks xmlns:a="http://schemas.openxmlformats.org/drawingml/2006/main" noGrp="1"/>
          </p:cNvSpPr>
          <p:nvPr/>
        </p:nvSpPr>
        <p:spPr>
          <a:xfrm xmlns:a="http://schemas.openxmlformats.org/drawingml/2006/main">
            <a:off x="2495550" y="2085975"/>
            <a:ext cx="37909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AH, AL, BH, BL, CH, CL + ADC trigger</a:t>
            </a:r>
          </a:p>
        </p:txBody>
      </p:sp>
      <p:sp>
        <p:nvSpPr>
          <p:cNvPr id="16" name="">
            <a:extLst xmlns:a="http://schemas.openxmlformats.org/drawingml/2006/main">
              <a:ext uri="{FF2B5EF4-FFF2-40B4-BE49-F238E27FC236}">
                <a16:creationId xmlns:a16="http://schemas.microsoft.com/office/drawing/2014/main" id="{E3B6F5C3-161F-46C8-AD81-9C7672BF2E8E}"/>
              </a:ext>
            </a:extLst>
          </p:cNvPr>
          <p:cNvSpPr>
            <a:spLocks xmlns:a="http://schemas.openxmlformats.org/drawingml/2006/main" noGrp="1"/>
          </p:cNvSpPr>
          <p:nvPr/>
        </p:nvSpPr>
        <p:spPr>
          <a:xfrm xmlns:a="http://schemas.openxmlformats.org/drawingml/2006/main">
            <a:off x="6496050" y="2085975"/>
            <a:ext cx="7429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7</a:t>
            </a:r>
          </a:p>
        </p:txBody>
      </p:sp>
      <p:sp>
        <p:nvSpPr>
          <p:cNvPr id="17" name="">
            <a:extLst xmlns:a="http://schemas.openxmlformats.org/drawingml/2006/main">
              <a:ext uri="{FF2B5EF4-FFF2-40B4-BE49-F238E27FC236}">
                <a16:creationId xmlns:a16="http://schemas.microsoft.com/office/drawing/2014/main" id="{37CF1C8D-D58B-4BCD-BF5E-0FF43F5961FB}"/>
              </a:ext>
            </a:extLst>
          </p:cNvPr>
          <p:cNvSpPr>
            <a:spLocks xmlns:a="http://schemas.openxmlformats.org/drawingml/2006/main" noGrp="1"/>
          </p:cNvSpPr>
          <p:nvPr/>
        </p:nvSpPr>
        <p:spPr>
          <a:xfrm xmlns:a="http://schemas.openxmlformats.org/drawingml/2006/main">
            <a:off x="457200" y="2324100"/>
            <a:ext cx="6858000" cy="34290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18" name="">
            <a:extLst xmlns:a="http://schemas.openxmlformats.org/drawingml/2006/main">
              <a:ext uri="{FF2B5EF4-FFF2-40B4-BE49-F238E27FC236}">
                <a16:creationId xmlns:a16="http://schemas.microsoft.com/office/drawing/2014/main" id="{7EBF12C2-D9C1-4BCD-BBA3-83FCB757DC84}"/>
              </a:ext>
            </a:extLst>
          </p:cNvPr>
          <p:cNvSpPr>
            <a:spLocks xmlns:a="http://schemas.openxmlformats.org/drawingml/2006/main" noGrp="1"/>
          </p:cNvSpPr>
          <p:nvPr/>
        </p:nvSpPr>
        <p:spPr>
          <a:xfrm xmlns:a="http://schemas.openxmlformats.org/drawingml/2006/main">
            <a:off x="590550" y="2428875"/>
            <a:ext cx="16954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QSPI flash</a:t>
            </a:r>
          </a:p>
        </p:txBody>
      </p:sp>
      <p:sp>
        <p:nvSpPr>
          <p:cNvPr id="19" name="">
            <a:extLst xmlns:a="http://schemas.openxmlformats.org/drawingml/2006/main">
              <a:ext uri="{FF2B5EF4-FFF2-40B4-BE49-F238E27FC236}">
                <a16:creationId xmlns:a16="http://schemas.microsoft.com/office/drawing/2014/main" id="{3987DAA9-2F24-4054-932F-968D6D518C2D}"/>
              </a:ext>
            </a:extLst>
          </p:cNvPr>
          <p:cNvSpPr>
            <a:spLocks xmlns:a="http://schemas.openxmlformats.org/drawingml/2006/main" noGrp="1"/>
          </p:cNvSpPr>
          <p:nvPr/>
        </p:nvSpPr>
        <p:spPr>
          <a:xfrm xmlns:a="http://schemas.openxmlformats.org/drawingml/2006/main">
            <a:off x="2495550" y="2428875"/>
            <a:ext cx="37909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Clock, 4 data, 2 chip selects</a:t>
            </a:r>
          </a:p>
        </p:txBody>
      </p:sp>
      <p:sp>
        <p:nvSpPr>
          <p:cNvPr id="20" name="">
            <a:extLst xmlns:a="http://schemas.openxmlformats.org/drawingml/2006/main">
              <a:ext uri="{FF2B5EF4-FFF2-40B4-BE49-F238E27FC236}">
                <a16:creationId xmlns:a16="http://schemas.microsoft.com/office/drawing/2014/main" id="{D04041A4-E942-48FE-A764-B4D7A4581E26}"/>
              </a:ext>
            </a:extLst>
          </p:cNvPr>
          <p:cNvSpPr>
            <a:spLocks xmlns:a="http://schemas.openxmlformats.org/drawingml/2006/main" noGrp="1"/>
          </p:cNvSpPr>
          <p:nvPr/>
        </p:nvSpPr>
        <p:spPr>
          <a:xfrm xmlns:a="http://schemas.openxmlformats.org/drawingml/2006/main">
            <a:off x="6496050" y="2428875"/>
            <a:ext cx="7429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7</a:t>
            </a:r>
          </a:p>
        </p:txBody>
      </p:sp>
      <p:sp>
        <p:nvSpPr>
          <p:cNvPr id="21" name="">
            <a:extLst xmlns:a="http://schemas.openxmlformats.org/drawingml/2006/main">
              <a:ext uri="{FF2B5EF4-FFF2-40B4-BE49-F238E27FC236}">
                <a16:creationId xmlns:a16="http://schemas.microsoft.com/office/drawing/2014/main" id="{E2DA2FF9-BCFC-46BD-BACF-7E86ADD51CF5}"/>
              </a:ext>
            </a:extLst>
          </p:cNvPr>
          <p:cNvSpPr>
            <a:spLocks xmlns:a="http://schemas.openxmlformats.org/drawingml/2006/main" noGrp="1"/>
          </p:cNvSpPr>
          <p:nvPr/>
        </p:nvSpPr>
        <p:spPr>
          <a:xfrm xmlns:a="http://schemas.openxmlformats.org/drawingml/2006/main">
            <a:off x="457200" y="2667000"/>
            <a:ext cx="6858000" cy="3429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22" name="">
            <a:extLst xmlns:a="http://schemas.openxmlformats.org/drawingml/2006/main">
              <a:ext uri="{FF2B5EF4-FFF2-40B4-BE49-F238E27FC236}">
                <a16:creationId xmlns:a16="http://schemas.microsoft.com/office/drawing/2014/main" id="{3B899032-D6C9-472E-A5D0-56A9E3BEE3B8}"/>
              </a:ext>
            </a:extLst>
          </p:cNvPr>
          <p:cNvSpPr>
            <a:spLocks xmlns:a="http://schemas.openxmlformats.org/drawingml/2006/main" noGrp="1"/>
          </p:cNvSpPr>
          <p:nvPr/>
        </p:nvSpPr>
        <p:spPr>
          <a:xfrm xmlns:a="http://schemas.openxmlformats.org/drawingml/2006/main">
            <a:off x="590550" y="2771775"/>
            <a:ext cx="16954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Position</a:t>
            </a:r>
          </a:p>
        </p:txBody>
      </p:sp>
      <p:sp>
        <p:nvSpPr>
          <p:cNvPr id="23" name="">
            <a:extLst xmlns:a="http://schemas.openxmlformats.org/drawingml/2006/main">
              <a:ext uri="{FF2B5EF4-FFF2-40B4-BE49-F238E27FC236}">
                <a16:creationId xmlns:a16="http://schemas.microsoft.com/office/drawing/2014/main" id="{DB403602-BDD7-4EC8-9021-1B0F9E760C5E}"/>
              </a:ext>
            </a:extLst>
          </p:cNvPr>
          <p:cNvSpPr>
            <a:spLocks xmlns:a="http://schemas.openxmlformats.org/drawingml/2006/main" noGrp="1"/>
          </p:cNvSpPr>
          <p:nvPr/>
        </p:nvSpPr>
        <p:spPr>
          <a:xfrm xmlns:a="http://schemas.openxmlformats.org/drawingml/2006/main">
            <a:off x="2495550" y="2771775"/>
            <a:ext cx="37909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Encoder A, B, Z · Hall A, B, C</a:t>
            </a:r>
          </a:p>
        </p:txBody>
      </p:sp>
      <p:sp>
        <p:nvSpPr>
          <p:cNvPr id="24" name="">
            <a:extLst xmlns:a="http://schemas.openxmlformats.org/drawingml/2006/main">
              <a:ext uri="{FF2B5EF4-FFF2-40B4-BE49-F238E27FC236}">
                <a16:creationId xmlns:a16="http://schemas.microsoft.com/office/drawing/2014/main" id="{F7007677-C97D-4E1B-B174-AB7D1C90BB47}"/>
              </a:ext>
            </a:extLst>
          </p:cNvPr>
          <p:cNvSpPr>
            <a:spLocks xmlns:a="http://schemas.openxmlformats.org/drawingml/2006/main" noGrp="1"/>
          </p:cNvSpPr>
          <p:nvPr/>
        </p:nvSpPr>
        <p:spPr>
          <a:xfrm xmlns:a="http://schemas.openxmlformats.org/drawingml/2006/main">
            <a:off x="6496050" y="2771775"/>
            <a:ext cx="7429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6</a:t>
            </a:r>
          </a:p>
        </p:txBody>
      </p:sp>
      <p:sp>
        <p:nvSpPr>
          <p:cNvPr id="25" name="">
            <a:extLst xmlns:a="http://schemas.openxmlformats.org/drawingml/2006/main">
              <a:ext uri="{FF2B5EF4-FFF2-40B4-BE49-F238E27FC236}">
                <a16:creationId xmlns:a16="http://schemas.microsoft.com/office/drawing/2014/main" id="{D63D447E-E6F4-41DA-8AD0-BE4ED4BC7081}"/>
              </a:ext>
            </a:extLst>
          </p:cNvPr>
          <p:cNvSpPr>
            <a:spLocks xmlns:a="http://schemas.openxmlformats.org/drawingml/2006/main" noGrp="1"/>
          </p:cNvSpPr>
          <p:nvPr/>
        </p:nvSpPr>
        <p:spPr>
          <a:xfrm xmlns:a="http://schemas.openxmlformats.org/drawingml/2006/main">
            <a:off x="457200" y="3009900"/>
            <a:ext cx="6858000" cy="34290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26" name="">
            <a:extLst xmlns:a="http://schemas.openxmlformats.org/drawingml/2006/main">
              <a:ext uri="{FF2B5EF4-FFF2-40B4-BE49-F238E27FC236}">
                <a16:creationId xmlns:a16="http://schemas.microsoft.com/office/drawing/2014/main" id="{F1B5DD3F-BF3F-4D0C-9034-FE202C23E142}"/>
              </a:ext>
            </a:extLst>
          </p:cNvPr>
          <p:cNvSpPr>
            <a:spLocks xmlns:a="http://schemas.openxmlformats.org/drawingml/2006/main" noGrp="1"/>
          </p:cNvSpPr>
          <p:nvPr/>
        </p:nvSpPr>
        <p:spPr>
          <a:xfrm xmlns:a="http://schemas.openxmlformats.org/drawingml/2006/main">
            <a:off x="590550" y="3114675"/>
            <a:ext cx="16954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Serial</a:t>
            </a:r>
          </a:p>
        </p:txBody>
      </p:sp>
      <p:sp>
        <p:nvSpPr>
          <p:cNvPr id="27" name="">
            <a:extLst xmlns:a="http://schemas.openxmlformats.org/drawingml/2006/main">
              <a:ext uri="{FF2B5EF4-FFF2-40B4-BE49-F238E27FC236}">
                <a16:creationId xmlns:a16="http://schemas.microsoft.com/office/drawing/2014/main" id="{A5B273EF-0FE3-4C5E-93B5-A15DB19382E8}"/>
              </a:ext>
            </a:extLst>
          </p:cNvPr>
          <p:cNvSpPr>
            <a:spLocks xmlns:a="http://schemas.openxmlformats.org/drawingml/2006/main" noGrp="1"/>
          </p:cNvSpPr>
          <p:nvPr/>
        </p:nvSpPr>
        <p:spPr>
          <a:xfrm xmlns:a="http://schemas.openxmlformats.org/drawingml/2006/main">
            <a:off x="2495550" y="3114675"/>
            <a:ext cx="37909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UART0 TX/RX · UART1 TX/RX</a:t>
            </a:r>
          </a:p>
        </p:txBody>
      </p:sp>
      <p:sp>
        <p:nvSpPr>
          <p:cNvPr id="28" name="">
            <a:extLst xmlns:a="http://schemas.openxmlformats.org/drawingml/2006/main">
              <a:ext uri="{FF2B5EF4-FFF2-40B4-BE49-F238E27FC236}">
                <a16:creationId xmlns:a16="http://schemas.microsoft.com/office/drawing/2014/main" id="{4F6E985B-FA88-49C6-AEEB-117EA831BD4D}"/>
              </a:ext>
            </a:extLst>
          </p:cNvPr>
          <p:cNvSpPr>
            <a:spLocks xmlns:a="http://schemas.openxmlformats.org/drawingml/2006/main" noGrp="1"/>
          </p:cNvSpPr>
          <p:nvPr/>
        </p:nvSpPr>
        <p:spPr>
          <a:xfrm xmlns:a="http://schemas.openxmlformats.org/drawingml/2006/main">
            <a:off x="6496050" y="3114675"/>
            <a:ext cx="7429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4</a:t>
            </a:r>
          </a:p>
        </p:txBody>
      </p:sp>
      <p:sp>
        <p:nvSpPr>
          <p:cNvPr id="29" name="">
            <a:extLst xmlns:a="http://schemas.openxmlformats.org/drawingml/2006/main">
              <a:ext uri="{FF2B5EF4-FFF2-40B4-BE49-F238E27FC236}">
                <a16:creationId xmlns:a16="http://schemas.microsoft.com/office/drawing/2014/main" id="{00D8CFE2-3C8A-44C1-99CC-295089855363}"/>
              </a:ext>
            </a:extLst>
          </p:cNvPr>
          <p:cNvSpPr>
            <a:spLocks xmlns:a="http://schemas.openxmlformats.org/drawingml/2006/main" noGrp="1"/>
          </p:cNvSpPr>
          <p:nvPr/>
        </p:nvSpPr>
        <p:spPr>
          <a:xfrm xmlns:a="http://schemas.openxmlformats.org/drawingml/2006/main">
            <a:off x="457200" y="3352800"/>
            <a:ext cx="6858000" cy="3429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30" name="">
            <a:extLst xmlns:a="http://schemas.openxmlformats.org/drawingml/2006/main">
              <a:ext uri="{FF2B5EF4-FFF2-40B4-BE49-F238E27FC236}">
                <a16:creationId xmlns:a16="http://schemas.microsoft.com/office/drawing/2014/main" id="{53AF8749-DF69-4C64-BA83-FC9B2DC7F51B}"/>
              </a:ext>
            </a:extLst>
          </p:cNvPr>
          <p:cNvSpPr>
            <a:spLocks xmlns:a="http://schemas.openxmlformats.org/drawingml/2006/main" noGrp="1"/>
          </p:cNvSpPr>
          <p:nvPr/>
        </p:nvSpPr>
        <p:spPr>
          <a:xfrm xmlns:a="http://schemas.openxmlformats.org/drawingml/2006/main">
            <a:off x="590550" y="3457575"/>
            <a:ext cx="16954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SPI</a:t>
            </a:r>
          </a:p>
        </p:txBody>
      </p:sp>
      <p:sp>
        <p:nvSpPr>
          <p:cNvPr id="31" name="">
            <a:extLst xmlns:a="http://schemas.openxmlformats.org/drawingml/2006/main">
              <a:ext uri="{FF2B5EF4-FFF2-40B4-BE49-F238E27FC236}">
                <a16:creationId xmlns:a16="http://schemas.microsoft.com/office/drawing/2014/main" id="{D0B11B03-A66F-4A12-B2AC-7A83E7186440}"/>
              </a:ext>
            </a:extLst>
          </p:cNvPr>
          <p:cNvSpPr>
            <a:spLocks xmlns:a="http://schemas.openxmlformats.org/drawingml/2006/main" noGrp="1"/>
          </p:cNvSpPr>
          <p:nvPr/>
        </p:nvSpPr>
        <p:spPr>
          <a:xfrm xmlns:a="http://schemas.openxmlformats.org/drawingml/2006/main">
            <a:off x="2495550" y="3457575"/>
            <a:ext cx="37909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SCLK, MOSI, MISO, CSN</a:t>
            </a:r>
          </a:p>
        </p:txBody>
      </p:sp>
      <p:sp>
        <p:nvSpPr>
          <p:cNvPr id="32" name="">
            <a:extLst xmlns:a="http://schemas.openxmlformats.org/drawingml/2006/main">
              <a:ext uri="{FF2B5EF4-FFF2-40B4-BE49-F238E27FC236}">
                <a16:creationId xmlns:a16="http://schemas.microsoft.com/office/drawing/2014/main" id="{6DAC9E47-85C1-43F0-920F-A1DCC3E12592}"/>
              </a:ext>
            </a:extLst>
          </p:cNvPr>
          <p:cNvSpPr>
            <a:spLocks xmlns:a="http://schemas.openxmlformats.org/drawingml/2006/main" noGrp="1"/>
          </p:cNvSpPr>
          <p:nvPr/>
        </p:nvSpPr>
        <p:spPr>
          <a:xfrm xmlns:a="http://schemas.openxmlformats.org/drawingml/2006/main">
            <a:off x="6496050" y="3457575"/>
            <a:ext cx="7429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4</a:t>
            </a:r>
          </a:p>
        </p:txBody>
      </p:sp>
      <p:sp>
        <p:nvSpPr>
          <p:cNvPr id="33" name="">
            <a:extLst xmlns:a="http://schemas.openxmlformats.org/drawingml/2006/main">
              <a:ext uri="{FF2B5EF4-FFF2-40B4-BE49-F238E27FC236}">
                <a16:creationId xmlns:a16="http://schemas.microsoft.com/office/drawing/2014/main" id="{12EB46EA-4546-4652-A99E-5598676812AD}"/>
              </a:ext>
            </a:extLst>
          </p:cNvPr>
          <p:cNvSpPr>
            <a:spLocks xmlns:a="http://schemas.openxmlformats.org/drawingml/2006/main" noGrp="1"/>
          </p:cNvSpPr>
          <p:nvPr/>
        </p:nvSpPr>
        <p:spPr>
          <a:xfrm xmlns:a="http://schemas.openxmlformats.org/drawingml/2006/main">
            <a:off x="457200" y="3695700"/>
            <a:ext cx="6858000" cy="34290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34" name="">
            <a:extLst xmlns:a="http://schemas.openxmlformats.org/drawingml/2006/main">
              <a:ext uri="{FF2B5EF4-FFF2-40B4-BE49-F238E27FC236}">
                <a16:creationId xmlns:a16="http://schemas.microsoft.com/office/drawing/2014/main" id="{44FA3964-3476-49A3-B25F-1A2F4F2E2B9F}"/>
              </a:ext>
            </a:extLst>
          </p:cNvPr>
          <p:cNvSpPr>
            <a:spLocks xmlns:a="http://schemas.openxmlformats.org/drawingml/2006/main" noGrp="1"/>
          </p:cNvSpPr>
          <p:nvPr/>
        </p:nvSpPr>
        <p:spPr>
          <a:xfrm xmlns:a="http://schemas.openxmlformats.org/drawingml/2006/main">
            <a:off x="590550" y="3800475"/>
            <a:ext cx="16954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JTAG</a:t>
            </a:r>
          </a:p>
        </p:txBody>
      </p:sp>
      <p:sp>
        <p:nvSpPr>
          <p:cNvPr id="35" name="">
            <a:extLst xmlns:a="http://schemas.openxmlformats.org/drawingml/2006/main">
              <a:ext uri="{FF2B5EF4-FFF2-40B4-BE49-F238E27FC236}">
                <a16:creationId xmlns:a16="http://schemas.microsoft.com/office/drawing/2014/main" id="{42A6A67C-4E17-49D2-ADE1-3B83BE0B8580}"/>
              </a:ext>
            </a:extLst>
          </p:cNvPr>
          <p:cNvSpPr>
            <a:spLocks xmlns:a="http://schemas.openxmlformats.org/drawingml/2006/main" noGrp="1"/>
          </p:cNvSpPr>
          <p:nvPr/>
        </p:nvSpPr>
        <p:spPr>
          <a:xfrm xmlns:a="http://schemas.openxmlformats.org/drawingml/2006/main">
            <a:off x="2495550" y="3800475"/>
            <a:ext cx="37909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TCK, TMS, TDI, TDO</a:t>
            </a:r>
          </a:p>
        </p:txBody>
      </p:sp>
      <p:sp>
        <p:nvSpPr>
          <p:cNvPr id="36" name="">
            <a:extLst xmlns:a="http://schemas.openxmlformats.org/drawingml/2006/main">
              <a:ext uri="{FF2B5EF4-FFF2-40B4-BE49-F238E27FC236}">
                <a16:creationId xmlns:a16="http://schemas.microsoft.com/office/drawing/2014/main" id="{49482375-CFB2-40A7-86BE-FCF6F2D5B547}"/>
              </a:ext>
            </a:extLst>
          </p:cNvPr>
          <p:cNvSpPr>
            <a:spLocks xmlns:a="http://schemas.openxmlformats.org/drawingml/2006/main" noGrp="1"/>
          </p:cNvSpPr>
          <p:nvPr/>
        </p:nvSpPr>
        <p:spPr>
          <a:xfrm xmlns:a="http://schemas.openxmlformats.org/drawingml/2006/main">
            <a:off x="6496050" y="3800475"/>
            <a:ext cx="7429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4</a:t>
            </a:r>
          </a:p>
        </p:txBody>
      </p:sp>
      <p:sp>
        <p:nvSpPr>
          <p:cNvPr id="37" name="">
            <a:extLst xmlns:a="http://schemas.openxmlformats.org/drawingml/2006/main">
              <a:ext uri="{FF2B5EF4-FFF2-40B4-BE49-F238E27FC236}">
                <a16:creationId xmlns:a16="http://schemas.microsoft.com/office/drawing/2014/main" id="{17150544-7545-489E-BCDE-091FA8557470}"/>
              </a:ext>
            </a:extLst>
          </p:cNvPr>
          <p:cNvSpPr>
            <a:spLocks xmlns:a="http://schemas.openxmlformats.org/drawingml/2006/main" noGrp="1"/>
          </p:cNvSpPr>
          <p:nvPr/>
        </p:nvSpPr>
        <p:spPr>
          <a:xfrm xmlns:a="http://schemas.openxmlformats.org/drawingml/2006/main">
            <a:off x="457200" y="4038600"/>
            <a:ext cx="6858000" cy="3429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38" name="">
            <a:extLst xmlns:a="http://schemas.openxmlformats.org/drawingml/2006/main">
              <a:ext uri="{FF2B5EF4-FFF2-40B4-BE49-F238E27FC236}">
                <a16:creationId xmlns:a16="http://schemas.microsoft.com/office/drawing/2014/main" id="{B4828819-DF5D-4F4F-ABFA-D8F08DB190E5}"/>
              </a:ext>
            </a:extLst>
          </p:cNvPr>
          <p:cNvSpPr>
            <a:spLocks xmlns:a="http://schemas.openxmlformats.org/drawingml/2006/main" noGrp="1"/>
          </p:cNvSpPr>
          <p:nvPr/>
        </p:nvSpPr>
        <p:spPr>
          <a:xfrm xmlns:a="http://schemas.openxmlformats.org/drawingml/2006/main">
            <a:off x="590550" y="4143375"/>
            <a:ext cx="16954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GPIO</a:t>
            </a:r>
          </a:p>
        </p:txBody>
      </p:sp>
      <p:sp>
        <p:nvSpPr>
          <p:cNvPr id="39" name="">
            <a:extLst xmlns:a="http://schemas.openxmlformats.org/drawingml/2006/main">
              <a:ext uri="{FF2B5EF4-FFF2-40B4-BE49-F238E27FC236}">
                <a16:creationId xmlns:a16="http://schemas.microsoft.com/office/drawing/2014/main" id="{61DE4B57-0E6A-424D-9270-77DE57ACD82A}"/>
              </a:ext>
            </a:extLst>
          </p:cNvPr>
          <p:cNvSpPr>
            <a:spLocks xmlns:a="http://schemas.openxmlformats.org/drawingml/2006/main" noGrp="1"/>
          </p:cNvSpPr>
          <p:nvPr/>
        </p:nvSpPr>
        <p:spPr>
          <a:xfrm xmlns:a="http://schemas.openxmlformats.org/drawingml/2006/main">
            <a:off x="2495550" y="4143375"/>
            <a:ext cx="37909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GPIO0–2</a:t>
            </a:r>
          </a:p>
        </p:txBody>
      </p:sp>
      <p:sp>
        <p:nvSpPr>
          <p:cNvPr id="40" name="">
            <a:extLst xmlns:a="http://schemas.openxmlformats.org/drawingml/2006/main">
              <a:ext uri="{FF2B5EF4-FFF2-40B4-BE49-F238E27FC236}">
                <a16:creationId xmlns:a16="http://schemas.microsoft.com/office/drawing/2014/main" id="{7B959A7A-9AF6-4626-A384-0D6292A7F134}"/>
              </a:ext>
            </a:extLst>
          </p:cNvPr>
          <p:cNvSpPr>
            <a:spLocks xmlns:a="http://schemas.openxmlformats.org/drawingml/2006/main" noGrp="1"/>
          </p:cNvSpPr>
          <p:nvPr/>
        </p:nvSpPr>
        <p:spPr>
          <a:xfrm xmlns:a="http://schemas.openxmlformats.org/drawingml/2006/main">
            <a:off x="6496050" y="4143375"/>
            <a:ext cx="7429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3</a:t>
            </a:r>
          </a:p>
        </p:txBody>
      </p:sp>
      <p:sp>
        <p:nvSpPr>
          <p:cNvPr id="41" name="">
            <a:extLst xmlns:a="http://schemas.openxmlformats.org/drawingml/2006/main">
              <a:ext uri="{FF2B5EF4-FFF2-40B4-BE49-F238E27FC236}">
                <a16:creationId xmlns:a16="http://schemas.microsoft.com/office/drawing/2014/main" id="{5D0CAB72-FCDE-43F0-830A-86BBEE666537}"/>
              </a:ext>
            </a:extLst>
          </p:cNvPr>
          <p:cNvSpPr>
            <a:spLocks xmlns:a="http://schemas.openxmlformats.org/drawingml/2006/main" noGrp="1"/>
          </p:cNvSpPr>
          <p:nvPr/>
        </p:nvSpPr>
        <p:spPr>
          <a:xfrm xmlns:a="http://schemas.openxmlformats.org/drawingml/2006/main">
            <a:off x="457200" y="4381500"/>
            <a:ext cx="6858000" cy="342900"/>
          </a:xfrm>
          <a:prstGeom xmlns:a="http://schemas.openxmlformats.org/drawingml/2006/main" prst="rect">
            <a:avLst/>
          </a:prstGeom>
          <a:solidFill xmlns:a="http://schemas.openxmlformats.org/drawingml/2006/main">
            <a:srgbClr val="E8F8FC"/>
          </a:solidFill>
          <a:ln xmlns:a="http://schemas.openxmlformats.org/drawingml/2006/main" w="9525">
            <a:solidFill>
              <a:srgbClr val="E2E8F0"/>
            </a:solidFill>
            <a:prstDash val="solid"/>
          </a:ln>
        </p:spPr>
      </p:sp>
      <p:sp>
        <p:nvSpPr>
          <p:cNvPr id="42" name="">
            <a:extLst xmlns:a="http://schemas.openxmlformats.org/drawingml/2006/main">
              <a:ext uri="{FF2B5EF4-FFF2-40B4-BE49-F238E27FC236}">
                <a16:creationId xmlns:a16="http://schemas.microsoft.com/office/drawing/2014/main" id="{9F313844-E3FD-4F24-B66F-9DD8B52666B2}"/>
              </a:ext>
            </a:extLst>
          </p:cNvPr>
          <p:cNvSpPr>
            <a:spLocks xmlns:a="http://schemas.openxmlformats.org/drawingml/2006/main" noGrp="1"/>
          </p:cNvSpPr>
          <p:nvPr/>
        </p:nvSpPr>
        <p:spPr>
          <a:xfrm xmlns:a="http://schemas.openxmlformats.org/drawingml/2006/main">
            <a:off x="457200" y="4381500"/>
            <a:ext cx="47625" cy="342900"/>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97DA5E73-4405-4236-AE0B-535F8F72FCBB}"/>
              </a:ext>
            </a:extLst>
          </p:cNvPr>
          <p:cNvSpPr>
            <a:spLocks xmlns:a="http://schemas.openxmlformats.org/drawingml/2006/main" noGrp="1"/>
          </p:cNvSpPr>
          <p:nvPr/>
        </p:nvSpPr>
        <p:spPr>
          <a:xfrm xmlns:a="http://schemas.openxmlformats.org/drawingml/2006/main">
            <a:off x="590550" y="4486275"/>
            <a:ext cx="16954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Safety</a:t>
            </a:r>
          </a:p>
        </p:txBody>
      </p:sp>
      <p:sp>
        <p:nvSpPr>
          <p:cNvPr id="44" name="">
            <a:extLst xmlns:a="http://schemas.openxmlformats.org/drawingml/2006/main">
              <a:ext uri="{FF2B5EF4-FFF2-40B4-BE49-F238E27FC236}">
                <a16:creationId xmlns:a16="http://schemas.microsoft.com/office/drawing/2014/main" id="{FF3CDA65-8C53-4836-8B33-8D34A7ED467F}"/>
              </a:ext>
            </a:extLst>
          </p:cNvPr>
          <p:cNvSpPr>
            <a:spLocks xmlns:a="http://schemas.openxmlformats.org/drawingml/2006/main" noGrp="1"/>
          </p:cNvSpPr>
          <p:nvPr/>
        </p:nvSpPr>
        <p:spPr>
          <a:xfrm xmlns:a="http://schemas.openxmlformats.org/drawingml/2006/main">
            <a:off x="2495550" y="4486275"/>
            <a:ext cx="37909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FAULT_N · 2 × supply-good inputs</a:t>
            </a:r>
          </a:p>
        </p:txBody>
      </p:sp>
      <p:sp>
        <p:nvSpPr>
          <p:cNvPr id="45" name="">
            <a:extLst xmlns:a="http://schemas.openxmlformats.org/drawingml/2006/main">
              <a:ext uri="{FF2B5EF4-FFF2-40B4-BE49-F238E27FC236}">
                <a16:creationId xmlns:a16="http://schemas.microsoft.com/office/drawing/2014/main" id="{4B4FE3C4-AB99-497E-839D-74745858CC20}"/>
              </a:ext>
            </a:extLst>
          </p:cNvPr>
          <p:cNvSpPr>
            <a:spLocks xmlns:a="http://schemas.openxmlformats.org/drawingml/2006/main" noGrp="1"/>
          </p:cNvSpPr>
          <p:nvPr/>
        </p:nvSpPr>
        <p:spPr>
          <a:xfrm xmlns:a="http://schemas.openxmlformats.org/drawingml/2006/main">
            <a:off x="6496050" y="4486275"/>
            <a:ext cx="7429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b="1">
                <a:solidFill>
                  <a:srgbClr val="1E293B"/>
                </a:solidFill>
                <a:latin typeface="Arial"/>
                <a:ea typeface="Arial"/>
                <a:cs typeface="Arial"/>
              </a:defRPr>
            </a:pPr>
            <a:r>
              <a:t>3</a:t>
            </a:r>
          </a:p>
        </p:txBody>
      </p:sp>
      <p:sp>
        <p:nvSpPr>
          <p:cNvPr id="46" name="">
            <a:extLst xmlns:a="http://schemas.openxmlformats.org/drawingml/2006/main">
              <a:ext uri="{FF2B5EF4-FFF2-40B4-BE49-F238E27FC236}">
                <a16:creationId xmlns:a16="http://schemas.microsoft.com/office/drawing/2014/main" id="{F0DF3989-5656-4461-BCEC-C9167A9A895F}"/>
              </a:ext>
            </a:extLst>
          </p:cNvPr>
          <p:cNvSpPr>
            <a:spLocks xmlns:a="http://schemas.openxmlformats.org/drawingml/2006/main" noGrp="1"/>
          </p:cNvSpPr>
          <p:nvPr/>
        </p:nvSpPr>
        <p:spPr>
          <a:xfrm xmlns:a="http://schemas.openxmlformats.org/drawingml/2006/main">
            <a:off x="457200" y="4724400"/>
            <a:ext cx="6858000" cy="3429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47" name="">
            <a:extLst xmlns:a="http://schemas.openxmlformats.org/drawingml/2006/main">
              <a:ext uri="{FF2B5EF4-FFF2-40B4-BE49-F238E27FC236}">
                <a16:creationId xmlns:a16="http://schemas.microsoft.com/office/drawing/2014/main" id="{A9A8A5DF-4F16-4903-947B-FAAAE114B4A8}"/>
              </a:ext>
            </a:extLst>
          </p:cNvPr>
          <p:cNvSpPr>
            <a:spLocks xmlns:a="http://schemas.openxmlformats.org/drawingml/2006/main" noGrp="1"/>
          </p:cNvSpPr>
          <p:nvPr/>
        </p:nvSpPr>
        <p:spPr>
          <a:xfrm xmlns:a="http://schemas.openxmlformats.org/drawingml/2006/main">
            <a:off x="590550" y="4829175"/>
            <a:ext cx="16954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Analog</a:t>
            </a:r>
          </a:p>
        </p:txBody>
      </p:sp>
      <p:sp>
        <p:nvSpPr>
          <p:cNvPr id="48" name="">
            <a:extLst xmlns:a="http://schemas.openxmlformats.org/drawingml/2006/main">
              <a:ext uri="{FF2B5EF4-FFF2-40B4-BE49-F238E27FC236}">
                <a16:creationId xmlns:a16="http://schemas.microsoft.com/office/drawing/2014/main" id="{FD287D4E-E546-48FE-97F4-48686B137E44}"/>
              </a:ext>
            </a:extLst>
          </p:cNvPr>
          <p:cNvSpPr>
            <a:spLocks xmlns:a="http://schemas.openxmlformats.org/drawingml/2006/main" noGrp="1"/>
          </p:cNvSpPr>
          <p:nvPr/>
        </p:nvSpPr>
        <p:spPr>
          <a:xfrm xmlns:a="http://schemas.openxmlformats.org/drawingml/2006/main">
            <a:off x="2495550" y="4829175"/>
            <a:ext cx="37909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SAR ADC VINP, VINN (0–1.8 V)</a:t>
            </a:r>
          </a:p>
        </p:txBody>
      </p:sp>
      <p:sp>
        <p:nvSpPr>
          <p:cNvPr id="49" name="">
            <a:extLst xmlns:a="http://schemas.openxmlformats.org/drawingml/2006/main">
              <a:ext uri="{FF2B5EF4-FFF2-40B4-BE49-F238E27FC236}">
                <a16:creationId xmlns:a16="http://schemas.microsoft.com/office/drawing/2014/main" id="{619F93BB-39E1-4AF0-B541-24014E626BB3}"/>
              </a:ext>
            </a:extLst>
          </p:cNvPr>
          <p:cNvSpPr>
            <a:spLocks xmlns:a="http://schemas.openxmlformats.org/drawingml/2006/main" noGrp="1"/>
          </p:cNvSpPr>
          <p:nvPr/>
        </p:nvSpPr>
        <p:spPr>
          <a:xfrm xmlns:a="http://schemas.openxmlformats.org/drawingml/2006/main">
            <a:off x="6496050" y="4829175"/>
            <a:ext cx="7429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2</a:t>
            </a:r>
          </a:p>
        </p:txBody>
      </p:sp>
      <p:sp>
        <p:nvSpPr>
          <p:cNvPr id="50" name="">
            <a:extLst xmlns:a="http://schemas.openxmlformats.org/drawingml/2006/main">
              <a:ext uri="{FF2B5EF4-FFF2-40B4-BE49-F238E27FC236}">
                <a16:creationId xmlns:a16="http://schemas.microsoft.com/office/drawing/2014/main" id="{1C6F6702-BFA2-4E95-BA78-158A842F846F}"/>
              </a:ext>
            </a:extLst>
          </p:cNvPr>
          <p:cNvSpPr>
            <a:spLocks xmlns:a="http://schemas.openxmlformats.org/drawingml/2006/main" noGrp="1"/>
          </p:cNvSpPr>
          <p:nvPr/>
        </p:nvSpPr>
        <p:spPr>
          <a:xfrm xmlns:a="http://schemas.openxmlformats.org/drawingml/2006/main">
            <a:off x="457200" y="5067300"/>
            <a:ext cx="6858000" cy="34290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51" name="">
            <a:extLst xmlns:a="http://schemas.openxmlformats.org/drawingml/2006/main">
              <a:ext uri="{FF2B5EF4-FFF2-40B4-BE49-F238E27FC236}">
                <a16:creationId xmlns:a16="http://schemas.microsoft.com/office/drawing/2014/main" id="{1F55C406-CDB8-4AD3-A042-8C487FAF1DE5}"/>
              </a:ext>
            </a:extLst>
          </p:cNvPr>
          <p:cNvSpPr>
            <a:spLocks xmlns:a="http://schemas.openxmlformats.org/drawingml/2006/main" noGrp="1"/>
          </p:cNvSpPr>
          <p:nvPr/>
        </p:nvSpPr>
        <p:spPr>
          <a:xfrm xmlns:a="http://schemas.openxmlformats.org/drawingml/2006/main">
            <a:off x="590550" y="5172075"/>
            <a:ext cx="16954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I²C</a:t>
            </a:r>
          </a:p>
        </p:txBody>
      </p:sp>
      <p:sp>
        <p:nvSpPr>
          <p:cNvPr id="52" name="">
            <a:extLst xmlns:a="http://schemas.openxmlformats.org/drawingml/2006/main">
              <a:ext uri="{FF2B5EF4-FFF2-40B4-BE49-F238E27FC236}">
                <a16:creationId xmlns:a16="http://schemas.microsoft.com/office/drawing/2014/main" id="{AB5926D4-1575-4EB6-9524-9872F45E9412}"/>
              </a:ext>
            </a:extLst>
          </p:cNvPr>
          <p:cNvSpPr>
            <a:spLocks xmlns:a="http://schemas.openxmlformats.org/drawingml/2006/main" noGrp="1"/>
          </p:cNvSpPr>
          <p:nvPr/>
        </p:nvSpPr>
        <p:spPr>
          <a:xfrm xmlns:a="http://schemas.openxmlformats.org/drawingml/2006/main">
            <a:off x="2495550" y="5172075"/>
            <a:ext cx="37909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SCL, SDA (open-drain)</a:t>
            </a:r>
          </a:p>
        </p:txBody>
      </p:sp>
      <p:sp>
        <p:nvSpPr>
          <p:cNvPr id="53" name="">
            <a:extLst xmlns:a="http://schemas.openxmlformats.org/drawingml/2006/main">
              <a:ext uri="{FF2B5EF4-FFF2-40B4-BE49-F238E27FC236}">
                <a16:creationId xmlns:a16="http://schemas.microsoft.com/office/drawing/2014/main" id="{2403B193-644B-4AF9-B86D-AF6D600DA247}"/>
              </a:ext>
            </a:extLst>
          </p:cNvPr>
          <p:cNvSpPr>
            <a:spLocks xmlns:a="http://schemas.openxmlformats.org/drawingml/2006/main" noGrp="1"/>
          </p:cNvSpPr>
          <p:nvPr/>
        </p:nvSpPr>
        <p:spPr>
          <a:xfrm xmlns:a="http://schemas.openxmlformats.org/drawingml/2006/main">
            <a:off x="6496050" y="5172075"/>
            <a:ext cx="7429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2</a:t>
            </a:r>
          </a:p>
        </p:txBody>
      </p:sp>
      <p:sp>
        <p:nvSpPr>
          <p:cNvPr id="54" name="">
            <a:extLst xmlns:a="http://schemas.openxmlformats.org/drawingml/2006/main">
              <a:ext uri="{FF2B5EF4-FFF2-40B4-BE49-F238E27FC236}">
                <a16:creationId xmlns:a16="http://schemas.microsoft.com/office/drawing/2014/main" id="{4A3C7C1B-0883-4AC8-A7ED-C0DAA0BCA46E}"/>
              </a:ext>
            </a:extLst>
          </p:cNvPr>
          <p:cNvSpPr>
            <a:spLocks xmlns:a="http://schemas.openxmlformats.org/drawingml/2006/main" noGrp="1"/>
          </p:cNvSpPr>
          <p:nvPr/>
        </p:nvSpPr>
        <p:spPr>
          <a:xfrm xmlns:a="http://schemas.openxmlformats.org/drawingml/2006/main">
            <a:off x="457200" y="5410200"/>
            <a:ext cx="6858000" cy="3429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55" name="">
            <a:extLst xmlns:a="http://schemas.openxmlformats.org/drawingml/2006/main">
              <a:ext uri="{FF2B5EF4-FFF2-40B4-BE49-F238E27FC236}">
                <a16:creationId xmlns:a16="http://schemas.microsoft.com/office/drawing/2014/main" id="{755AB46D-4C25-4424-93D1-6FC03B8B740A}"/>
              </a:ext>
            </a:extLst>
          </p:cNvPr>
          <p:cNvSpPr>
            <a:spLocks xmlns:a="http://schemas.openxmlformats.org/drawingml/2006/main" noGrp="1"/>
          </p:cNvSpPr>
          <p:nvPr/>
        </p:nvSpPr>
        <p:spPr>
          <a:xfrm xmlns:a="http://schemas.openxmlformats.org/drawingml/2006/main">
            <a:off x="590550" y="5514975"/>
            <a:ext cx="16954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Clock &amp; reset</a:t>
            </a:r>
          </a:p>
        </p:txBody>
      </p:sp>
      <p:sp>
        <p:nvSpPr>
          <p:cNvPr id="56" name="">
            <a:extLst xmlns:a="http://schemas.openxmlformats.org/drawingml/2006/main">
              <a:ext uri="{FF2B5EF4-FFF2-40B4-BE49-F238E27FC236}">
                <a16:creationId xmlns:a16="http://schemas.microsoft.com/office/drawing/2014/main" id="{B4D62407-5DE4-4D92-A957-1ACA8DCD729B}"/>
              </a:ext>
            </a:extLst>
          </p:cNvPr>
          <p:cNvSpPr>
            <a:spLocks xmlns:a="http://schemas.openxmlformats.org/drawingml/2006/main" noGrp="1"/>
          </p:cNvSpPr>
          <p:nvPr/>
        </p:nvSpPr>
        <p:spPr>
          <a:xfrm xmlns:a="http://schemas.openxmlformats.org/drawingml/2006/main">
            <a:off x="2495550" y="5514975"/>
            <a:ext cx="37909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CLK, RST_N</a:t>
            </a:r>
          </a:p>
        </p:txBody>
      </p:sp>
      <p:sp>
        <p:nvSpPr>
          <p:cNvPr id="57" name="">
            <a:extLst xmlns:a="http://schemas.openxmlformats.org/drawingml/2006/main">
              <a:ext uri="{FF2B5EF4-FFF2-40B4-BE49-F238E27FC236}">
                <a16:creationId xmlns:a16="http://schemas.microsoft.com/office/drawing/2014/main" id="{73FF8763-925A-45CF-9D94-751544E31140}"/>
              </a:ext>
            </a:extLst>
          </p:cNvPr>
          <p:cNvSpPr>
            <a:spLocks xmlns:a="http://schemas.openxmlformats.org/drawingml/2006/main" noGrp="1"/>
          </p:cNvSpPr>
          <p:nvPr/>
        </p:nvSpPr>
        <p:spPr>
          <a:xfrm xmlns:a="http://schemas.openxmlformats.org/drawingml/2006/main">
            <a:off x="6496050" y="5514975"/>
            <a:ext cx="7429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2</a:t>
            </a:r>
          </a:p>
        </p:txBody>
      </p:sp>
      <p:sp>
        <p:nvSpPr>
          <p:cNvPr id="58" name="">
            <a:extLst xmlns:a="http://schemas.openxmlformats.org/drawingml/2006/main">
              <a:ext uri="{FF2B5EF4-FFF2-40B4-BE49-F238E27FC236}">
                <a16:creationId xmlns:a16="http://schemas.microsoft.com/office/drawing/2014/main" id="{1716FABC-708E-4344-8CC9-304A475EBF6E}"/>
              </a:ext>
            </a:extLst>
          </p:cNvPr>
          <p:cNvSpPr>
            <a:spLocks xmlns:a="http://schemas.openxmlformats.org/drawingml/2006/main" noGrp="1"/>
          </p:cNvSpPr>
          <p:nvPr/>
        </p:nvSpPr>
        <p:spPr>
          <a:xfrm xmlns:a="http://schemas.openxmlformats.org/drawingml/2006/main">
            <a:off x="7620000" y="1638300"/>
            <a:ext cx="41148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1E293B"/>
                </a:solidFill>
                <a:latin typeface="Arial"/>
                <a:ea typeface="Arial"/>
                <a:cs typeface="Arial"/>
              </a:defRPr>
            </a:pPr>
            <a:r>
              <a:t>PINS PER GROUP, TO SCALE</a:t>
            </a:r>
          </a:p>
        </p:txBody>
      </p:sp>
      <p:sp>
        <p:nvSpPr>
          <p:cNvPr id="59" name="">
            <a:extLst xmlns:a="http://schemas.openxmlformats.org/drawingml/2006/main">
              <a:ext uri="{FF2B5EF4-FFF2-40B4-BE49-F238E27FC236}">
                <a16:creationId xmlns:a16="http://schemas.microsoft.com/office/drawing/2014/main" id="{17F3E227-52E1-4F36-B022-42ACFC92B72C}"/>
              </a:ext>
            </a:extLst>
          </p:cNvPr>
          <p:cNvSpPr>
            <a:spLocks xmlns:a="http://schemas.openxmlformats.org/drawingml/2006/main" noGrp="1"/>
          </p:cNvSpPr>
          <p:nvPr/>
        </p:nvSpPr>
        <p:spPr>
          <a:xfrm xmlns:a="http://schemas.openxmlformats.org/drawingml/2006/main">
            <a:off x="7620000" y="2000250"/>
            <a:ext cx="12573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1E293B"/>
                </a:solidFill>
                <a:latin typeface="Arial"/>
                <a:ea typeface="Arial"/>
                <a:cs typeface="Arial"/>
              </a:defRPr>
            </a:pPr>
            <a:r>
              <a:t>Motor PWM</a:t>
            </a:r>
          </a:p>
        </p:txBody>
      </p:sp>
      <p:sp>
        <p:nvSpPr>
          <p:cNvPr id="60" name="">
            <a:extLst xmlns:a="http://schemas.openxmlformats.org/drawingml/2006/main">
              <a:ext uri="{FF2B5EF4-FFF2-40B4-BE49-F238E27FC236}">
                <a16:creationId xmlns:a16="http://schemas.microsoft.com/office/drawing/2014/main" id="{A9201F43-2D06-4FAF-ACB5-D39A00F7FC44}"/>
              </a:ext>
            </a:extLst>
          </p:cNvPr>
          <p:cNvSpPr>
            <a:spLocks xmlns:a="http://schemas.openxmlformats.org/drawingml/2006/main" noGrp="1"/>
          </p:cNvSpPr>
          <p:nvPr/>
        </p:nvSpPr>
        <p:spPr>
          <a:xfrm xmlns:a="http://schemas.openxmlformats.org/drawingml/2006/main">
            <a:off x="8953500" y="2019300"/>
            <a:ext cx="2209800" cy="1905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C47ADE44-1D94-4057-B5E5-F2664638DBFA}"/>
              </a:ext>
            </a:extLst>
          </p:cNvPr>
          <p:cNvSpPr>
            <a:spLocks xmlns:a="http://schemas.openxmlformats.org/drawingml/2006/main" noGrp="1"/>
          </p:cNvSpPr>
          <p:nvPr/>
        </p:nvSpPr>
        <p:spPr>
          <a:xfrm xmlns:a="http://schemas.openxmlformats.org/drawingml/2006/main">
            <a:off x="8953500" y="2019300"/>
            <a:ext cx="2209800" cy="190500"/>
          </a:xfrm>
          <a:prstGeom xmlns:a="http://schemas.openxmlformats.org/drawingml/2006/main" prst="rect">
            <a:avLst/>
          </a:prstGeom>
          <a:solidFill xmlns:a="http://schemas.openxmlformats.org/drawingml/2006/main">
            <a:srgbClr val="07686A"/>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2F5909A8-B28B-488E-825B-FE99D24FEC89}"/>
              </a:ext>
            </a:extLst>
          </p:cNvPr>
          <p:cNvSpPr>
            <a:spLocks xmlns:a="http://schemas.openxmlformats.org/drawingml/2006/main" noGrp="1"/>
          </p:cNvSpPr>
          <p:nvPr/>
        </p:nvSpPr>
        <p:spPr>
          <a:xfrm xmlns:a="http://schemas.openxmlformats.org/drawingml/2006/main">
            <a:off x="11239500" y="1981200"/>
            <a:ext cx="3810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E293B"/>
                </a:solidFill>
                <a:latin typeface="Georgia"/>
                <a:ea typeface="Georgia"/>
                <a:cs typeface="Georgia"/>
              </a:defRPr>
            </a:pPr>
            <a:r>
              <a:t>7</a:t>
            </a:r>
          </a:p>
        </p:txBody>
      </p:sp>
      <p:sp>
        <p:nvSpPr>
          <p:cNvPr id="63" name="">
            <a:extLst xmlns:a="http://schemas.openxmlformats.org/drawingml/2006/main">
              <a:ext uri="{FF2B5EF4-FFF2-40B4-BE49-F238E27FC236}">
                <a16:creationId xmlns:a16="http://schemas.microsoft.com/office/drawing/2014/main" id="{3482704B-E0DC-4A22-989E-B51CA4718F15}"/>
              </a:ext>
            </a:extLst>
          </p:cNvPr>
          <p:cNvSpPr>
            <a:spLocks xmlns:a="http://schemas.openxmlformats.org/drawingml/2006/main" noGrp="1"/>
          </p:cNvSpPr>
          <p:nvPr/>
        </p:nvSpPr>
        <p:spPr>
          <a:xfrm xmlns:a="http://schemas.openxmlformats.org/drawingml/2006/main">
            <a:off x="7620000" y="2362200"/>
            <a:ext cx="12573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1E293B"/>
                </a:solidFill>
                <a:latin typeface="Arial"/>
                <a:ea typeface="Arial"/>
                <a:cs typeface="Arial"/>
              </a:defRPr>
            </a:pPr>
            <a:r>
              <a:t>QSPI flash</a:t>
            </a:r>
          </a:p>
        </p:txBody>
      </p:sp>
      <p:sp>
        <p:nvSpPr>
          <p:cNvPr id="64" name="">
            <a:extLst xmlns:a="http://schemas.openxmlformats.org/drawingml/2006/main">
              <a:ext uri="{FF2B5EF4-FFF2-40B4-BE49-F238E27FC236}">
                <a16:creationId xmlns:a16="http://schemas.microsoft.com/office/drawing/2014/main" id="{722A95C7-1943-47E5-BE5F-0A61B27557B1}"/>
              </a:ext>
            </a:extLst>
          </p:cNvPr>
          <p:cNvSpPr>
            <a:spLocks xmlns:a="http://schemas.openxmlformats.org/drawingml/2006/main" noGrp="1"/>
          </p:cNvSpPr>
          <p:nvPr/>
        </p:nvSpPr>
        <p:spPr>
          <a:xfrm xmlns:a="http://schemas.openxmlformats.org/drawingml/2006/main">
            <a:off x="8953500" y="2381250"/>
            <a:ext cx="2209800" cy="1905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960E73F1-705C-4042-8CC2-13F6DBE61137}"/>
              </a:ext>
            </a:extLst>
          </p:cNvPr>
          <p:cNvSpPr>
            <a:spLocks xmlns:a="http://schemas.openxmlformats.org/drawingml/2006/main" noGrp="1"/>
          </p:cNvSpPr>
          <p:nvPr/>
        </p:nvSpPr>
        <p:spPr>
          <a:xfrm xmlns:a="http://schemas.openxmlformats.org/drawingml/2006/main">
            <a:off x="8953500" y="2381250"/>
            <a:ext cx="2209800" cy="190500"/>
          </a:xfrm>
          <a:prstGeom xmlns:a="http://schemas.openxmlformats.org/drawingml/2006/main" prst="rect">
            <a:avLst/>
          </a:prstGeom>
          <a:solidFill xmlns:a="http://schemas.openxmlformats.org/drawingml/2006/main">
            <a:srgbClr val="07686A"/>
          </a:solidFill>
          <a:ln xmlns:a="http://schemas.openxmlformats.org/drawingml/2006/main" w="0">
            <a:noFill/>
            <a:prstDash val="solid"/>
          </a:ln>
        </p:spPr>
      </p:sp>
      <p:sp>
        <p:nvSpPr>
          <p:cNvPr id="66" name="">
            <a:extLst xmlns:a="http://schemas.openxmlformats.org/drawingml/2006/main">
              <a:ext uri="{FF2B5EF4-FFF2-40B4-BE49-F238E27FC236}">
                <a16:creationId xmlns:a16="http://schemas.microsoft.com/office/drawing/2014/main" id="{FF243750-6B59-4916-B062-481A3CA3C920}"/>
              </a:ext>
            </a:extLst>
          </p:cNvPr>
          <p:cNvSpPr>
            <a:spLocks xmlns:a="http://schemas.openxmlformats.org/drawingml/2006/main" noGrp="1"/>
          </p:cNvSpPr>
          <p:nvPr/>
        </p:nvSpPr>
        <p:spPr>
          <a:xfrm xmlns:a="http://schemas.openxmlformats.org/drawingml/2006/main">
            <a:off x="11239500" y="2343150"/>
            <a:ext cx="3810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E293B"/>
                </a:solidFill>
                <a:latin typeface="Georgia"/>
                <a:ea typeface="Georgia"/>
                <a:cs typeface="Georgia"/>
              </a:defRPr>
            </a:pPr>
            <a:r>
              <a:t>7</a:t>
            </a:r>
          </a:p>
        </p:txBody>
      </p:sp>
      <p:sp>
        <p:nvSpPr>
          <p:cNvPr id="67" name="">
            <a:extLst xmlns:a="http://schemas.openxmlformats.org/drawingml/2006/main">
              <a:ext uri="{FF2B5EF4-FFF2-40B4-BE49-F238E27FC236}">
                <a16:creationId xmlns:a16="http://schemas.microsoft.com/office/drawing/2014/main" id="{16F1D591-3661-43DC-B048-DDC600620BDD}"/>
              </a:ext>
            </a:extLst>
          </p:cNvPr>
          <p:cNvSpPr>
            <a:spLocks xmlns:a="http://schemas.openxmlformats.org/drawingml/2006/main" noGrp="1"/>
          </p:cNvSpPr>
          <p:nvPr/>
        </p:nvSpPr>
        <p:spPr>
          <a:xfrm xmlns:a="http://schemas.openxmlformats.org/drawingml/2006/main">
            <a:off x="7620000" y="2724150"/>
            <a:ext cx="12573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1E293B"/>
                </a:solidFill>
                <a:latin typeface="Arial"/>
                <a:ea typeface="Arial"/>
                <a:cs typeface="Arial"/>
              </a:defRPr>
            </a:pPr>
            <a:r>
              <a:t>Position</a:t>
            </a:r>
          </a:p>
        </p:txBody>
      </p:sp>
      <p:sp>
        <p:nvSpPr>
          <p:cNvPr id="68" name="">
            <a:extLst xmlns:a="http://schemas.openxmlformats.org/drawingml/2006/main">
              <a:ext uri="{FF2B5EF4-FFF2-40B4-BE49-F238E27FC236}">
                <a16:creationId xmlns:a16="http://schemas.microsoft.com/office/drawing/2014/main" id="{9F12D601-DD6F-4012-97B4-669D64BFC9B4}"/>
              </a:ext>
            </a:extLst>
          </p:cNvPr>
          <p:cNvSpPr>
            <a:spLocks xmlns:a="http://schemas.openxmlformats.org/drawingml/2006/main" noGrp="1"/>
          </p:cNvSpPr>
          <p:nvPr/>
        </p:nvSpPr>
        <p:spPr>
          <a:xfrm xmlns:a="http://schemas.openxmlformats.org/drawingml/2006/main">
            <a:off x="8953500" y="2743200"/>
            <a:ext cx="2209800" cy="1905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69" name="">
            <a:extLst xmlns:a="http://schemas.openxmlformats.org/drawingml/2006/main">
              <a:ext uri="{FF2B5EF4-FFF2-40B4-BE49-F238E27FC236}">
                <a16:creationId xmlns:a16="http://schemas.microsoft.com/office/drawing/2014/main" id="{A65556AF-1F8D-44BA-A3A3-AC2EEA7D5FC4}"/>
              </a:ext>
            </a:extLst>
          </p:cNvPr>
          <p:cNvSpPr>
            <a:spLocks xmlns:a="http://schemas.openxmlformats.org/drawingml/2006/main" noGrp="1"/>
          </p:cNvSpPr>
          <p:nvPr/>
        </p:nvSpPr>
        <p:spPr>
          <a:xfrm xmlns:a="http://schemas.openxmlformats.org/drawingml/2006/main">
            <a:off x="8953500" y="2743200"/>
            <a:ext cx="1894114" cy="190500"/>
          </a:xfrm>
          <a:prstGeom xmlns:a="http://schemas.openxmlformats.org/drawingml/2006/main" prst="rect">
            <a:avLst/>
          </a:prstGeom>
          <a:solidFill xmlns:a="http://schemas.openxmlformats.org/drawingml/2006/main">
            <a:srgbClr val="07686A"/>
          </a:solidFill>
          <a:ln xmlns:a="http://schemas.openxmlformats.org/drawingml/2006/main" w="0">
            <a:noFill/>
            <a:prstDash val="solid"/>
          </a:ln>
        </p:spPr>
      </p:sp>
      <p:sp>
        <p:nvSpPr>
          <p:cNvPr id="70" name="">
            <a:extLst xmlns:a="http://schemas.openxmlformats.org/drawingml/2006/main">
              <a:ext uri="{FF2B5EF4-FFF2-40B4-BE49-F238E27FC236}">
                <a16:creationId xmlns:a16="http://schemas.microsoft.com/office/drawing/2014/main" id="{D654C211-A7BC-4426-9A37-B9AD212DCC3B}"/>
              </a:ext>
            </a:extLst>
          </p:cNvPr>
          <p:cNvSpPr>
            <a:spLocks xmlns:a="http://schemas.openxmlformats.org/drawingml/2006/main" noGrp="1"/>
          </p:cNvSpPr>
          <p:nvPr/>
        </p:nvSpPr>
        <p:spPr>
          <a:xfrm xmlns:a="http://schemas.openxmlformats.org/drawingml/2006/main">
            <a:off x="11239500" y="2705100"/>
            <a:ext cx="3810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E293B"/>
                </a:solidFill>
                <a:latin typeface="Georgia"/>
                <a:ea typeface="Georgia"/>
                <a:cs typeface="Georgia"/>
              </a:defRPr>
            </a:pPr>
            <a:r>
              <a:t>6</a:t>
            </a:r>
          </a:p>
        </p:txBody>
      </p:sp>
      <p:sp>
        <p:nvSpPr>
          <p:cNvPr id="71" name="">
            <a:extLst xmlns:a="http://schemas.openxmlformats.org/drawingml/2006/main">
              <a:ext uri="{FF2B5EF4-FFF2-40B4-BE49-F238E27FC236}">
                <a16:creationId xmlns:a16="http://schemas.microsoft.com/office/drawing/2014/main" id="{EDCF4A58-390F-41D4-B9F4-ECE170E4D21C}"/>
              </a:ext>
            </a:extLst>
          </p:cNvPr>
          <p:cNvSpPr>
            <a:spLocks xmlns:a="http://schemas.openxmlformats.org/drawingml/2006/main" noGrp="1"/>
          </p:cNvSpPr>
          <p:nvPr/>
        </p:nvSpPr>
        <p:spPr>
          <a:xfrm xmlns:a="http://schemas.openxmlformats.org/drawingml/2006/main">
            <a:off x="7620000" y="3086100"/>
            <a:ext cx="12573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1E293B"/>
                </a:solidFill>
                <a:latin typeface="Arial"/>
                <a:ea typeface="Arial"/>
                <a:cs typeface="Arial"/>
              </a:defRPr>
            </a:pPr>
            <a:r>
              <a:t>Serial</a:t>
            </a:r>
          </a:p>
        </p:txBody>
      </p:sp>
      <p:sp>
        <p:nvSpPr>
          <p:cNvPr id="72" name="">
            <a:extLst xmlns:a="http://schemas.openxmlformats.org/drawingml/2006/main">
              <a:ext uri="{FF2B5EF4-FFF2-40B4-BE49-F238E27FC236}">
                <a16:creationId xmlns:a16="http://schemas.microsoft.com/office/drawing/2014/main" id="{A6B102A3-2C10-4033-9140-B672C587525C}"/>
              </a:ext>
            </a:extLst>
          </p:cNvPr>
          <p:cNvSpPr>
            <a:spLocks xmlns:a="http://schemas.openxmlformats.org/drawingml/2006/main" noGrp="1"/>
          </p:cNvSpPr>
          <p:nvPr/>
        </p:nvSpPr>
        <p:spPr>
          <a:xfrm xmlns:a="http://schemas.openxmlformats.org/drawingml/2006/main">
            <a:off x="8953500" y="3105150"/>
            <a:ext cx="2209800" cy="1905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73" name="">
            <a:extLst xmlns:a="http://schemas.openxmlformats.org/drawingml/2006/main">
              <a:ext uri="{FF2B5EF4-FFF2-40B4-BE49-F238E27FC236}">
                <a16:creationId xmlns:a16="http://schemas.microsoft.com/office/drawing/2014/main" id="{DCD8FE21-64EA-488B-B7F0-1C1F5BA3F39C}"/>
              </a:ext>
            </a:extLst>
          </p:cNvPr>
          <p:cNvSpPr>
            <a:spLocks xmlns:a="http://schemas.openxmlformats.org/drawingml/2006/main" noGrp="1"/>
          </p:cNvSpPr>
          <p:nvPr/>
        </p:nvSpPr>
        <p:spPr>
          <a:xfrm xmlns:a="http://schemas.openxmlformats.org/drawingml/2006/main">
            <a:off x="8953500" y="3105150"/>
            <a:ext cx="1262743" cy="190500"/>
          </a:xfrm>
          <a:prstGeom xmlns:a="http://schemas.openxmlformats.org/drawingml/2006/main" prst="rect">
            <a:avLst/>
          </a:prstGeom>
          <a:solidFill xmlns:a="http://schemas.openxmlformats.org/drawingml/2006/main">
            <a:srgbClr val="07686A"/>
          </a:solidFill>
          <a:ln xmlns:a="http://schemas.openxmlformats.org/drawingml/2006/main" w="0">
            <a:noFill/>
            <a:prstDash val="solid"/>
          </a:ln>
        </p:spPr>
      </p:sp>
      <p:sp>
        <p:nvSpPr>
          <p:cNvPr id="74" name="">
            <a:extLst xmlns:a="http://schemas.openxmlformats.org/drawingml/2006/main">
              <a:ext uri="{FF2B5EF4-FFF2-40B4-BE49-F238E27FC236}">
                <a16:creationId xmlns:a16="http://schemas.microsoft.com/office/drawing/2014/main" id="{D4837CC3-52AA-4FC8-A8BE-7A47211D612B}"/>
              </a:ext>
            </a:extLst>
          </p:cNvPr>
          <p:cNvSpPr>
            <a:spLocks xmlns:a="http://schemas.openxmlformats.org/drawingml/2006/main" noGrp="1"/>
          </p:cNvSpPr>
          <p:nvPr/>
        </p:nvSpPr>
        <p:spPr>
          <a:xfrm xmlns:a="http://schemas.openxmlformats.org/drawingml/2006/main">
            <a:off x="11239500" y="3067050"/>
            <a:ext cx="3810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E293B"/>
                </a:solidFill>
                <a:latin typeface="Georgia"/>
                <a:ea typeface="Georgia"/>
                <a:cs typeface="Georgia"/>
              </a:defRPr>
            </a:pPr>
            <a:r>
              <a:t>4</a:t>
            </a:r>
          </a:p>
        </p:txBody>
      </p:sp>
      <p:sp>
        <p:nvSpPr>
          <p:cNvPr id="75" name="">
            <a:extLst xmlns:a="http://schemas.openxmlformats.org/drawingml/2006/main">
              <a:ext uri="{FF2B5EF4-FFF2-40B4-BE49-F238E27FC236}">
                <a16:creationId xmlns:a16="http://schemas.microsoft.com/office/drawing/2014/main" id="{22791CCA-95DF-43DC-8898-8E4C28294976}"/>
              </a:ext>
            </a:extLst>
          </p:cNvPr>
          <p:cNvSpPr>
            <a:spLocks xmlns:a="http://schemas.openxmlformats.org/drawingml/2006/main" noGrp="1"/>
          </p:cNvSpPr>
          <p:nvPr/>
        </p:nvSpPr>
        <p:spPr>
          <a:xfrm xmlns:a="http://schemas.openxmlformats.org/drawingml/2006/main">
            <a:off x="7620000" y="3448050"/>
            <a:ext cx="12573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1E293B"/>
                </a:solidFill>
                <a:latin typeface="Arial"/>
                <a:ea typeface="Arial"/>
                <a:cs typeface="Arial"/>
              </a:defRPr>
            </a:pPr>
            <a:r>
              <a:t>SPI</a:t>
            </a:r>
          </a:p>
        </p:txBody>
      </p:sp>
      <p:sp>
        <p:nvSpPr>
          <p:cNvPr id="76" name="">
            <a:extLst xmlns:a="http://schemas.openxmlformats.org/drawingml/2006/main">
              <a:ext uri="{FF2B5EF4-FFF2-40B4-BE49-F238E27FC236}">
                <a16:creationId xmlns:a16="http://schemas.microsoft.com/office/drawing/2014/main" id="{5BE02584-FFEF-4615-A07D-B5116B5723A7}"/>
              </a:ext>
            </a:extLst>
          </p:cNvPr>
          <p:cNvSpPr>
            <a:spLocks xmlns:a="http://schemas.openxmlformats.org/drawingml/2006/main" noGrp="1"/>
          </p:cNvSpPr>
          <p:nvPr/>
        </p:nvSpPr>
        <p:spPr>
          <a:xfrm xmlns:a="http://schemas.openxmlformats.org/drawingml/2006/main">
            <a:off x="8953500" y="3467100"/>
            <a:ext cx="2209800" cy="1905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77" name="">
            <a:extLst xmlns:a="http://schemas.openxmlformats.org/drawingml/2006/main">
              <a:ext uri="{FF2B5EF4-FFF2-40B4-BE49-F238E27FC236}">
                <a16:creationId xmlns:a16="http://schemas.microsoft.com/office/drawing/2014/main" id="{D789E9B1-4C24-4625-8166-10FA9B2EED9C}"/>
              </a:ext>
            </a:extLst>
          </p:cNvPr>
          <p:cNvSpPr>
            <a:spLocks xmlns:a="http://schemas.openxmlformats.org/drawingml/2006/main" noGrp="1"/>
          </p:cNvSpPr>
          <p:nvPr/>
        </p:nvSpPr>
        <p:spPr>
          <a:xfrm xmlns:a="http://schemas.openxmlformats.org/drawingml/2006/main">
            <a:off x="8953500" y="3467100"/>
            <a:ext cx="1262743" cy="190500"/>
          </a:xfrm>
          <a:prstGeom xmlns:a="http://schemas.openxmlformats.org/drawingml/2006/main" prst="rect">
            <a:avLst/>
          </a:prstGeom>
          <a:solidFill xmlns:a="http://schemas.openxmlformats.org/drawingml/2006/main">
            <a:srgbClr val="07686A"/>
          </a:solidFill>
          <a:ln xmlns:a="http://schemas.openxmlformats.org/drawingml/2006/main" w="0">
            <a:noFill/>
            <a:prstDash val="solid"/>
          </a:ln>
        </p:spPr>
      </p:sp>
      <p:sp>
        <p:nvSpPr>
          <p:cNvPr id="78" name="">
            <a:extLst xmlns:a="http://schemas.openxmlformats.org/drawingml/2006/main">
              <a:ext uri="{FF2B5EF4-FFF2-40B4-BE49-F238E27FC236}">
                <a16:creationId xmlns:a16="http://schemas.microsoft.com/office/drawing/2014/main" id="{F4841301-4843-4F76-A622-3CF430A96EB4}"/>
              </a:ext>
            </a:extLst>
          </p:cNvPr>
          <p:cNvSpPr>
            <a:spLocks xmlns:a="http://schemas.openxmlformats.org/drawingml/2006/main" noGrp="1"/>
          </p:cNvSpPr>
          <p:nvPr/>
        </p:nvSpPr>
        <p:spPr>
          <a:xfrm xmlns:a="http://schemas.openxmlformats.org/drawingml/2006/main">
            <a:off x="11239500" y="3429000"/>
            <a:ext cx="3810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E293B"/>
                </a:solidFill>
                <a:latin typeface="Georgia"/>
                <a:ea typeface="Georgia"/>
                <a:cs typeface="Georgia"/>
              </a:defRPr>
            </a:pPr>
            <a:r>
              <a:t>4</a:t>
            </a:r>
          </a:p>
        </p:txBody>
      </p:sp>
      <p:sp>
        <p:nvSpPr>
          <p:cNvPr id="79" name="">
            <a:extLst xmlns:a="http://schemas.openxmlformats.org/drawingml/2006/main">
              <a:ext uri="{FF2B5EF4-FFF2-40B4-BE49-F238E27FC236}">
                <a16:creationId xmlns:a16="http://schemas.microsoft.com/office/drawing/2014/main" id="{596A92FF-F211-4FA9-9CD2-C6406D18F0D7}"/>
              </a:ext>
            </a:extLst>
          </p:cNvPr>
          <p:cNvSpPr>
            <a:spLocks xmlns:a="http://schemas.openxmlformats.org/drawingml/2006/main" noGrp="1"/>
          </p:cNvSpPr>
          <p:nvPr/>
        </p:nvSpPr>
        <p:spPr>
          <a:xfrm xmlns:a="http://schemas.openxmlformats.org/drawingml/2006/main">
            <a:off x="7620000" y="3810000"/>
            <a:ext cx="12573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1E293B"/>
                </a:solidFill>
                <a:latin typeface="Arial"/>
                <a:ea typeface="Arial"/>
                <a:cs typeface="Arial"/>
              </a:defRPr>
            </a:pPr>
            <a:r>
              <a:t>JTAG</a:t>
            </a:r>
          </a:p>
        </p:txBody>
      </p:sp>
      <p:sp>
        <p:nvSpPr>
          <p:cNvPr id="80" name="">
            <a:extLst xmlns:a="http://schemas.openxmlformats.org/drawingml/2006/main">
              <a:ext uri="{FF2B5EF4-FFF2-40B4-BE49-F238E27FC236}">
                <a16:creationId xmlns:a16="http://schemas.microsoft.com/office/drawing/2014/main" id="{2B277FE5-76E0-422F-A696-33FBFE55330E}"/>
              </a:ext>
            </a:extLst>
          </p:cNvPr>
          <p:cNvSpPr>
            <a:spLocks xmlns:a="http://schemas.openxmlformats.org/drawingml/2006/main" noGrp="1"/>
          </p:cNvSpPr>
          <p:nvPr/>
        </p:nvSpPr>
        <p:spPr>
          <a:xfrm xmlns:a="http://schemas.openxmlformats.org/drawingml/2006/main">
            <a:off x="8953500" y="3829050"/>
            <a:ext cx="2209800" cy="1905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81" name="">
            <a:extLst xmlns:a="http://schemas.openxmlformats.org/drawingml/2006/main">
              <a:ext uri="{FF2B5EF4-FFF2-40B4-BE49-F238E27FC236}">
                <a16:creationId xmlns:a16="http://schemas.microsoft.com/office/drawing/2014/main" id="{02B0CF72-0A3F-4FEE-BB77-0C16A290AC80}"/>
              </a:ext>
            </a:extLst>
          </p:cNvPr>
          <p:cNvSpPr>
            <a:spLocks xmlns:a="http://schemas.openxmlformats.org/drawingml/2006/main" noGrp="1"/>
          </p:cNvSpPr>
          <p:nvPr/>
        </p:nvSpPr>
        <p:spPr>
          <a:xfrm xmlns:a="http://schemas.openxmlformats.org/drawingml/2006/main">
            <a:off x="8953500" y="3829050"/>
            <a:ext cx="1262743" cy="190500"/>
          </a:xfrm>
          <a:prstGeom xmlns:a="http://schemas.openxmlformats.org/drawingml/2006/main" prst="rect">
            <a:avLst/>
          </a:prstGeom>
          <a:solidFill xmlns:a="http://schemas.openxmlformats.org/drawingml/2006/main">
            <a:srgbClr val="07686A"/>
          </a:solidFill>
          <a:ln xmlns:a="http://schemas.openxmlformats.org/drawingml/2006/main" w="0">
            <a:noFill/>
            <a:prstDash val="solid"/>
          </a:ln>
        </p:spPr>
      </p:sp>
      <p:sp>
        <p:nvSpPr>
          <p:cNvPr id="82" name="">
            <a:extLst xmlns:a="http://schemas.openxmlformats.org/drawingml/2006/main">
              <a:ext uri="{FF2B5EF4-FFF2-40B4-BE49-F238E27FC236}">
                <a16:creationId xmlns:a16="http://schemas.microsoft.com/office/drawing/2014/main" id="{C6508D46-A8F7-4CCC-9AA1-D5B3F7268BEE}"/>
              </a:ext>
            </a:extLst>
          </p:cNvPr>
          <p:cNvSpPr>
            <a:spLocks xmlns:a="http://schemas.openxmlformats.org/drawingml/2006/main" noGrp="1"/>
          </p:cNvSpPr>
          <p:nvPr/>
        </p:nvSpPr>
        <p:spPr>
          <a:xfrm xmlns:a="http://schemas.openxmlformats.org/drawingml/2006/main">
            <a:off x="11239500" y="3790950"/>
            <a:ext cx="3810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E293B"/>
                </a:solidFill>
                <a:latin typeface="Georgia"/>
                <a:ea typeface="Georgia"/>
                <a:cs typeface="Georgia"/>
              </a:defRPr>
            </a:pPr>
            <a:r>
              <a:t>4</a:t>
            </a:r>
          </a:p>
        </p:txBody>
      </p:sp>
      <p:sp>
        <p:nvSpPr>
          <p:cNvPr id="83" name="">
            <a:extLst xmlns:a="http://schemas.openxmlformats.org/drawingml/2006/main">
              <a:ext uri="{FF2B5EF4-FFF2-40B4-BE49-F238E27FC236}">
                <a16:creationId xmlns:a16="http://schemas.microsoft.com/office/drawing/2014/main" id="{573214F0-9E44-49E4-8252-5D79DAFCE02D}"/>
              </a:ext>
            </a:extLst>
          </p:cNvPr>
          <p:cNvSpPr>
            <a:spLocks xmlns:a="http://schemas.openxmlformats.org/drawingml/2006/main" noGrp="1"/>
          </p:cNvSpPr>
          <p:nvPr/>
        </p:nvSpPr>
        <p:spPr>
          <a:xfrm xmlns:a="http://schemas.openxmlformats.org/drawingml/2006/main">
            <a:off x="7620000" y="4171950"/>
            <a:ext cx="12573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1E293B"/>
                </a:solidFill>
                <a:latin typeface="Arial"/>
                <a:ea typeface="Arial"/>
                <a:cs typeface="Arial"/>
              </a:defRPr>
            </a:pPr>
            <a:r>
              <a:t>GPIO</a:t>
            </a:r>
          </a:p>
        </p:txBody>
      </p:sp>
      <p:sp>
        <p:nvSpPr>
          <p:cNvPr id="84" name="">
            <a:extLst xmlns:a="http://schemas.openxmlformats.org/drawingml/2006/main">
              <a:ext uri="{FF2B5EF4-FFF2-40B4-BE49-F238E27FC236}">
                <a16:creationId xmlns:a16="http://schemas.microsoft.com/office/drawing/2014/main" id="{4BB657C4-A5B0-431B-89AE-B6F349F97E2D}"/>
              </a:ext>
            </a:extLst>
          </p:cNvPr>
          <p:cNvSpPr>
            <a:spLocks xmlns:a="http://schemas.openxmlformats.org/drawingml/2006/main" noGrp="1"/>
          </p:cNvSpPr>
          <p:nvPr/>
        </p:nvSpPr>
        <p:spPr>
          <a:xfrm xmlns:a="http://schemas.openxmlformats.org/drawingml/2006/main">
            <a:off x="8953500" y="4191000"/>
            <a:ext cx="2209800" cy="1905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85" name="">
            <a:extLst xmlns:a="http://schemas.openxmlformats.org/drawingml/2006/main">
              <a:ext uri="{FF2B5EF4-FFF2-40B4-BE49-F238E27FC236}">
                <a16:creationId xmlns:a16="http://schemas.microsoft.com/office/drawing/2014/main" id="{B1807D2F-315D-4B80-8697-67FEA5FD1981}"/>
              </a:ext>
            </a:extLst>
          </p:cNvPr>
          <p:cNvSpPr>
            <a:spLocks xmlns:a="http://schemas.openxmlformats.org/drawingml/2006/main" noGrp="1"/>
          </p:cNvSpPr>
          <p:nvPr/>
        </p:nvSpPr>
        <p:spPr>
          <a:xfrm xmlns:a="http://schemas.openxmlformats.org/drawingml/2006/main">
            <a:off x="8953500" y="4191000"/>
            <a:ext cx="947057" cy="190500"/>
          </a:xfrm>
          <a:prstGeom xmlns:a="http://schemas.openxmlformats.org/drawingml/2006/main" prst="rect">
            <a:avLst/>
          </a:prstGeom>
          <a:solidFill xmlns:a="http://schemas.openxmlformats.org/drawingml/2006/main">
            <a:srgbClr val="07686A"/>
          </a:solidFill>
          <a:ln xmlns:a="http://schemas.openxmlformats.org/drawingml/2006/main" w="0">
            <a:noFill/>
            <a:prstDash val="solid"/>
          </a:ln>
        </p:spPr>
      </p:sp>
      <p:sp>
        <p:nvSpPr>
          <p:cNvPr id="86" name="">
            <a:extLst xmlns:a="http://schemas.openxmlformats.org/drawingml/2006/main">
              <a:ext uri="{FF2B5EF4-FFF2-40B4-BE49-F238E27FC236}">
                <a16:creationId xmlns:a16="http://schemas.microsoft.com/office/drawing/2014/main" id="{41453642-5B05-4180-BDE9-710173B9BB00}"/>
              </a:ext>
            </a:extLst>
          </p:cNvPr>
          <p:cNvSpPr>
            <a:spLocks xmlns:a="http://schemas.openxmlformats.org/drawingml/2006/main" noGrp="1"/>
          </p:cNvSpPr>
          <p:nvPr/>
        </p:nvSpPr>
        <p:spPr>
          <a:xfrm xmlns:a="http://schemas.openxmlformats.org/drawingml/2006/main">
            <a:off x="11239500" y="4152900"/>
            <a:ext cx="3810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E293B"/>
                </a:solidFill>
                <a:latin typeface="Georgia"/>
                <a:ea typeface="Georgia"/>
                <a:cs typeface="Georgia"/>
              </a:defRPr>
            </a:pPr>
            <a:r>
              <a:t>3</a:t>
            </a:r>
          </a:p>
        </p:txBody>
      </p:sp>
      <p:sp>
        <p:nvSpPr>
          <p:cNvPr id="87" name="">
            <a:extLst xmlns:a="http://schemas.openxmlformats.org/drawingml/2006/main">
              <a:ext uri="{FF2B5EF4-FFF2-40B4-BE49-F238E27FC236}">
                <a16:creationId xmlns:a16="http://schemas.microsoft.com/office/drawing/2014/main" id="{9BBE9550-B2EB-43FB-9A1D-8716D74AE822}"/>
              </a:ext>
            </a:extLst>
          </p:cNvPr>
          <p:cNvSpPr>
            <a:spLocks xmlns:a="http://schemas.openxmlformats.org/drawingml/2006/main" noGrp="1"/>
          </p:cNvSpPr>
          <p:nvPr/>
        </p:nvSpPr>
        <p:spPr>
          <a:xfrm xmlns:a="http://schemas.openxmlformats.org/drawingml/2006/main">
            <a:off x="7620000" y="4533900"/>
            <a:ext cx="12573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1E293B"/>
                </a:solidFill>
                <a:latin typeface="Arial"/>
                <a:ea typeface="Arial"/>
                <a:cs typeface="Arial"/>
              </a:defRPr>
            </a:pPr>
            <a:r>
              <a:t>Safety</a:t>
            </a:r>
          </a:p>
        </p:txBody>
      </p:sp>
      <p:sp>
        <p:nvSpPr>
          <p:cNvPr id="88" name="">
            <a:extLst xmlns:a="http://schemas.openxmlformats.org/drawingml/2006/main">
              <a:ext uri="{FF2B5EF4-FFF2-40B4-BE49-F238E27FC236}">
                <a16:creationId xmlns:a16="http://schemas.microsoft.com/office/drawing/2014/main" id="{8DD01892-FF43-4D31-9410-D8B7AD98C094}"/>
              </a:ext>
            </a:extLst>
          </p:cNvPr>
          <p:cNvSpPr>
            <a:spLocks xmlns:a="http://schemas.openxmlformats.org/drawingml/2006/main" noGrp="1"/>
          </p:cNvSpPr>
          <p:nvPr/>
        </p:nvSpPr>
        <p:spPr>
          <a:xfrm xmlns:a="http://schemas.openxmlformats.org/drawingml/2006/main">
            <a:off x="8953500" y="4552950"/>
            <a:ext cx="2209800" cy="1905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89" name="">
            <a:extLst xmlns:a="http://schemas.openxmlformats.org/drawingml/2006/main">
              <a:ext uri="{FF2B5EF4-FFF2-40B4-BE49-F238E27FC236}">
                <a16:creationId xmlns:a16="http://schemas.microsoft.com/office/drawing/2014/main" id="{7E9B4DDF-F20B-4FB9-BD72-3DAAD8600D61}"/>
              </a:ext>
            </a:extLst>
          </p:cNvPr>
          <p:cNvSpPr>
            <a:spLocks xmlns:a="http://schemas.openxmlformats.org/drawingml/2006/main" noGrp="1"/>
          </p:cNvSpPr>
          <p:nvPr/>
        </p:nvSpPr>
        <p:spPr>
          <a:xfrm xmlns:a="http://schemas.openxmlformats.org/drawingml/2006/main">
            <a:off x="8953500" y="4552950"/>
            <a:ext cx="947057" cy="190500"/>
          </a:xfrm>
          <a:prstGeom xmlns:a="http://schemas.openxmlformats.org/drawingml/2006/main" prst="rect">
            <a:avLst/>
          </a:prstGeom>
          <a:solidFill xmlns:a="http://schemas.openxmlformats.org/drawingml/2006/main">
            <a:srgbClr val="07686A"/>
          </a:solidFill>
          <a:ln xmlns:a="http://schemas.openxmlformats.org/drawingml/2006/main" w="0">
            <a:noFill/>
            <a:prstDash val="solid"/>
          </a:ln>
        </p:spPr>
      </p:sp>
      <p:sp>
        <p:nvSpPr>
          <p:cNvPr id="90" name="">
            <a:extLst xmlns:a="http://schemas.openxmlformats.org/drawingml/2006/main">
              <a:ext uri="{FF2B5EF4-FFF2-40B4-BE49-F238E27FC236}">
                <a16:creationId xmlns:a16="http://schemas.microsoft.com/office/drawing/2014/main" id="{8C2CA546-5D2E-4791-A16A-48FA79911B62}"/>
              </a:ext>
            </a:extLst>
          </p:cNvPr>
          <p:cNvSpPr>
            <a:spLocks xmlns:a="http://schemas.openxmlformats.org/drawingml/2006/main" noGrp="1"/>
          </p:cNvSpPr>
          <p:nvPr/>
        </p:nvSpPr>
        <p:spPr>
          <a:xfrm xmlns:a="http://schemas.openxmlformats.org/drawingml/2006/main">
            <a:off x="11239500" y="4514850"/>
            <a:ext cx="3810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E293B"/>
                </a:solidFill>
                <a:latin typeface="Georgia"/>
                <a:ea typeface="Georgia"/>
                <a:cs typeface="Georgia"/>
              </a:defRPr>
            </a:pPr>
            <a:r>
              <a:t>3</a:t>
            </a:r>
          </a:p>
        </p:txBody>
      </p:sp>
      <p:sp>
        <p:nvSpPr>
          <p:cNvPr id="91" name="">
            <a:extLst xmlns:a="http://schemas.openxmlformats.org/drawingml/2006/main">
              <a:ext uri="{FF2B5EF4-FFF2-40B4-BE49-F238E27FC236}">
                <a16:creationId xmlns:a16="http://schemas.microsoft.com/office/drawing/2014/main" id="{EC53944E-47D4-4EAA-9544-666D4D101B79}"/>
              </a:ext>
            </a:extLst>
          </p:cNvPr>
          <p:cNvSpPr>
            <a:spLocks xmlns:a="http://schemas.openxmlformats.org/drawingml/2006/main" noGrp="1"/>
          </p:cNvSpPr>
          <p:nvPr/>
        </p:nvSpPr>
        <p:spPr>
          <a:xfrm xmlns:a="http://schemas.openxmlformats.org/drawingml/2006/main">
            <a:off x="7620000" y="4895850"/>
            <a:ext cx="12573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1E293B"/>
                </a:solidFill>
                <a:latin typeface="Arial"/>
                <a:ea typeface="Arial"/>
                <a:cs typeface="Arial"/>
              </a:defRPr>
            </a:pPr>
            <a:r>
              <a:t>Analog</a:t>
            </a:r>
          </a:p>
        </p:txBody>
      </p:sp>
      <p:sp>
        <p:nvSpPr>
          <p:cNvPr id="92" name="">
            <a:extLst xmlns:a="http://schemas.openxmlformats.org/drawingml/2006/main">
              <a:ext uri="{FF2B5EF4-FFF2-40B4-BE49-F238E27FC236}">
                <a16:creationId xmlns:a16="http://schemas.microsoft.com/office/drawing/2014/main" id="{1E626781-5CD0-40C6-804E-54091E78B786}"/>
              </a:ext>
            </a:extLst>
          </p:cNvPr>
          <p:cNvSpPr>
            <a:spLocks xmlns:a="http://schemas.openxmlformats.org/drawingml/2006/main" noGrp="1"/>
          </p:cNvSpPr>
          <p:nvPr/>
        </p:nvSpPr>
        <p:spPr>
          <a:xfrm xmlns:a="http://schemas.openxmlformats.org/drawingml/2006/main">
            <a:off x="8953500" y="4914900"/>
            <a:ext cx="2209800" cy="1905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93" name="">
            <a:extLst xmlns:a="http://schemas.openxmlformats.org/drawingml/2006/main">
              <a:ext uri="{FF2B5EF4-FFF2-40B4-BE49-F238E27FC236}">
                <a16:creationId xmlns:a16="http://schemas.microsoft.com/office/drawing/2014/main" id="{87C85703-133B-41BA-9D3C-A928A8C34ED2}"/>
              </a:ext>
            </a:extLst>
          </p:cNvPr>
          <p:cNvSpPr>
            <a:spLocks xmlns:a="http://schemas.openxmlformats.org/drawingml/2006/main" noGrp="1"/>
          </p:cNvSpPr>
          <p:nvPr/>
        </p:nvSpPr>
        <p:spPr>
          <a:xfrm xmlns:a="http://schemas.openxmlformats.org/drawingml/2006/main">
            <a:off x="8953500" y="4914900"/>
            <a:ext cx="631371" cy="190500"/>
          </a:xfrm>
          <a:prstGeom xmlns:a="http://schemas.openxmlformats.org/drawingml/2006/main" prst="rect">
            <a:avLst/>
          </a:prstGeom>
          <a:solidFill xmlns:a="http://schemas.openxmlformats.org/drawingml/2006/main">
            <a:srgbClr val="07686A"/>
          </a:solidFill>
          <a:ln xmlns:a="http://schemas.openxmlformats.org/drawingml/2006/main" w="0">
            <a:noFill/>
            <a:prstDash val="solid"/>
          </a:ln>
        </p:spPr>
      </p:sp>
      <p:sp>
        <p:nvSpPr>
          <p:cNvPr id="94" name="">
            <a:extLst xmlns:a="http://schemas.openxmlformats.org/drawingml/2006/main">
              <a:ext uri="{FF2B5EF4-FFF2-40B4-BE49-F238E27FC236}">
                <a16:creationId xmlns:a16="http://schemas.microsoft.com/office/drawing/2014/main" id="{B1A39DAB-2BC6-4FCF-BDD7-E7742E05DE7F}"/>
              </a:ext>
            </a:extLst>
          </p:cNvPr>
          <p:cNvSpPr>
            <a:spLocks xmlns:a="http://schemas.openxmlformats.org/drawingml/2006/main" noGrp="1"/>
          </p:cNvSpPr>
          <p:nvPr/>
        </p:nvSpPr>
        <p:spPr>
          <a:xfrm xmlns:a="http://schemas.openxmlformats.org/drawingml/2006/main">
            <a:off x="11239500" y="4876800"/>
            <a:ext cx="3810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E293B"/>
                </a:solidFill>
                <a:latin typeface="Georgia"/>
                <a:ea typeface="Georgia"/>
                <a:cs typeface="Georgia"/>
              </a:defRPr>
            </a:pPr>
            <a:r>
              <a:t>2</a:t>
            </a:r>
          </a:p>
        </p:txBody>
      </p:sp>
      <p:sp>
        <p:nvSpPr>
          <p:cNvPr id="95" name="">
            <a:extLst xmlns:a="http://schemas.openxmlformats.org/drawingml/2006/main">
              <a:ext uri="{FF2B5EF4-FFF2-40B4-BE49-F238E27FC236}">
                <a16:creationId xmlns:a16="http://schemas.microsoft.com/office/drawing/2014/main" id="{04001F8E-E530-48B5-8730-C6D4C0186661}"/>
              </a:ext>
            </a:extLst>
          </p:cNvPr>
          <p:cNvSpPr>
            <a:spLocks xmlns:a="http://schemas.openxmlformats.org/drawingml/2006/main" noGrp="1"/>
          </p:cNvSpPr>
          <p:nvPr/>
        </p:nvSpPr>
        <p:spPr>
          <a:xfrm xmlns:a="http://schemas.openxmlformats.org/drawingml/2006/main">
            <a:off x="7620000" y="5257800"/>
            <a:ext cx="12573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1E293B"/>
                </a:solidFill>
                <a:latin typeface="Arial"/>
                <a:ea typeface="Arial"/>
                <a:cs typeface="Arial"/>
              </a:defRPr>
            </a:pPr>
            <a:r>
              <a:t>I²C</a:t>
            </a:r>
          </a:p>
        </p:txBody>
      </p:sp>
      <p:sp>
        <p:nvSpPr>
          <p:cNvPr id="96" name="">
            <a:extLst xmlns:a="http://schemas.openxmlformats.org/drawingml/2006/main">
              <a:ext uri="{FF2B5EF4-FFF2-40B4-BE49-F238E27FC236}">
                <a16:creationId xmlns:a16="http://schemas.microsoft.com/office/drawing/2014/main" id="{6B557851-EF01-4447-9636-2FB7F1E2BBB5}"/>
              </a:ext>
            </a:extLst>
          </p:cNvPr>
          <p:cNvSpPr>
            <a:spLocks xmlns:a="http://schemas.openxmlformats.org/drawingml/2006/main" noGrp="1"/>
          </p:cNvSpPr>
          <p:nvPr/>
        </p:nvSpPr>
        <p:spPr>
          <a:xfrm xmlns:a="http://schemas.openxmlformats.org/drawingml/2006/main">
            <a:off x="8953500" y="5276850"/>
            <a:ext cx="2209800" cy="1905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97" name="">
            <a:extLst xmlns:a="http://schemas.openxmlformats.org/drawingml/2006/main">
              <a:ext uri="{FF2B5EF4-FFF2-40B4-BE49-F238E27FC236}">
                <a16:creationId xmlns:a16="http://schemas.microsoft.com/office/drawing/2014/main" id="{271517C0-E9E7-426D-BBAB-408B28606AAA}"/>
              </a:ext>
            </a:extLst>
          </p:cNvPr>
          <p:cNvSpPr>
            <a:spLocks xmlns:a="http://schemas.openxmlformats.org/drawingml/2006/main" noGrp="1"/>
          </p:cNvSpPr>
          <p:nvPr/>
        </p:nvSpPr>
        <p:spPr>
          <a:xfrm xmlns:a="http://schemas.openxmlformats.org/drawingml/2006/main">
            <a:off x="8953500" y="5276850"/>
            <a:ext cx="631371" cy="190500"/>
          </a:xfrm>
          <a:prstGeom xmlns:a="http://schemas.openxmlformats.org/drawingml/2006/main" prst="rect">
            <a:avLst/>
          </a:prstGeom>
          <a:solidFill xmlns:a="http://schemas.openxmlformats.org/drawingml/2006/main">
            <a:srgbClr val="07686A"/>
          </a:solidFill>
          <a:ln xmlns:a="http://schemas.openxmlformats.org/drawingml/2006/main" w="0">
            <a:noFill/>
            <a:prstDash val="solid"/>
          </a:ln>
        </p:spPr>
      </p:sp>
      <p:sp>
        <p:nvSpPr>
          <p:cNvPr id="98" name="">
            <a:extLst xmlns:a="http://schemas.openxmlformats.org/drawingml/2006/main">
              <a:ext uri="{FF2B5EF4-FFF2-40B4-BE49-F238E27FC236}">
                <a16:creationId xmlns:a16="http://schemas.microsoft.com/office/drawing/2014/main" id="{F3CE2502-6B34-4269-AB4E-62397C4235B1}"/>
              </a:ext>
            </a:extLst>
          </p:cNvPr>
          <p:cNvSpPr>
            <a:spLocks xmlns:a="http://schemas.openxmlformats.org/drawingml/2006/main" noGrp="1"/>
          </p:cNvSpPr>
          <p:nvPr/>
        </p:nvSpPr>
        <p:spPr>
          <a:xfrm xmlns:a="http://schemas.openxmlformats.org/drawingml/2006/main">
            <a:off x="11239500" y="5238750"/>
            <a:ext cx="3810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E293B"/>
                </a:solidFill>
                <a:latin typeface="Georgia"/>
                <a:ea typeface="Georgia"/>
                <a:cs typeface="Georgia"/>
              </a:defRPr>
            </a:pPr>
            <a:r>
              <a:t>2</a:t>
            </a:r>
          </a:p>
        </p:txBody>
      </p:sp>
      <p:sp>
        <p:nvSpPr>
          <p:cNvPr id="99" name="">
            <a:extLst xmlns:a="http://schemas.openxmlformats.org/drawingml/2006/main">
              <a:ext uri="{FF2B5EF4-FFF2-40B4-BE49-F238E27FC236}">
                <a16:creationId xmlns:a16="http://schemas.microsoft.com/office/drawing/2014/main" id="{2504FCD7-9259-462A-9626-2E84B86E764C}"/>
              </a:ext>
            </a:extLst>
          </p:cNvPr>
          <p:cNvSpPr>
            <a:spLocks xmlns:a="http://schemas.openxmlformats.org/drawingml/2006/main" noGrp="1"/>
          </p:cNvSpPr>
          <p:nvPr/>
        </p:nvSpPr>
        <p:spPr>
          <a:xfrm xmlns:a="http://schemas.openxmlformats.org/drawingml/2006/main">
            <a:off x="7620000" y="5619750"/>
            <a:ext cx="12573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1E293B"/>
                </a:solidFill>
                <a:latin typeface="Arial"/>
                <a:ea typeface="Arial"/>
                <a:cs typeface="Arial"/>
              </a:defRPr>
            </a:pPr>
            <a:r>
              <a:t>Clock &amp; reset</a:t>
            </a:r>
          </a:p>
        </p:txBody>
      </p:sp>
      <p:sp>
        <p:nvSpPr>
          <p:cNvPr id="100" name="">
            <a:extLst xmlns:a="http://schemas.openxmlformats.org/drawingml/2006/main">
              <a:ext uri="{FF2B5EF4-FFF2-40B4-BE49-F238E27FC236}">
                <a16:creationId xmlns:a16="http://schemas.microsoft.com/office/drawing/2014/main" id="{9552FBD8-5CDF-4C87-8083-4081AC9DF7BC}"/>
              </a:ext>
            </a:extLst>
          </p:cNvPr>
          <p:cNvSpPr>
            <a:spLocks xmlns:a="http://schemas.openxmlformats.org/drawingml/2006/main" noGrp="1"/>
          </p:cNvSpPr>
          <p:nvPr/>
        </p:nvSpPr>
        <p:spPr>
          <a:xfrm xmlns:a="http://schemas.openxmlformats.org/drawingml/2006/main">
            <a:off x="8953500" y="5638800"/>
            <a:ext cx="2209800" cy="1905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01" name="">
            <a:extLst xmlns:a="http://schemas.openxmlformats.org/drawingml/2006/main">
              <a:ext uri="{FF2B5EF4-FFF2-40B4-BE49-F238E27FC236}">
                <a16:creationId xmlns:a16="http://schemas.microsoft.com/office/drawing/2014/main" id="{E554D306-32D0-4913-95C0-818CB19EE8DA}"/>
              </a:ext>
            </a:extLst>
          </p:cNvPr>
          <p:cNvSpPr>
            <a:spLocks xmlns:a="http://schemas.openxmlformats.org/drawingml/2006/main" noGrp="1"/>
          </p:cNvSpPr>
          <p:nvPr/>
        </p:nvSpPr>
        <p:spPr>
          <a:xfrm xmlns:a="http://schemas.openxmlformats.org/drawingml/2006/main">
            <a:off x="8953500" y="5638800"/>
            <a:ext cx="631371" cy="190500"/>
          </a:xfrm>
          <a:prstGeom xmlns:a="http://schemas.openxmlformats.org/drawingml/2006/main" prst="rect">
            <a:avLst/>
          </a:prstGeom>
          <a:solidFill xmlns:a="http://schemas.openxmlformats.org/drawingml/2006/main">
            <a:srgbClr val="07686A"/>
          </a:solidFill>
          <a:ln xmlns:a="http://schemas.openxmlformats.org/drawingml/2006/main" w="0">
            <a:noFill/>
            <a:prstDash val="solid"/>
          </a:ln>
        </p:spPr>
      </p:sp>
      <p:sp>
        <p:nvSpPr>
          <p:cNvPr id="102" name="">
            <a:extLst xmlns:a="http://schemas.openxmlformats.org/drawingml/2006/main">
              <a:ext uri="{FF2B5EF4-FFF2-40B4-BE49-F238E27FC236}">
                <a16:creationId xmlns:a16="http://schemas.microsoft.com/office/drawing/2014/main" id="{624B1BAD-29B8-4EE5-AAF9-23C178A983E8}"/>
              </a:ext>
            </a:extLst>
          </p:cNvPr>
          <p:cNvSpPr>
            <a:spLocks xmlns:a="http://schemas.openxmlformats.org/drawingml/2006/main" noGrp="1"/>
          </p:cNvSpPr>
          <p:nvPr/>
        </p:nvSpPr>
        <p:spPr>
          <a:xfrm xmlns:a="http://schemas.openxmlformats.org/drawingml/2006/main">
            <a:off x="11239500" y="5600700"/>
            <a:ext cx="3810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E293B"/>
                </a:solidFill>
                <a:latin typeface="Georgia"/>
                <a:ea typeface="Georgia"/>
                <a:cs typeface="Georgia"/>
              </a:defRPr>
            </a:pPr>
            <a:r>
              <a:t>2</a:t>
            </a:r>
          </a:p>
        </p:txBody>
      </p:sp>
      <p:sp>
        <p:nvSpPr>
          <p:cNvPr id="103" name="">
            <a:extLst xmlns:a="http://schemas.openxmlformats.org/drawingml/2006/main">
              <a:ext uri="{FF2B5EF4-FFF2-40B4-BE49-F238E27FC236}">
                <a16:creationId xmlns:a16="http://schemas.microsoft.com/office/drawing/2014/main" id="{5C91920C-1725-480E-BE04-2AB3C04CFCC2}"/>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6B7280"/>
                </a:solidFill>
                <a:latin typeface="Arial"/>
                <a:ea typeface="Arial"/>
                <a:cs typeface="Arial"/>
              </a:defRPr>
            </a:pPr>
            <a:r>
              <a:t>Source: DG32-LITE preliminary datasheet §3, §3.1 pins by function.</a:t>
            </a:r>
          </a:p>
        </p:txBody>
      </p:sp>
    </p:spTree>
    <p:extLst>
      <p:ext uri="{BB962C8B-B14F-4D97-AF65-F5344CB8AC3E}">
        <p14:creationId xmlns:p14="http://schemas.microsoft.com/office/powerpoint/2010/main" val="5673263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94" name="">
            <a:extLst xmlns:a="http://schemas.openxmlformats.org/drawingml/2006/main">
              <a:ext uri="{FF2B5EF4-FFF2-40B4-BE49-F238E27FC236}">
                <a16:creationId xmlns:a16="http://schemas.microsoft.com/office/drawing/2014/main" id="{9CA7FCA3-FCC9-4B09-BD14-6E93E82E2C0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F28CBB4-8088-42F1-888E-86C7207410A7}"/>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77A3"/>
                </a:solidFill>
                <a:latin typeface="Arial"/>
                <a:ea typeface="Arial"/>
                <a:cs typeface="Arial"/>
              </a:defRPr>
            </a:pPr>
            <a:r>
              <a:t>05 · PIN PLACEMENT</a:t>
            </a:r>
          </a:p>
        </p:txBody>
      </p:sp>
      <p:sp>
        <p:nvSpPr>
          <p:cNvPr id="3" name="">
            <a:extLst xmlns:a="http://schemas.openxmlformats.org/drawingml/2006/main">
              <a:ext uri="{FF2B5EF4-FFF2-40B4-BE49-F238E27FC236}">
                <a16:creationId xmlns:a16="http://schemas.microsoft.com/office/drawing/2014/main" id="{6D729BDB-7256-4D56-921D-6683D02C65EB}"/>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Each side of the package groups related signals</a:t>
            </a:r>
          </a:p>
        </p:txBody>
      </p:sp>
      <p:sp>
        <p:nvSpPr>
          <p:cNvPr id="4" name="">
            <a:extLst xmlns:a="http://schemas.openxmlformats.org/drawingml/2006/main">
              <a:ext uri="{FF2B5EF4-FFF2-40B4-BE49-F238E27FC236}">
                <a16:creationId xmlns:a16="http://schemas.microsoft.com/office/drawing/2014/main" id="{167FF356-25F9-4263-93D6-07DB1386552B}"/>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Supplies and grounds sit between the groups on every side; pin 1 is upper left, numbered counter-clockwise</a:t>
            </a:r>
          </a:p>
        </p:txBody>
      </p:sp>
      <p:sp>
        <p:nvSpPr>
          <p:cNvPr id="5" name="">
            <a:extLst xmlns:a="http://schemas.openxmlformats.org/drawingml/2006/main">
              <a:ext uri="{FF2B5EF4-FFF2-40B4-BE49-F238E27FC236}">
                <a16:creationId xmlns:a16="http://schemas.microsoft.com/office/drawing/2014/main" id="{032B41E4-5324-4981-A04E-68CD747786C6}"/>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34A41EF-ECB2-46D4-9A4F-E344D90A0261}"/>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F3770AC-39F5-41EA-9CF0-674FC4D08AC0}"/>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DEEPGRID SEMI  ·  DG32-LITE PRELIMINARY DATASHEET  ·  SEPTEMBER 2026  ·  PRE-SILICON</a:t>
            </a:r>
          </a:p>
        </p:txBody>
      </p:sp>
      <p:sp>
        <p:nvSpPr>
          <p:cNvPr id="8" name="">
            <a:extLst xmlns:a="http://schemas.openxmlformats.org/drawingml/2006/main">
              <a:ext uri="{FF2B5EF4-FFF2-40B4-BE49-F238E27FC236}">
                <a16:creationId xmlns:a16="http://schemas.microsoft.com/office/drawing/2014/main" id="{BB812A16-FD71-485A-910C-5F67C6043ECC}"/>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05</a:t>
            </a:r>
          </a:p>
        </p:txBody>
      </p:sp>
      <p:sp>
        <p:nvSpPr>
          <p:cNvPr id="9" name="">
            <a:extLst xmlns:a="http://schemas.openxmlformats.org/drawingml/2006/main">
              <a:ext uri="{FF2B5EF4-FFF2-40B4-BE49-F238E27FC236}">
                <a16:creationId xmlns:a16="http://schemas.microsoft.com/office/drawing/2014/main" id="{C50686ED-ACB4-4FF5-9856-360471FAE4FA}"/>
              </a:ext>
            </a:extLst>
          </p:cNvPr>
          <p:cNvSpPr>
            <a:spLocks xmlns:a="http://schemas.openxmlformats.org/drawingml/2006/main" noGrp="1"/>
          </p:cNvSpPr>
          <p:nvPr/>
        </p:nvSpPr>
        <p:spPr>
          <a:xfrm xmlns:a="http://schemas.openxmlformats.org/drawingml/2006/main">
            <a:off x="4762500" y="2571750"/>
            <a:ext cx="2667000" cy="2667000"/>
          </a:xfrm>
          <a:prstGeom xmlns:a="http://schemas.openxmlformats.org/drawingml/2006/main" prst="rect">
            <a:avLst/>
          </a:prstGeom>
          <a:solidFill xmlns:a="http://schemas.openxmlformats.org/drawingml/2006/main">
            <a:srgbClr val="0A1628"/>
          </a:solidFill>
          <a:ln xmlns:a="http://schemas.openxmlformats.org/drawingml/2006/main" w="19050">
            <a:solidFill>
              <a:srgbClr val="1E293B"/>
            </a:solidFill>
            <a:prstDash val="solid"/>
          </a:ln>
        </p:spPr>
      </p:sp>
      <p:sp>
        <p:nvSpPr>
          <p:cNvPr id="10" name="">
            <a:extLst xmlns:a="http://schemas.openxmlformats.org/drawingml/2006/main">
              <a:ext uri="{FF2B5EF4-FFF2-40B4-BE49-F238E27FC236}">
                <a16:creationId xmlns:a16="http://schemas.microsoft.com/office/drawing/2014/main" id="{8046FDD4-F5FB-41F5-A4C4-B607FD84DE97}"/>
              </a:ext>
            </a:extLst>
          </p:cNvPr>
          <p:cNvSpPr>
            <a:spLocks xmlns:a="http://schemas.openxmlformats.org/drawingml/2006/main" noGrp="1"/>
          </p:cNvSpPr>
          <p:nvPr/>
        </p:nvSpPr>
        <p:spPr>
          <a:xfrm xmlns:a="http://schemas.openxmlformats.org/drawingml/2006/main">
            <a:off x="4914900" y="2724150"/>
            <a:ext cx="133350" cy="133350"/>
          </a:xfrm>
          <a:prstGeom xmlns:a="http://schemas.openxmlformats.org/drawingml/2006/main" prst="ellipse">
            <a:avLst/>
          </a:prstGeom>
          <a:solidFill xmlns:a="http://schemas.openxmlformats.org/drawingml/2006/main">
            <a:srgbClr val="00B4D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E3594B0-7A3F-4D4E-A95F-0B8DCB882D05}"/>
              </a:ext>
            </a:extLst>
          </p:cNvPr>
          <p:cNvSpPr>
            <a:spLocks xmlns:a="http://schemas.openxmlformats.org/drawingml/2006/main" noGrp="1"/>
          </p:cNvSpPr>
          <p:nvPr/>
        </p:nvSpPr>
        <p:spPr>
          <a:xfrm xmlns:a="http://schemas.openxmlformats.org/drawingml/2006/main">
            <a:off x="4629150" y="2724150"/>
            <a:ext cx="114300" cy="76200"/>
          </a:xfrm>
          <a:prstGeom xmlns:a="http://schemas.openxmlformats.org/drawingml/2006/main" prst="rect">
            <a:avLst/>
          </a:prstGeom>
          <a:solidFill xmlns:a="http://schemas.openxmlformats.org/drawingml/2006/main">
            <a:srgbClr val="07686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2B814CD-E559-4F7B-ABBA-552A137DB857}"/>
              </a:ext>
            </a:extLst>
          </p:cNvPr>
          <p:cNvSpPr>
            <a:spLocks xmlns:a="http://schemas.openxmlformats.org/drawingml/2006/main" noGrp="1"/>
          </p:cNvSpPr>
          <p:nvPr/>
        </p:nvSpPr>
        <p:spPr>
          <a:xfrm xmlns:a="http://schemas.openxmlformats.org/drawingml/2006/main">
            <a:off x="4914900" y="5257800"/>
            <a:ext cx="76200" cy="11430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9BB4E3A-241B-4104-AF05-65C259047456}"/>
              </a:ext>
            </a:extLst>
          </p:cNvPr>
          <p:cNvSpPr>
            <a:spLocks xmlns:a="http://schemas.openxmlformats.org/drawingml/2006/main" noGrp="1"/>
          </p:cNvSpPr>
          <p:nvPr/>
        </p:nvSpPr>
        <p:spPr>
          <a:xfrm xmlns:a="http://schemas.openxmlformats.org/drawingml/2006/main">
            <a:off x="7448550" y="2724150"/>
            <a:ext cx="114300" cy="762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F5FD759-D95E-4AEB-AFE2-90080223727D}"/>
              </a:ext>
            </a:extLst>
          </p:cNvPr>
          <p:cNvSpPr>
            <a:spLocks xmlns:a="http://schemas.openxmlformats.org/drawingml/2006/main" noGrp="1"/>
          </p:cNvSpPr>
          <p:nvPr/>
        </p:nvSpPr>
        <p:spPr>
          <a:xfrm xmlns:a="http://schemas.openxmlformats.org/drawingml/2006/main">
            <a:off x="4914900" y="2438400"/>
            <a:ext cx="76200" cy="114300"/>
          </a:xfrm>
          <a:prstGeom xmlns:a="http://schemas.openxmlformats.org/drawingml/2006/main" prst="rect">
            <a:avLst/>
          </a:prstGeom>
          <a:solidFill xmlns:a="http://schemas.openxmlformats.org/drawingml/2006/main">
            <a:srgbClr val="0077A3"/>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BDA33BD-EE60-4B43-BB70-677558E27287}"/>
              </a:ext>
            </a:extLst>
          </p:cNvPr>
          <p:cNvSpPr>
            <a:spLocks xmlns:a="http://schemas.openxmlformats.org/drawingml/2006/main" noGrp="1"/>
          </p:cNvSpPr>
          <p:nvPr/>
        </p:nvSpPr>
        <p:spPr>
          <a:xfrm xmlns:a="http://schemas.openxmlformats.org/drawingml/2006/main">
            <a:off x="4629150" y="2876550"/>
            <a:ext cx="114300" cy="76200"/>
          </a:xfrm>
          <a:prstGeom xmlns:a="http://schemas.openxmlformats.org/drawingml/2006/main" prst="rect">
            <a:avLst/>
          </a:prstGeom>
          <a:solidFill xmlns:a="http://schemas.openxmlformats.org/drawingml/2006/main">
            <a:srgbClr val="07686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39C054E2-8BE2-4A47-9624-5908FAE91CB3}"/>
              </a:ext>
            </a:extLst>
          </p:cNvPr>
          <p:cNvSpPr>
            <a:spLocks xmlns:a="http://schemas.openxmlformats.org/drawingml/2006/main" noGrp="1"/>
          </p:cNvSpPr>
          <p:nvPr/>
        </p:nvSpPr>
        <p:spPr>
          <a:xfrm xmlns:a="http://schemas.openxmlformats.org/drawingml/2006/main">
            <a:off x="5067300" y="5257800"/>
            <a:ext cx="76200" cy="11430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B0EA7856-6668-40E9-BB5B-B7FE5984F756}"/>
              </a:ext>
            </a:extLst>
          </p:cNvPr>
          <p:cNvSpPr>
            <a:spLocks xmlns:a="http://schemas.openxmlformats.org/drawingml/2006/main" noGrp="1"/>
          </p:cNvSpPr>
          <p:nvPr/>
        </p:nvSpPr>
        <p:spPr>
          <a:xfrm xmlns:a="http://schemas.openxmlformats.org/drawingml/2006/main">
            <a:off x="7448550" y="2876550"/>
            <a:ext cx="114300" cy="762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3EB317E-6A42-4D26-BE5F-490B08A9A02B}"/>
              </a:ext>
            </a:extLst>
          </p:cNvPr>
          <p:cNvSpPr>
            <a:spLocks xmlns:a="http://schemas.openxmlformats.org/drawingml/2006/main" noGrp="1"/>
          </p:cNvSpPr>
          <p:nvPr/>
        </p:nvSpPr>
        <p:spPr>
          <a:xfrm xmlns:a="http://schemas.openxmlformats.org/drawingml/2006/main">
            <a:off x="5067300" y="2438400"/>
            <a:ext cx="76200" cy="114300"/>
          </a:xfrm>
          <a:prstGeom xmlns:a="http://schemas.openxmlformats.org/drawingml/2006/main" prst="rect">
            <a:avLst/>
          </a:prstGeom>
          <a:solidFill xmlns:a="http://schemas.openxmlformats.org/drawingml/2006/main">
            <a:srgbClr val="0077A3"/>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5A0C7B46-B6B6-4276-A25F-2468417E5692}"/>
              </a:ext>
            </a:extLst>
          </p:cNvPr>
          <p:cNvSpPr>
            <a:spLocks xmlns:a="http://schemas.openxmlformats.org/drawingml/2006/main" noGrp="1"/>
          </p:cNvSpPr>
          <p:nvPr/>
        </p:nvSpPr>
        <p:spPr>
          <a:xfrm xmlns:a="http://schemas.openxmlformats.org/drawingml/2006/main">
            <a:off x="4629150" y="3028950"/>
            <a:ext cx="114300" cy="76200"/>
          </a:xfrm>
          <a:prstGeom xmlns:a="http://schemas.openxmlformats.org/drawingml/2006/main" prst="rect">
            <a:avLst/>
          </a:prstGeom>
          <a:solidFill xmlns:a="http://schemas.openxmlformats.org/drawingml/2006/main">
            <a:srgbClr val="07686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3262D55-F146-4452-B11D-26F1851FAA38}"/>
              </a:ext>
            </a:extLst>
          </p:cNvPr>
          <p:cNvSpPr>
            <a:spLocks xmlns:a="http://schemas.openxmlformats.org/drawingml/2006/main" noGrp="1"/>
          </p:cNvSpPr>
          <p:nvPr/>
        </p:nvSpPr>
        <p:spPr>
          <a:xfrm xmlns:a="http://schemas.openxmlformats.org/drawingml/2006/main">
            <a:off x="5219700" y="5257800"/>
            <a:ext cx="76200" cy="11430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64C937E6-67F8-4498-A4A0-916DB687A5E1}"/>
              </a:ext>
            </a:extLst>
          </p:cNvPr>
          <p:cNvSpPr>
            <a:spLocks xmlns:a="http://schemas.openxmlformats.org/drawingml/2006/main" noGrp="1"/>
          </p:cNvSpPr>
          <p:nvPr/>
        </p:nvSpPr>
        <p:spPr>
          <a:xfrm xmlns:a="http://schemas.openxmlformats.org/drawingml/2006/main">
            <a:off x="7448550" y="3028950"/>
            <a:ext cx="114300" cy="762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04AC72B6-F77A-4A0D-B6BA-33F0939843F1}"/>
              </a:ext>
            </a:extLst>
          </p:cNvPr>
          <p:cNvSpPr>
            <a:spLocks xmlns:a="http://schemas.openxmlformats.org/drawingml/2006/main" noGrp="1"/>
          </p:cNvSpPr>
          <p:nvPr/>
        </p:nvSpPr>
        <p:spPr>
          <a:xfrm xmlns:a="http://schemas.openxmlformats.org/drawingml/2006/main">
            <a:off x="5219700" y="2438400"/>
            <a:ext cx="76200" cy="114300"/>
          </a:xfrm>
          <a:prstGeom xmlns:a="http://schemas.openxmlformats.org/drawingml/2006/main" prst="rect">
            <a:avLst/>
          </a:prstGeom>
          <a:solidFill xmlns:a="http://schemas.openxmlformats.org/drawingml/2006/main">
            <a:srgbClr val="0077A3"/>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0A687933-71F6-4DC8-AA5D-1814C4D2BF6D}"/>
              </a:ext>
            </a:extLst>
          </p:cNvPr>
          <p:cNvSpPr>
            <a:spLocks xmlns:a="http://schemas.openxmlformats.org/drawingml/2006/main" noGrp="1"/>
          </p:cNvSpPr>
          <p:nvPr/>
        </p:nvSpPr>
        <p:spPr>
          <a:xfrm xmlns:a="http://schemas.openxmlformats.org/drawingml/2006/main">
            <a:off x="4629150" y="3181350"/>
            <a:ext cx="114300" cy="76200"/>
          </a:xfrm>
          <a:prstGeom xmlns:a="http://schemas.openxmlformats.org/drawingml/2006/main" prst="rect">
            <a:avLst/>
          </a:prstGeom>
          <a:solidFill xmlns:a="http://schemas.openxmlformats.org/drawingml/2006/main">
            <a:srgbClr val="07686A"/>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3122393C-9CAF-42C8-83AD-1BBCFDFCB00B}"/>
              </a:ext>
            </a:extLst>
          </p:cNvPr>
          <p:cNvSpPr>
            <a:spLocks xmlns:a="http://schemas.openxmlformats.org/drawingml/2006/main" noGrp="1"/>
          </p:cNvSpPr>
          <p:nvPr/>
        </p:nvSpPr>
        <p:spPr>
          <a:xfrm xmlns:a="http://schemas.openxmlformats.org/drawingml/2006/main">
            <a:off x="5372100" y="5257800"/>
            <a:ext cx="76200" cy="11430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627CDB10-DAB4-4740-98ED-2A16F096A78E}"/>
              </a:ext>
            </a:extLst>
          </p:cNvPr>
          <p:cNvSpPr>
            <a:spLocks xmlns:a="http://schemas.openxmlformats.org/drawingml/2006/main" noGrp="1"/>
          </p:cNvSpPr>
          <p:nvPr/>
        </p:nvSpPr>
        <p:spPr>
          <a:xfrm xmlns:a="http://schemas.openxmlformats.org/drawingml/2006/main">
            <a:off x="7448550" y="3181350"/>
            <a:ext cx="114300" cy="762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079A75BE-B4F5-4EBD-B08A-14D0F444202A}"/>
              </a:ext>
            </a:extLst>
          </p:cNvPr>
          <p:cNvSpPr>
            <a:spLocks xmlns:a="http://schemas.openxmlformats.org/drawingml/2006/main" noGrp="1"/>
          </p:cNvSpPr>
          <p:nvPr/>
        </p:nvSpPr>
        <p:spPr>
          <a:xfrm xmlns:a="http://schemas.openxmlformats.org/drawingml/2006/main">
            <a:off x="5372100" y="2438400"/>
            <a:ext cx="76200" cy="114300"/>
          </a:xfrm>
          <a:prstGeom xmlns:a="http://schemas.openxmlformats.org/drawingml/2006/main" prst="rect">
            <a:avLst/>
          </a:prstGeom>
          <a:solidFill xmlns:a="http://schemas.openxmlformats.org/drawingml/2006/main">
            <a:srgbClr val="0077A3"/>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343F23BF-8B29-4E5A-A7AC-7EC3AE28129A}"/>
              </a:ext>
            </a:extLst>
          </p:cNvPr>
          <p:cNvSpPr>
            <a:spLocks xmlns:a="http://schemas.openxmlformats.org/drawingml/2006/main" noGrp="1"/>
          </p:cNvSpPr>
          <p:nvPr/>
        </p:nvSpPr>
        <p:spPr>
          <a:xfrm xmlns:a="http://schemas.openxmlformats.org/drawingml/2006/main">
            <a:off x="4629150" y="3333750"/>
            <a:ext cx="114300" cy="76200"/>
          </a:xfrm>
          <a:prstGeom xmlns:a="http://schemas.openxmlformats.org/drawingml/2006/main" prst="rect">
            <a:avLst/>
          </a:prstGeom>
          <a:solidFill xmlns:a="http://schemas.openxmlformats.org/drawingml/2006/main">
            <a:srgbClr val="07686A"/>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789086B9-8FE5-4FB8-BA22-0FA23A3ED120}"/>
              </a:ext>
            </a:extLst>
          </p:cNvPr>
          <p:cNvSpPr>
            <a:spLocks xmlns:a="http://schemas.openxmlformats.org/drawingml/2006/main" noGrp="1"/>
          </p:cNvSpPr>
          <p:nvPr/>
        </p:nvSpPr>
        <p:spPr>
          <a:xfrm xmlns:a="http://schemas.openxmlformats.org/drawingml/2006/main">
            <a:off x="5524500" y="5257800"/>
            <a:ext cx="76200" cy="11430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54DD33CB-AC61-45F8-833E-63EA6DBDD882}"/>
              </a:ext>
            </a:extLst>
          </p:cNvPr>
          <p:cNvSpPr>
            <a:spLocks xmlns:a="http://schemas.openxmlformats.org/drawingml/2006/main" noGrp="1"/>
          </p:cNvSpPr>
          <p:nvPr/>
        </p:nvSpPr>
        <p:spPr>
          <a:xfrm xmlns:a="http://schemas.openxmlformats.org/drawingml/2006/main">
            <a:off x="7448550" y="3333750"/>
            <a:ext cx="114300" cy="762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95C0FC32-5CC5-4B95-ADA7-5A24F73DA041}"/>
              </a:ext>
            </a:extLst>
          </p:cNvPr>
          <p:cNvSpPr>
            <a:spLocks xmlns:a="http://schemas.openxmlformats.org/drawingml/2006/main" noGrp="1"/>
          </p:cNvSpPr>
          <p:nvPr/>
        </p:nvSpPr>
        <p:spPr>
          <a:xfrm xmlns:a="http://schemas.openxmlformats.org/drawingml/2006/main">
            <a:off x="5524500" y="2438400"/>
            <a:ext cx="76200" cy="114300"/>
          </a:xfrm>
          <a:prstGeom xmlns:a="http://schemas.openxmlformats.org/drawingml/2006/main" prst="rect">
            <a:avLst/>
          </a:prstGeom>
          <a:solidFill xmlns:a="http://schemas.openxmlformats.org/drawingml/2006/main">
            <a:srgbClr val="0077A3"/>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9648BF2B-5D11-4FE6-A370-48D2941242C9}"/>
              </a:ext>
            </a:extLst>
          </p:cNvPr>
          <p:cNvSpPr>
            <a:spLocks xmlns:a="http://schemas.openxmlformats.org/drawingml/2006/main" noGrp="1"/>
          </p:cNvSpPr>
          <p:nvPr/>
        </p:nvSpPr>
        <p:spPr>
          <a:xfrm xmlns:a="http://schemas.openxmlformats.org/drawingml/2006/main">
            <a:off x="4629150" y="3486150"/>
            <a:ext cx="114300" cy="76200"/>
          </a:xfrm>
          <a:prstGeom xmlns:a="http://schemas.openxmlformats.org/drawingml/2006/main" prst="rect">
            <a:avLst/>
          </a:prstGeom>
          <a:solidFill xmlns:a="http://schemas.openxmlformats.org/drawingml/2006/main">
            <a:srgbClr val="07686A"/>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04AB1B72-8F7F-4A3F-BE3E-BF63ABAD94F7}"/>
              </a:ext>
            </a:extLst>
          </p:cNvPr>
          <p:cNvSpPr>
            <a:spLocks xmlns:a="http://schemas.openxmlformats.org/drawingml/2006/main" noGrp="1"/>
          </p:cNvSpPr>
          <p:nvPr/>
        </p:nvSpPr>
        <p:spPr>
          <a:xfrm xmlns:a="http://schemas.openxmlformats.org/drawingml/2006/main">
            <a:off x="5676900" y="5257800"/>
            <a:ext cx="76200" cy="11430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2D3ACE6B-4F51-48A9-B718-C721A3A2E11D}"/>
              </a:ext>
            </a:extLst>
          </p:cNvPr>
          <p:cNvSpPr>
            <a:spLocks xmlns:a="http://schemas.openxmlformats.org/drawingml/2006/main" noGrp="1"/>
          </p:cNvSpPr>
          <p:nvPr/>
        </p:nvSpPr>
        <p:spPr>
          <a:xfrm xmlns:a="http://schemas.openxmlformats.org/drawingml/2006/main">
            <a:off x="7448550" y="3486150"/>
            <a:ext cx="114300" cy="762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7ABC5E64-0A01-4986-A63C-C6AD7AA60BB3}"/>
              </a:ext>
            </a:extLst>
          </p:cNvPr>
          <p:cNvSpPr>
            <a:spLocks xmlns:a="http://schemas.openxmlformats.org/drawingml/2006/main" noGrp="1"/>
          </p:cNvSpPr>
          <p:nvPr/>
        </p:nvSpPr>
        <p:spPr>
          <a:xfrm xmlns:a="http://schemas.openxmlformats.org/drawingml/2006/main">
            <a:off x="5676900" y="2438400"/>
            <a:ext cx="76200" cy="114300"/>
          </a:xfrm>
          <a:prstGeom xmlns:a="http://schemas.openxmlformats.org/drawingml/2006/main" prst="rect">
            <a:avLst/>
          </a:prstGeom>
          <a:solidFill xmlns:a="http://schemas.openxmlformats.org/drawingml/2006/main">
            <a:srgbClr val="0077A3"/>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33B62EFA-585F-4B24-A4B1-0BF5308E3A9E}"/>
              </a:ext>
            </a:extLst>
          </p:cNvPr>
          <p:cNvSpPr>
            <a:spLocks xmlns:a="http://schemas.openxmlformats.org/drawingml/2006/main" noGrp="1"/>
          </p:cNvSpPr>
          <p:nvPr/>
        </p:nvSpPr>
        <p:spPr>
          <a:xfrm xmlns:a="http://schemas.openxmlformats.org/drawingml/2006/main">
            <a:off x="4629150" y="3638550"/>
            <a:ext cx="114300" cy="76200"/>
          </a:xfrm>
          <a:prstGeom xmlns:a="http://schemas.openxmlformats.org/drawingml/2006/main" prst="rect">
            <a:avLst/>
          </a:prstGeom>
          <a:solidFill xmlns:a="http://schemas.openxmlformats.org/drawingml/2006/main">
            <a:srgbClr val="07686A"/>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67CD0F4B-8D4D-40EC-8A67-6CBC13EAECD5}"/>
              </a:ext>
            </a:extLst>
          </p:cNvPr>
          <p:cNvSpPr>
            <a:spLocks xmlns:a="http://schemas.openxmlformats.org/drawingml/2006/main" noGrp="1"/>
          </p:cNvSpPr>
          <p:nvPr/>
        </p:nvSpPr>
        <p:spPr>
          <a:xfrm xmlns:a="http://schemas.openxmlformats.org/drawingml/2006/main">
            <a:off x="5829300" y="5257800"/>
            <a:ext cx="76200" cy="11430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8D85A2A4-F98D-4AB0-91A8-C16BE1976875}"/>
              </a:ext>
            </a:extLst>
          </p:cNvPr>
          <p:cNvSpPr>
            <a:spLocks xmlns:a="http://schemas.openxmlformats.org/drawingml/2006/main" noGrp="1"/>
          </p:cNvSpPr>
          <p:nvPr/>
        </p:nvSpPr>
        <p:spPr>
          <a:xfrm xmlns:a="http://schemas.openxmlformats.org/drawingml/2006/main">
            <a:off x="7448550" y="3638550"/>
            <a:ext cx="114300" cy="762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4A609787-6324-4D83-8EF4-6C1298E40EB9}"/>
              </a:ext>
            </a:extLst>
          </p:cNvPr>
          <p:cNvSpPr>
            <a:spLocks xmlns:a="http://schemas.openxmlformats.org/drawingml/2006/main" noGrp="1"/>
          </p:cNvSpPr>
          <p:nvPr/>
        </p:nvSpPr>
        <p:spPr>
          <a:xfrm xmlns:a="http://schemas.openxmlformats.org/drawingml/2006/main">
            <a:off x="5829300" y="2438400"/>
            <a:ext cx="76200" cy="114300"/>
          </a:xfrm>
          <a:prstGeom xmlns:a="http://schemas.openxmlformats.org/drawingml/2006/main" prst="rect">
            <a:avLst/>
          </a:prstGeom>
          <a:solidFill xmlns:a="http://schemas.openxmlformats.org/drawingml/2006/main">
            <a:srgbClr val="0077A3"/>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7E912789-E600-443A-9A2E-788E042A4C00}"/>
              </a:ext>
            </a:extLst>
          </p:cNvPr>
          <p:cNvSpPr>
            <a:spLocks xmlns:a="http://schemas.openxmlformats.org/drawingml/2006/main" noGrp="1"/>
          </p:cNvSpPr>
          <p:nvPr/>
        </p:nvSpPr>
        <p:spPr>
          <a:xfrm xmlns:a="http://schemas.openxmlformats.org/drawingml/2006/main">
            <a:off x="4629150" y="3790950"/>
            <a:ext cx="114300" cy="76200"/>
          </a:xfrm>
          <a:prstGeom xmlns:a="http://schemas.openxmlformats.org/drawingml/2006/main" prst="rect">
            <a:avLst/>
          </a:prstGeom>
          <a:solidFill xmlns:a="http://schemas.openxmlformats.org/drawingml/2006/main">
            <a:srgbClr val="07686A"/>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6ED3B78F-4213-4FB3-8C43-3BBC8CB0306E}"/>
              </a:ext>
            </a:extLst>
          </p:cNvPr>
          <p:cNvSpPr>
            <a:spLocks xmlns:a="http://schemas.openxmlformats.org/drawingml/2006/main" noGrp="1"/>
          </p:cNvSpPr>
          <p:nvPr/>
        </p:nvSpPr>
        <p:spPr>
          <a:xfrm xmlns:a="http://schemas.openxmlformats.org/drawingml/2006/main">
            <a:off x="5981700" y="5257800"/>
            <a:ext cx="76200" cy="11430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3062FCDE-5306-479C-952C-36F0D097E728}"/>
              </a:ext>
            </a:extLst>
          </p:cNvPr>
          <p:cNvSpPr>
            <a:spLocks xmlns:a="http://schemas.openxmlformats.org/drawingml/2006/main" noGrp="1"/>
          </p:cNvSpPr>
          <p:nvPr/>
        </p:nvSpPr>
        <p:spPr>
          <a:xfrm xmlns:a="http://schemas.openxmlformats.org/drawingml/2006/main">
            <a:off x="7448550" y="3790950"/>
            <a:ext cx="114300" cy="762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4BE5FC6C-47B6-46C9-BCFE-4B1414C45C5C}"/>
              </a:ext>
            </a:extLst>
          </p:cNvPr>
          <p:cNvSpPr>
            <a:spLocks xmlns:a="http://schemas.openxmlformats.org/drawingml/2006/main" noGrp="1"/>
          </p:cNvSpPr>
          <p:nvPr/>
        </p:nvSpPr>
        <p:spPr>
          <a:xfrm xmlns:a="http://schemas.openxmlformats.org/drawingml/2006/main">
            <a:off x="5981700" y="2438400"/>
            <a:ext cx="76200" cy="114300"/>
          </a:xfrm>
          <a:prstGeom xmlns:a="http://schemas.openxmlformats.org/drawingml/2006/main" prst="rect">
            <a:avLst/>
          </a:prstGeom>
          <a:solidFill xmlns:a="http://schemas.openxmlformats.org/drawingml/2006/main">
            <a:srgbClr val="0077A3"/>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85E01E99-A5D0-4D57-B621-4DA7F88DA1BC}"/>
              </a:ext>
            </a:extLst>
          </p:cNvPr>
          <p:cNvSpPr>
            <a:spLocks xmlns:a="http://schemas.openxmlformats.org/drawingml/2006/main" noGrp="1"/>
          </p:cNvSpPr>
          <p:nvPr/>
        </p:nvSpPr>
        <p:spPr>
          <a:xfrm xmlns:a="http://schemas.openxmlformats.org/drawingml/2006/main">
            <a:off x="4629150" y="3943350"/>
            <a:ext cx="114300" cy="76200"/>
          </a:xfrm>
          <a:prstGeom xmlns:a="http://schemas.openxmlformats.org/drawingml/2006/main" prst="rect">
            <a:avLst/>
          </a:prstGeom>
          <a:solidFill xmlns:a="http://schemas.openxmlformats.org/drawingml/2006/main">
            <a:srgbClr val="07686A"/>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78072318-0DFB-4F54-9986-BEA874603B99}"/>
              </a:ext>
            </a:extLst>
          </p:cNvPr>
          <p:cNvSpPr>
            <a:spLocks xmlns:a="http://schemas.openxmlformats.org/drawingml/2006/main" noGrp="1"/>
          </p:cNvSpPr>
          <p:nvPr/>
        </p:nvSpPr>
        <p:spPr>
          <a:xfrm xmlns:a="http://schemas.openxmlformats.org/drawingml/2006/main">
            <a:off x="6134100" y="5257800"/>
            <a:ext cx="76200" cy="11430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136C9F33-9777-4A50-BB6E-23FEB2679289}"/>
              </a:ext>
            </a:extLst>
          </p:cNvPr>
          <p:cNvSpPr>
            <a:spLocks xmlns:a="http://schemas.openxmlformats.org/drawingml/2006/main" noGrp="1"/>
          </p:cNvSpPr>
          <p:nvPr/>
        </p:nvSpPr>
        <p:spPr>
          <a:xfrm xmlns:a="http://schemas.openxmlformats.org/drawingml/2006/main">
            <a:off x="7448550" y="3943350"/>
            <a:ext cx="114300" cy="762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FCD299A5-950A-46CC-9DE6-BBF7FEE42E64}"/>
              </a:ext>
            </a:extLst>
          </p:cNvPr>
          <p:cNvSpPr>
            <a:spLocks xmlns:a="http://schemas.openxmlformats.org/drawingml/2006/main" noGrp="1"/>
          </p:cNvSpPr>
          <p:nvPr/>
        </p:nvSpPr>
        <p:spPr>
          <a:xfrm xmlns:a="http://schemas.openxmlformats.org/drawingml/2006/main">
            <a:off x="6134100" y="2438400"/>
            <a:ext cx="76200" cy="114300"/>
          </a:xfrm>
          <a:prstGeom xmlns:a="http://schemas.openxmlformats.org/drawingml/2006/main" prst="rect">
            <a:avLst/>
          </a:prstGeom>
          <a:solidFill xmlns:a="http://schemas.openxmlformats.org/drawingml/2006/main">
            <a:srgbClr val="0077A3"/>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4D0816E6-CF18-43ED-9DF6-F40937A9F96F}"/>
              </a:ext>
            </a:extLst>
          </p:cNvPr>
          <p:cNvSpPr>
            <a:spLocks xmlns:a="http://schemas.openxmlformats.org/drawingml/2006/main" noGrp="1"/>
          </p:cNvSpPr>
          <p:nvPr/>
        </p:nvSpPr>
        <p:spPr>
          <a:xfrm xmlns:a="http://schemas.openxmlformats.org/drawingml/2006/main">
            <a:off x="4629150" y="4095750"/>
            <a:ext cx="114300" cy="76200"/>
          </a:xfrm>
          <a:prstGeom xmlns:a="http://schemas.openxmlformats.org/drawingml/2006/main" prst="rect">
            <a:avLst/>
          </a:prstGeom>
          <a:solidFill xmlns:a="http://schemas.openxmlformats.org/drawingml/2006/main">
            <a:srgbClr val="07686A"/>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EF35C9F3-EDB0-4D4D-B0E5-149FFFC58029}"/>
              </a:ext>
            </a:extLst>
          </p:cNvPr>
          <p:cNvSpPr>
            <a:spLocks xmlns:a="http://schemas.openxmlformats.org/drawingml/2006/main" noGrp="1"/>
          </p:cNvSpPr>
          <p:nvPr/>
        </p:nvSpPr>
        <p:spPr>
          <a:xfrm xmlns:a="http://schemas.openxmlformats.org/drawingml/2006/main">
            <a:off x="6286500" y="5257800"/>
            <a:ext cx="76200" cy="11430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9E9D8CA2-C4AB-4E45-97A5-83D3D6110E9E}"/>
              </a:ext>
            </a:extLst>
          </p:cNvPr>
          <p:cNvSpPr>
            <a:spLocks xmlns:a="http://schemas.openxmlformats.org/drawingml/2006/main" noGrp="1"/>
          </p:cNvSpPr>
          <p:nvPr/>
        </p:nvSpPr>
        <p:spPr>
          <a:xfrm xmlns:a="http://schemas.openxmlformats.org/drawingml/2006/main">
            <a:off x="7448550" y="4095750"/>
            <a:ext cx="114300" cy="762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861FC003-1DAA-48E7-BF9E-C8768677BCC4}"/>
              </a:ext>
            </a:extLst>
          </p:cNvPr>
          <p:cNvSpPr>
            <a:spLocks xmlns:a="http://schemas.openxmlformats.org/drawingml/2006/main" noGrp="1"/>
          </p:cNvSpPr>
          <p:nvPr/>
        </p:nvSpPr>
        <p:spPr>
          <a:xfrm xmlns:a="http://schemas.openxmlformats.org/drawingml/2006/main">
            <a:off x="6286500" y="2438400"/>
            <a:ext cx="76200" cy="114300"/>
          </a:xfrm>
          <a:prstGeom xmlns:a="http://schemas.openxmlformats.org/drawingml/2006/main" prst="rect">
            <a:avLst/>
          </a:prstGeom>
          <a:solidFill xmlns:a="http://schemas.openxmlformats.org/drawingml/2006/main">
            <a:srgbClr val="0077A3"/>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25E87EE7-0DA7-4194-912F-164A429E2B8E}"/>
              </a:ext>
            </a:extLst>
          </p:cNvPr>
          <p:cNvSpPr>
            <a:spLocks xmlns:a="http://schemas.openxmlformats.org/drawingml/2006/main" noGrp="1"/>
          </p:cNvSpPr>
          <p:nvPr/>
        </p:nvSpPr>
        <p:spPr>
          <a:xfrm xmlns:a="http://schemas.openxmlformats.org/drawingml/2006/main">
            <a:off x="4629150" y="4248150"/>
            <a:ext cx="114300" cy="76200"/>
          </a:xfrm>
          <a:prstGeom xmlns:a="http://schemas.openxmlformats.org/drawingml/2006/main" prst="rect">
            <a:avLst/>
          </a:prstGeom>
          <a:solidFill xmlns:a="http://schemas.openxmlformats.org/drawingml/2006/main">
            <a:srgbClr val="07686A"/>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7350CADE-8E9F-4E3B-9274-0C8C048FC56D}"/>
              </a:ext>
            </a:extLst>
          </p:cNvPr>
          <p:cNvSpPr>
            <a:spLocks xmlns:a="http://schemas.openxmlformats.org/drawingml/2006/main" noGrp="1"/>
          </p:cNvSpPr>
          <p:nvPr/>
        </p:nvSpPr>
        <p:spPr>
          <a:xfrm xmlns:a="http://schemas.openxmlformats.org/drawingml/2006/main">
            <a:off x="6438900" y="5257800"/>
            <a:ext cx="76200" cy="11430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EE7FD415-83FB-40ED-8CF5-F9C6EDAA0976}"/>
              </a:ext>
            </a:extLst>
          </p:cNvPr>
          <p:cNvSpPr>
            <a:spLocks xmlns:a="http://schemas.openxmlformats.org/drawingml/2006/main" noGrp="1"/>
          </p:cNvSpPr>
          <p:nvPr/>
        </p:nvSpPr>
        <p:spPr>
          <a:xfrm xmlns:a="http://schemas.openxmlformats.org/drawingml/2006/main">
            <a:off x="7448550" y="4248150"/>
            <a:ext cx="114300" cy="762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755E3442-91DE-4A13-8577-912F5A191C9D}"/>
              </a:ext>
            </a:extLst>
          </p:cNvPr>
          <p:cNvSpPr>
            <a:spLocks xmlns:a="http://schemas.openxmlformats.org/drawingml/2006/main" noGrp="1"/>
          </p:cNvSpPr>
          <p:nvPr/>
        </p:nvSpPr>
        <p:spPr>
          <a:xfrm xmlns:a="http://schemas.openxmlformats.org/drawingml/2006/main">
            <a:off x="6438900" y="2438400"/>
            <a:ext cx="76200" cy="114300"/>
          </a:xfrm>
          <a:prstGeom xmlns:a="http://schemas.openxmlformats.org/drawingml/2006/main" prst="rect">
            <a:avLst/>
          </a:prstGeom>
          <a:solidFill xmlns:a="http://schemas.openxmlformats.org/drawingml/2006/main">
            <a:srgbClr val="0077A3"/>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8DF25E93-72B2-4C04-961E-6015B4A55D69}"/>
              </a:ext>
            </a:extLst>
          </p:cNvPr>
          <p:cNvSpPr>
            <a:spLocks xmlns:a="http://schemas.openxmlformats.org/drawingml/2006/main" noGrp="1"/>
          </p:cNvSpPr>
          <p:nvPr/>
        </p:nvSpPr>
        <p:spPr>
          <a:xfrm xmlns:a="http://schemas.openxmlformats.org/drawingml/2006/main">
            <a:off x="4629150" y="4400550"/>
            <a:ext cx="114300" cy="76200"/>
          </a:xfrm>
          <a:prstGeom xmlns:a="http://schemas.openxmlformats.org/drawingml/2006/main" prst="rect">
            <a:avLst/>
          </a:prstGeom>
          <a:solidFill xmlns:a="http://schemas.openxmlformats.org/drawingml/2006/main">
            <a:srgbClr val="07686A"/>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BAEB67DB-FD1C-4AEB-BD89-A404841AE306}"/>
              </a:ext>
            </a:extLst>
          </p:cNvPr>
          <p:cNvSpPr>
            <a:spLocks xmlns:a="http://schemas.openxmlformats.org/drawingml/2006/main" noGrp="1"/>
          </p:cNvSpPr>
          <p:nvPr/>
        </p:nvSpPr>
        <p:spPr>
          <a:xfrm xmlns:a="http://schemas.openxmlformats.org/drawingml/2006/main">
            <a:off x="6591300" y="5257800"/>
            <a:ext cx="76200" cy="11430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57" name="">
            <a:extLst xmlns:a="http://schemas.openxmlformats.org/drawingml/2006/main">
              <a:ext uri="{FF2B5EF4-FFF2-40B4-BE49-F238E27FC236}">
                <a16:creationId xmlns:a16="http://schemas.microsoft.com/office/drawing/2014/main" id="{74536DD9-7701-41C1-B7DF-6075EE4646EA}"/>
              </a:ext>
            </a:extLst>
          </p:cNvPr>
          <p:cNvSpPr>
            <a:spLocks xmlns:a="http://schemas.openxmlformats.org/drawingml/2006/main" noGrp="1"/>
          </p:cNvSpPr>
          <p:nvPr/>
        </p:nvSpPr>
        <p:spPr>
          <a:xfrm xmlns:a="http://schemas.openxmlformats.org/drawingml/2006/main">
            <a:off x="7448550" y="4400550"/>
            <a:ext cx="114300" cy="762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4F686A91-B26B-4C00-B9A4-C0906AAC0F2C}"/>
              </a:ext>
            </a:extLst>
          </p:cNvPr>
          <p:cNvSpPr>
            <a:spLocks xmlns:a="http://schemas.openxmlformats.org/drawingml/2006/main" noGrp="1"/>
          </p:cNvSpPr>
          <p:nvPr/>
        </p:nvSpPr>
        <p:spPr>
          <a:xfrm xmlns:a="http://schemas.openxmlformats.org/drawingml/2006/main">
            <a:off x="6591300" y="2438400"/>
            <a:ext cx="76200" cy="114300"/>
          </a:xfrm>
          <a:prstGeom xmlns:a="http://schemas.openxmlformats.org/drawingml/2006/main" prst="rect">
            <a:avLst/>
          </a:prstGeom>
          <a:solidFill xmlns:a="http://schemas.openxmlformats.org/drawingml/2006/main">
            <a:srgbClr val="0077A3"/>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4AC70781-11BC-406F-90F7-9E512611EE69}"/>
              </a:ext>
            </a:extLst>
          </p:cNvPr>
          <p:cNvSpPr>
            <a:spLocks xmlns:a="http://schemas.openxmlformats.org/drawingml/2006/main" noGrp="1"/>
          </p:cNvSpPr>
          <p:nvPr/>
        </p:nvSpPr>
        <p:spPr>
          <a:xfrm xmlns:a="http://schemas.openxmlformats.org/drawingml/2006/main">
            <a:off x="4629150" y="4552950"/>
            <a:ext cx="114300" cy="76200"/>
          </a:xfrm>
          <a:prstGeom xmlns:a="http://schemas.openxmlformats.org/drawingml/2006/main" prst="rect">
            <a:avLst/>
          </a:prstGeom>
          <a:solidFill xmlns:a="http://schemas.openxmlformats.org/drawingml/2006/main">
            <a:srgbClr val="07686A"/>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6D12F3A2-0C06-4F28-981F-22283E2D9670}"/>
              </a:ext>
            </a:extLst>
          </p:cNvPr>
          <p:cNvSpPr>
            <a:spLocks xmlns:a="http://schemas.openxmlformats.org/drawingml/2006/main" noGrp="1"/>
          </p:cNvSpPr>
          <p:nvPr/>
        </p:nvSpPr>
        <p:spPr>
          <a:xfrm xmlns:a="http://schemas.openxmlformats.org/drawingml/2006/main">
            <a:off x="6743700" y="5257800"/>
            <a:ext cx="76200" cy="11430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1F02F7BA-032B-49AF-98CA-4892BAA29B7A}"/>
              </a:ext>
            </a:extLst>
          </p:cNvPr>
          <p:cNvSpPr>
            <a:spLocks xmlns:a="http://schemas.openxmlformats.org/drawingml/2006/main" noGrp="1"/>
          </p:cNvSpPr>
          <p:nvPr/>
        </p:nvSpPr>
        <p:spPr>
          <a:xfrm xmlns:a="http://schemas.openxmlformats.org/drawingml/2006/main">
            <a:off x="7448550" y="4552950"/>
            <a:ext cx="114300" cy="762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9A43B911-8115-4F88-9B0E-2D74E93E4291}"/>
              </a:ext>
            </a:extLst>
          </p:cNvPr>
          <p:cNvSpPr>
            <a:spLocks xmlns:a="http://schemas.openxmlformats.org/drawingml/2006/main" noGrp="1"/>
          </p:cNvSpPr>
          <p:nvPr/>
        </p:nvSpPr>
        <p:spPr>
          <a:xfrm xmlns:a="http://schemas.openxmlformats.org/drawingml/2006/main">
            <a:off x="6743700" y="2438400"/>
            <a:ext cx="76200" cy="114300"/>
          </a:xfrm>
          <a:prstGeom xmlns:a="http://schemas.openxmlformats.org/drawingml/2006/main" prst="rect">
            <a:avLst/>
          </a:prstGeom>
          <a:solidFill xmlns:a="http://schemas.openxmlformats.org/drawingml/2006/main">
            <a:srgbClr val="0077A3"/>
          </a:solidFill>
          <a:ln xmlns:a="http://schemas.openxmlformats.org/drawingml/2006/main" w="0">
            <a:noFill/>
            <a:prstDash val="solid"/>
          </a:ln>
        </p:spPr>
      </p:sp>
      <p:sp>
        <p:nvSpPr>
          <p:cNvPr id="63" name="">
            <a:extLst xmlns:a="http://schemas.openxmlformats.org/drawingml/2006/main">
              <a:ext uri="{FF2B5EF4-FFF2-40B4-BE49-F238E27FC236}">
                <a16:creationId xmlns:a16="http://schemas.microsoft.com/office/drawing/2014/main" id="{3E2871DA-3764-4553-B66A-DA10352D7967}"/>
              </a:ext>
            </a:extLst>
          </p:cNvPr>
          <p:cNvSpPr>
            <a:spLocks xmlns:a="http://schemas.openxmlformats.org/drawingml/2006/main" noGrp="1"/>
          </p:cNvSpPr>
          <p:nvPr/>
        </p:nvSpPr>
        <p:spPr>
          <a:xfrm xmlns:a="http://schemas.openxmlformats.org/drawingml/2006/main">
            <a:off x="4629150" y="4705350"/>
            <a:ext cx="114300" cy="76200"/>
          </a:xfrm>
          <a:prstGeom xmlns:a="http://schemas.openxmlformats.org/drawingml/2006/main" prst="rect">
            <a:avLst/>
          </a:prstGeom>
          <a:solidFill xmlns:a="http://schemas.openxmlformats.org/drawingml/2006/main">
            <a:srgbClr val="07686A"/>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33C0C042-9488-49CD-8853-1D68E9A7FA32}"/>
              </a:ext>
            </a:extLst>
          </p:cNvPr>
          <p:cNvSpPr>
            <a:spLocks xmlns:a="http://schemas.openxmlformats.org/drawingml/2006/main" noGrp="1"/>
          </p:cNvSpPr>
          <p:nvPr/>
        </p:nvSpPr>
        <p:spPr>
          <a:xfrm xmlns:a="http://schemas.openxmlformats.org/drawingml/2006/main">
            <a:off x="6896100" y="5257800"/>
            <a:ext cx="76200" cy="11430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DB74BD12-A1DC-4848-8A84-3CC849D5714C}"/>
              </a:ext>
            </a:extLst>
          </p:cNvPr>
          <p:cNvSpPr>
            <a:spLocks xmlns:a="http://schemas.openxmlformats.org/drawingml/2006/main" noGrp="1"/>
          </p:cNvSpPr>
          <p:nvPr/>
        </p:nvSpPr>
        <p:spPr>
          <a:xfrm xmlns:a="http://schemas.openxmlformats.org/drawingml/2006/main">
            <a:off x="7448550" y="4705350"/>
            <a:ext cx="114300" cy="762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66" name="">
            <a:extLst xmlns:a="http://schemas.openxmlformats.org/drawingml/2006/main">
              <a:ext uri="{FF2B5EF4-FFF2-40B4-BE49-F238E27FC236}">
                <a16:creationId xmlns:a16="http://schemas.microsoft.com/office/drawing/2014/main" id="{613B5DA1-A517-4331-8ADC-ECB19F713119}"/>
              </a:ext>
            </a:extLst>
          </p:cNvPr>
          <p:cNvSpPr>
            <a:spLocks xmlns:a="http://schemas.openxmlformats.org/drawingml/2006/main" noGrp="1"/>
          </p:cNvSpPr>
          <p:nvPr/>
        </p:nvSpPr>
        <p:spPr>
          <a:xfrm xmlns:a="http://schemas.openxmlformats.org/drawingml/2006/main">
            <a:off x="6896100" y="2438400"/>
            <a:ext cx="76200" cy="114300"/>
          </a:xfrm>
          <a:prstGeom xmlns:a="http://schemas.openxmlformats.org/drawingml/2006/main" prst="rect">
            <a:avLst/>
          </a:prstGeom>
          <a:solidFill xmlns:a="http://schemas.openxmlformats.org/drawingml/2006/main">
            <a:srgbClr val="0077A3"/>
          </a:solidFill>
          <a:ln xmlns:a="http://schemas.openxmlformats.org/drawingml/2006/main" w="0">
            <a:noFill/>
            <a:prstDash val="solid"/>
          </a:ln>
        </p:spPr>
      </p:sp>
      <p:sp>
        <p:nvSpPr>
          <p:cNvPr id="67" name="">
            <a:extLst xmlns:a="http://schemas.openxmlformats.org/drawingml/2006/main">
              <a:ext uri="{FF2B5EF4-FFF2-40B4-BE49-F238E27FC236}">
                <a16:creationId xmlns:a16="http://schemas.microsoft.com/office/drawing/2014/main" id="{0F85B14A-65F0-4293-837C-A02E6230E4C6}"/>
              </a:ext>
            </a:extLst>
          </p:cNvPr>
          <p:cNvSpPr>
            <a:spLocks xmlns:a="http://schemas.openxmlformats.org/drawingml/2006/main" noGrp="1"/>
          </p:cNvSpPr>
          <p:nvPr/>
        </p:nvSpPr>
        <p:spPr>
          <a:xfrm xmlns:a="http://schemas.openxmlformats.org/drawingml/2006/main">
            <a:off x="4629150" y="4857750"/>
            <a:ext cx="114300" cy="76200"/>
          </a:xfrm>
          <a:prstGeom xmlns:a="http://schemas.openxmlformats.org/drawingml/2006/main" prst="rect">
            <a:avLst/>
          </a:prstGeom>
          <a:solidFill xmlns:a="http://schemas.openxmlformats.org/drawingml/2006/main">
            <a:srgbClr val="07686A"/>
          </a:solidFill>
          <a:ln xmlns:a="http://schemas.openxmlformats.org/drawingml/2006/main" w="0">
            <a:noFill/>
            <a:prstDash val="solid"/>
          </a:ln>
        </p:spPr>
      </p:sp>
      <p:sp>
        <p:nvSpPr>
          <p:cNvPr id="68" name="">
            <a:extLst xmlns:a="http://schemas.openxmlformats.org/drawingml/2006/main">
              <a:ext uri="{FF2B5EF4-FFF2-40B4-BE49-F238E27FC236}">
                <a16:creationId xmlns:a16="http://schemas.microsoft.com/office/drawing/2014/main" id="{A1DA11FA-E4CD-46E6-8CB7-F2892C95F560}"/>
              </a:ext>
            </a:extLst>
          </p:cNvPr>
          <p:cNvSpPr>
            <a:spLocks xmlns:a="http://schemas.openxmlformats.org/drawingml/2006/main" noGrp="1"/>
          </p:cNvSpPr>
          <p:nvPr/>
        </p:nvSpPr>
        <p:spPr>
          <a:xfrm xmlns:a="http://schemas.openxmlformats.org/drawingml/2006/main">
            <a:off x="7048500" y="5257800"/>
            <a:ext cx="76200" cy="11430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9" name="">
            <a:extLst xmlns:a="http://schemas.openxmlformats.org/drawingml/2006/main">
              <a:ext uri="{FF2B5EF4-FFF2-40B4-BE49-F238E27FC236}">
                <a16:creationId xmlns:a16="http://schemas.microsoft.com/office/drawing/2014/main" id="{75E56DCF-2329-4CF7-A897-00913B1FF944}"/>
              </a:ext>
            </a:extLst>
          </p:cNvPr>
          <p:cNvSpPr>
            <a:spLocks xmlns:a="http://schemas.openxmlformats.org/drawingml/2006/main" noGrp="1"/>
          </p:cNvSpPr>
          <p:nvPr/>
        </p:nvSpPr>
        <p:spPr>
          <a:xfrm xmlns:a="http://schemas.openxmlformats.org/drawingml/2006/main">
            <a:off x="7448550" y="4857750"/>
            <a:ext cx="114300" cy="762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70" name="">
            <a:extLst xmlns:a="http://schemas.openxmlformats.org/drawingml/2006/main">
              <a:ext uri="{FF2B5EF4-FFF2-40B4-BE49-F238E27FC236}">
                <a16:creationId xmlns:a16="http://schemas.microsoft.com/office/drawing/2014/main" id="{14733D1B-6172-41E6-A1CA-01C0B72058E2}"/>
              </a:ext>
            </a:extLst>
          </p:cNvPr>
          <p:cNvSpPr>
            <a:spLocks xmlns:a="http://schemas.openxmlformats.org/drawingml/2006/main" noGrp="1"/>
          </p:cNvSpPr>
          <p:nvPr/>
        </p:nvSpPr>
        <p:spPr>
          <a:xfrm xmlns:a="http://schemas.openxmlformats.org/drawingml/2006/main">
            <a:off x="7048500" y="2438400"/>
            <a:ext cx="76200" cy="114300"/>
          </a:xfrm>
          <a:prstGeom xmlns:a="http://schemas.openxmlformats.org/drawingml/2006/main" prst="rect">
            <a:avLst/>
          </a:prstGeom>
          <a:solidFill xmlns:a="http://schemas.openxmlformats.org/drawingml/2006/main">
            <a:srgbClr val="0077A3"/>
          </a:solidFill>
          <a:ln xmlns:a="http://schemas.openxmlformats.org/drawingml/2006/main" w="0">
            <a:noFill/>
            <a:prstDash val="solid"/>
          </a:ln>
        </p:spPr>
      </p:sp>
      <p:sp>
        <p:nvSpPr>
          <p:cNvPr id="71" name="">
            <a:extLst xmlns:a="http://schemas.openxmlformats.org/drawingml/2006/main">
              <a:ext uri="{FF2B5EF4-FFF2-40B4-BE49-F238E27FC236}">
                <a16:creationId xmlns:a16="http://schemas.microsoft.com/office/drawing/2014/main" id="{91545CAB-B1AF-4561-8C7C-26F4FB8CF4DA}"/>
              </a:ext>
            </a:extLst>
          </p:cNvPr>
          <p:cNvSpPr>
            <a:spLocks xmlns:a="http://schemas.openxmlformats.org/drawingml/2006/main" noGrp="1"/>
          </p:cNvSpPr>
          <p:nvPr/>
        </p:nvSpPr>
        <p:spPr>
          <a:xfrm xmlns:a="http://schemas.openxmlformats.org/drawingml/2006/main">
            <a:off x="4629150" y="5010150"/>
            <a:ext cx="114300" cy="76200"/>
          </a:xfrm>
          <a:prstGeom xmlns:a="http://schemas.openxmlformats.org/drawingml/2006/main" prst="rect">
            <a:avLst/>
          </a:prstGeom>
          <a:solidFill xmlns:a="http://schemas.openxmlformats.org/drawingml/2006/main">
            <a:srgbClr val="07686A"/>
          </a:solidFill>
          <a:ln xmlns:a="http://schemas.openxmlformats.org/drawingml/2006/main" w="0">
            <a:noFill/>
            <a:prstDash val="solid"/>
          </a:ln>
        </p:spPr>
      </p:sp>
      <p:sp>
        <p:nvSpPr>
          <p:cNvPr id="72" name="">
            <a:extLst xmlns:a="http://schemas.openxmlformats.org/drawingml/2006/main">
              <a:ext uri="{FF2B5EF4-FFF2-40B4-BE49-F238E27FC236}">
                <a16:creationId xmlns:a16="http://schemas.microsoft.com/office/drawing/2014/main" id="{CB3CD706-53DC-470C-AEB9-BE11EF70CAFE}"/>
              </a:ext>
            </a:extLst>
          </p:cNvPr>
          <p:cNvSpPr>
            <a:spLocks xmlns:a="http://schemas.openxmlformats.org/drawingml/2006/main" noGrp="1"/>
          </p:cNvSpPr>
          <p:nvPr/>
        </p:nvSpPr>
        <p:spPr>
          <a:xfrm xmlns:a="http://schemas.openxmlformats.org/drawingml/2006/main">
            <a:off x="7200900" y="5257800"/>
            <a:ext cx="76200" cy="11430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73" name="">
            <a:extLst xmlns:a="http://schemas.openxmlformats.org/drawingml/2006/main">
              <a:ext uri="{FF2B5EF4-FFF2-40B4-BE49-F238E27FC236}">
                <a16:creationId xmlns:a16="http://schemas.microsoft.com/office/drawing/2014/main" id="{DB2493B0-4E3C-478B-8031-75A246C0ECED}"/>
              </a:ext>
            </a:extLst>
          </p:cNvPr>
          <p:cNvSpPr>
            <a:spLocks xmlns:a="http://schemas.openxmlformats.org/drawingml/2006/main" noGrp="1"/>
          </p:cNvSpPr>
          <p:nvPr/>
        </p:nvSpPr>
        <p:spPr>
          <a:xfrm xmlns:a="http://schemas.openxmlformats.org/drawingml/2006/main">
            <a:off x="7448550" y="5010150"/>
            <a:ext cx="114300" cy="762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74" name="">
            <a:extLst xmlns:a="http://schemas.openxmlformats.org/drawingml/2006/main">
              <a:ext uri="{FF2B5EF4-FFF2-40B4-BE49-F238E27FC236}">
                <a16:creationId xmlns:a16="http://schemas.microsoft.com/office/drawing/2014/main" id="{4529A102-1A66-4C97-8F7A-FD4339D95255}"/>
              </a:ext>
            </a:extLst>
          </p:cNvPr>
          <p:cNvSpPr>
            <a:spLocks xmlns:a="http://schemas.openxmlformats.org/drawingml/2006/main" noGrp="1"/>
          </p:cNvSpPr>
          <p:nvPr/>
        </p:nvSpPr>
        <p:spPr>
          <a:xfrm xmlns:a="http://schemas.openxmlformats.org/drawingml/2006/main">
            <a:off x="7200900" y="2438400"/>
            <a:ext cx="76200" cy="114300"/>
          </a:xfrm>
          <a:prstGeom xmlns:a="http://schemas.openxmlformats.org/drawingml/2006/main" prst="rect">
            <a:avLst/>
          </a:prstGeom>
          <a:solidFill xmlns:a="http://schemas.openxmlformats.org/drawingml/2006/main">
            <a:srgbClr val="0077A3"/>
          </a:solidFill>
          <a:ln xmlns:a="http://schemas.openxmlformats.org/drawingml/2006/main" w="0">
            <a:noFill/>
            <a:prstDash val="solid"/>
          </a:ln>
        </p:spPr>
      </p:sp>
      <p:sp>
        <p:nvSpPr>
          <p:cNvPr id="75" name="">
            <a:extLst xmlns:a="http://schemas.openxmlformats.org/drawingml/2006/main">
              <a:ext uri="{FF2B5EF4-FFF2-40B4-BE49-F238E27FC236}">
                <a16:creationId xmlns:a16="http://schemas.microsoft.com/office/drawing/2014/main" id="{D21F39D2-0FDD-4317-90C6-7BF7CF532B73}"/>
              </a:ext>
            </a:extLst>
          </p:cNvPr>
          <p:cNvSpPr>
            <a:spLocks xmlns:a="http://schemas.openxmlformats.org/drawingml/2006/main" noGrp="1"/>
          </p:cNvSpPr>
          <p:nvPr/>
        </p:nvSpPr>
        <p:spPr>
          <a:xfrm xmlns:a="http://schemas.openxmlformats.org/drawingml/2006/main">
            <a:off x="4762500" y="3600450"/>
            <a:ext cx="26670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00" b="1">
                <a:solidFill>
                  <a:srgbClr val="FFFFFF"/>
                </a:solidFill>
                <a:latin typeface="Georgia"/>
                <a:ea typeface="Georgia"/>
                <a:cs typeface="Georgia"/>
              </a:defRPr>
            </a:pPr>
            <a:r>
              <a:t>DG32-LITE</a:t>
            </a:r>
          </a:p>
        </p:txBody>
      </p:sp>
      <p:sp>
        <p:nvSpPr>
          <p:cNvPr id="76" name="">
            <a:extLst xmlns:a="http://schemas.openxmlformats.org/drawingml/2006/main">
              <a:ext uri="{FF2B5EF4-FFF2-40B4-BE49-F238E27FC236}">
                <a16:creationId xmlns:a16="http://schemas.microsoft.com/office/drawing/2014/main" id="{93C70588-6B68-4D0D-A283-FC37B01DF331}"/>
              </a:ext>
            </a:extLst>
          </p:cNvPr>
          <p:cNvSpPr>
            <a:spLocks xmlns:a="http://schemas.openxmlformats.org/drawingml/2006/main" noGrp="1"/>
          </p:cNvSpPr>
          <p:nvPr/>
        </p:nvSpPr>
        <p:spPr>
          <a:xfrm xmlns:a="http://schemas.openxmlformats.org/drawingml/2006/main">
            <a:off x="4762500" y="4000500"/>
            <a:ext cx="2667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00" b="1">
                <a:solidFill>
                  <a:srgbClr val="A9BACD"/>
                </a:solidFill>
                <a:latin typeface="Arial"/>
                <a:ea typeface="Arial"/>
                <a:cs typeface="Arial"/>
              </a:defRPr>
            </a:pPr>
            <a:r>
              <a:t>QFN-64  ·  TOP VIEW  ·  PIN 1 ●</a:t>
            </a:r>
          </a:p>
        </p:txBody>
      </p:sp>
      <p:sp>
        <p:nvSpPr>
          <p:cNvPr id="77" name="">
            <a:extLst xmlns:a="http://schemas.openxmlformats.org/drawingml/2006/main">
              <a:ext uri="{FF2B5EF4-FFF2-40B4-BE49-F238E27FC236}">
                <a16:creationId xmlns:a16="http://schemas.microsoft.com/office/drawing/2014/main" id="{D914DFFC-CE4C-4AED-8097-AA26AEA23C9F}"/>
              </a:ext>
            </a:extLst>
          </p:cNvPr>
          <p:cNvSpPr>
            <a:spLocks xmlns:a="http://schemas.openxmlformats.org/drawingml/2006/main" noGrp="1"/>
          </p:cNvSpPr>
          <p:nvPr/>
        </p:nvSpPr>
        <p:spPr>
          <a:xfrm xmlns:a="http://schemas.openxmlformats.org/drawingml/2006/main">
            <a:off x="3619500" y="1524000"/>
            <a:ext cx="4953000" cy="876300"/>
          </a:xfrm>
          <a:prstGeom xmlns:a="http://schemas.openxmlformats.org/drawingml/2006/main" prst="rect">
            <a:avLst/>
          </a:prstGeom>
          <a:solidFill xmlns:a="http://schemas.openxmlformats.org/drawingml/2006/main">
            <a:srgbClr val="FFFFFF"/>
          </a:solidFill>
          <a:ln xmlns:a="http://schemas.openxmlformats.org/drawingml/2006/main" w="19050">
            <a:solidFill>
              <a:srgbClr val="0077A3"/>
            </a:solidFill>
            <a:prstDash val="solid"/>
          </a:ln>
        </p:spPr>
      </p:sp>
      <p:sp>
        <p:nvSpPr>
          <p:cNvPr id="78" name="">
            <a:extLst xmlns:a="http://schemas.openxmlformats.org/drawingml/2006/main">
              <a:ext uri="{FF2B5EF4-FFF2-40B4-BE49-F238E27FC236}">
                <a16:creationId xmlns:a16="http://schemas.microsoft.com/office/drawing/2014/main" id="{826E81BF-CA40-45B2-89F2-1CA7150CC4B0}"/>
              </a:ext>
            </a:extLst>
          </p:cNvPr>
          <p:cNvSpPr>
            <a:spLocks xmlns:a="http://schemas.openxmlformats.org/drawingml/2006/main" noGrp="1"/>
          </p:cNvSpPr>
          <p:nvPr/>
        </p:nvSpPr>
        <p:spPr>
          <a:xfrm xmlns:a="http://schemas.openxmlformats.org/drawingml/2006/main">
            <a:off x="3619500" y="1524000"/>
            <a:ext cx="4953000" cy="47625"/>
          </a:xfrm>
          <a:prstGeom xmlns:a="http://schemas.openxmlformats.org/drawingml/2006/main" prst="rect">
            <a:avLst/>
          </a:prstGeom>
          <a:solidFill xmlns:a="http://schemas.openxmlformats.org/drawingml/2006/main">
            <a:srgbClr val="0077A3"/>
          </a:solidFill>
          <a:ln xmlns:a="http://schemas.openxmlformats.org/drawingml/2006/main" w="0">
            <a:noFill/>
            <a:prstDash val="solid"/>
          </a:ln>
        </p:spPr>
      </p:sp>
      <p:sp>
        <p:nvSpPr>
          <p:cNvPr id="79" name="">
            <a:extLst xmlns:a="http://schemas.openxmlformats.org/drawingml/2006/main">
              <a:ext uri="{FF2B5EF4-FFF2-40B4-BE49-F238E27FC236}">
                <a16:creationId xmlns:a16="http://schemas.microsoft.com/office/drawing/2014/main" id="{CAE60FDF-2FC3-41A4-B37C-0846C8DA933A}"/>
              </a:ext>
            </a:extLst>
          </p:cNvPr>
          <p:cNvSpPr>
            <a:spLocks xmlns:a="http://schemas.openxmlformats.org/drawingml/2006/main" noGrp="1"/>
          </p:cNvSpPr>
          <p:nvPr/>
        </p:nvSpPr>
        <p:spPr>
          <a:xfrm xmlns:a="http://schemas.openxmlformats.org/drawingml/2006/main">
            <a:off x="3771900" y="1638300"/>
            <a:ext cx="4648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1E293B"/>
                </a:solidFill>
                <a:latin typeface="Arial"/>
                <a:ea typeface="Arial"/>
                <a:cs typeface="Arial"/>
              </a:defRPr>
            </a:pPr>
            <a:r>
              <a:t>Top · pins 49–64 · I²C, GPIO and safety</a:t>
            </a:r>
          </a:p>
        </p:txBody>
      </p:sp>
      <p:sp>
        <p:nvSpPr>
          <p:cNvPr id="80" name="">
            <a:extLst xmlns:a="http://schemas.openxmlformats.org/drawingml/2006/main">
              <a:ext uri="{FF2B5EF4-FFF2-40B4-BE49-F238E27FC236}">
                <a16:creationId xmlns:a16="http://schemas.microsoft.com/office/drawing/2014/main" id="{8CB4C814-B17E-4DA5-9745-8BCB9ADA6945}"/>
              </a:ext>
            </a:extLst>
          </p:cNvPr>
          <p:cNvSpPr>
            <a:spLocks xmlns:a="http://schemas.openxmlformats.org/drawingml/2006/main" noGrp="1"/>
          </p:cNvSpPr>
          <p:nvPr/>
        </p:nvSpPr>
        <p:spPr>
          <a:xfrm xmlns:a="http://schemas.openxmlformats.org/drawingml/2006/main">
            <a:off x="3771900" y="1885950"/>
            <a:ext cx="4648200" cy="476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SPI MISO and CSN · I²C · GPIO0–2</a:t>
            </a:r>
          </a:p>
          <a:p xmlns:a="http://schemas.openxmlformats.org/drawingml/2006/main">
            <a:pPr algn="l">
              <a:defRPr sz="1125">
                <a:solidFill>
                  <a:srgbClr val="6B7280"/>
                </a:solidFill>
                <a:latin typeface="Arial"/>
                <a:ea typeface="Arial"/>
                <a:cs typeface="Arial"/>
              </a:defRPr>
            </a:pPr>
            <a:r>
              <a:t>FAULT_N · supply-good × 2 · ADC +</a:t>
            </a:r>
          </a:p>
        </p:txBody>
      </p:sp>
      <p:sp>
        <p:nvSpPr>
          <p:cNvPr id="81" name="">
            <a:extLst xmlns:a="http://schemas.openxmlformats.org/drawingml/2006/main">
              <a:ext uri="{FF2B5EF4-FFF2-40B4-BE49-F238E27FC236}">
                <a16:creationId xmlns:a16="http://schemas.microsoft.com/office/drawing/2014/main" id="{4E658B29-47F6-4001-9FF5-B6F3D5D4BB79}"/>
              </a:ext>
            </a:extLst>
          </p:cNvPr>
          <p:cNvSpPr>
            <a:spLocks xmlns:a="http://schemas.openxmlformats.org/drawingml/2006/main" noGrp="1"/>
          </p:cNvSpPr>
          <p:nvPr/>
        </p:nvSpPr>
        <p:spPr>
          <a:xfrm xmlns:a="http://schemas.openxmlformats.org/drawingml/2006/main">
            <a:off x="457200" y="3048000"/>
            <a:ext cx="4000500" cy="1676400"/>
          </a:xfrm>
          <a:prstGeom xmlns:a="http://schemas.openxmlformats.org/drawingml/2006/main" prst="rect">
            <a:avLst/>
          </a:prstGeom>
          <a:solidFill xmlns:a="http://schemas.openxmlformats.org/drawingml/2006/main">
            <a:srgbClr val="FFFFFF"/>
          </a:solidFill>
          <a:ln xmlns:a="http://schemas.openxmlformats.org/drawingml/2006/main" w="19050">
            <a:solidFill>
              <a:srgbClr val="07686A"/>
            </a:solidFill>
            <a:prstDash val="solid"/>
          </a:ln>
        </p:spPr>
      </p:sp>
      <p:sp>
        <p:nvSpPr>
          <p:cNvPr id="82" name="">
            <a:extLst xmlns:a="http://schemas.openxmlformats.org/drawingml/2006/main">
              <a:ext uri="{FF2B5EF4-FFF2-40B4-BE49-F238E27FC236}">
                <a16:creationId xmlns:a16="http://schemas.microsoft.com/office/drawing/2014/main" id="{D3F6B546-E2AD-425B-A9DD-85D0920362F5}"/>
              </a:ext>
            </a:extLst>
          </p:cNvPr>
          <p:cNvSpPr>
            <a:spLocks xmlns:a="http://schemas.openxmlformats.org/drawingml/2006/main" noGrp="1"/>
          </p:cNvSpPr>
          <p:nvPr/>
        </p:nvSpPr>
        <p:spPr>
          <a:xfrm xmlns:a="http://schemas.openxmlformats.org/drawingml/2006/main">
            <a:off x="457200" y="3048000"/>
            <a:ext cx="4000500" cy="47625"/>
          </a:xfrm>
          <a:prstGeom xmlns:a="http://schemas.openxmlformats.org/drawingml/2006/main" prst="rect">
            <a:avLst/>
          </a:prstGeom>
          <a:solidFill xmlns:a="http://schemas.openxmlformats.org/drawingml/2006/main">
            <a:srgbClr val="07686A"/>
          </a:solidFill>
          <a:ln xmlns:a="http://schemas.openxmlformats.org/drawingml/2006/main" w="0">
            <a:noFill/>
            <a:prstDash val="solid"/>
          </a:ln>
        </p:spPr>
      </p:sp>
      <p:sp>
        <p:nvSpPr>
          <p:cNvPr id="83" name="">
            <a:extLst xmlns:a="http://schemas.openxmlformats.org/drawingml/2006/main">
              <a:ext uri="{FF2B5EF4-FFF2-40B4-BE49-F238E27FC236}">
                <a16:creationId xmlns:a16="http://schemas.microsoft.com/office/drawing/2014/main" id="{0C540338-4E41-4E69-A1A9-CC93C0F43CE7}"/>
              </a:ext>
            </a:extLst>
          </p:cNvPr>
          <p:cNvSpPr>
            <a:spLocks xmlns:a="http://schemas.openxmlformats.org/drawingml/2006/main" noGrp="1"/>
          </p:cNvSpPr>
          <p:nvPr/>
        </p:nvSpPr>
        <p:spPr>
          <a:xfrm xmlns:a="http://schemas.openxmlformats.org/drawingml/2006/main">
            <a:off x="609600" y="3162300"/>
            <a:ext cx="36957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1E293B"/>
                </a:solidFill>
                <a:latin typeface="Arial"/>
                <a:ea typeface="Arial"/>
                <a:cs typeface="Arial"/>
              </a:defRPr>
            </a:pPr>
            <a:r>
              <a:t>Left · pins 1–16 · Motor and position</a:t>
            </a:r>
          </a:p>
        </p:txBody>
      </p:sp>
      <p:sp>
        <p:nvSpPr>
          <p:cNvPr id="84" name="">
            <a:extLst xmlns:a="http://schemas.openxmlformats.org/drawingml/2006/main">
              <a:ext uri="{FF2B5EF4-FFF2-40B4-BE49-F238E27FC236}">
                <a16:creationId xmlns:a16="http://schemas.microsoft.com/office/drawing/2014/main" id="{135E3B15-1C63-4B09-B764-C44A00D3C617}"/>
              </a:ext>
            </a:extLst>
          </p:cNvPr>
          <p:cNvSpPr>
            <a:spLocks xmlns:a="http://schemas.openxmlformats.org/drawingml/2006/main" noGrp="1"/>
          </p:cNvSpPr>
          <p:nvPr/>
        </p:nvSpPr>
        <p:spPr>
          <a:xfrm xmlns:a="http://schemas.openxmlformats.org/drawingml/2006/main">
            <a:off x="609600" y="3409950"/>
            <a:ext cx="3695700" cy="1276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PWM AH, AL, BH, BL, CH, CL</a:t>
            </a:r>
          </a:p>
          <a:p xmlns:a="http://schemas.openxmlformats.org/drawingml/2006/main">
            <a:pPr algn="l">
              <a:defRPr sz="1125">
                <a:solidFill>
                  <a:srgbClr val="6B7280"/>
                </a:solidFill>
                <a:latin typeface="Arial"/>
                <a:ea typeface="Arial"/>
                <a:cs typeface="Arial"/>
              </a:defRPr>
            </a:pPr>
            <a:r>
              <a:t>PWM trigger</a:t>
            </a:r>
          </a:p>
          <a:p xmlns:a="http://schemas.openxmlformats.org/drawingml/2006/main">
            <a:pPr algn="l">
              <a:defRPr sz="1125">
                <a:solidFill>
                  <a:srgbClr val="6B7280"/>
                </a:solidFill>
                <a:latin typeface="Arial"/>
                <a:ea typeface="Arial"/>
                <a:cs typeface="Arial"/>
              </a:defRPr>
            </a:pPr>
            <a:r>
              <a:t>Encoder A, B, Z · Hall A, B</a:t>
            </a:r>
          </a:p>
          <a:p xmlns:a="http://schemas.openxmlformats.org/drawingml/2006/main">
            <a:pPr algn="l">
              <a:defRPr sz="1125">
                <a:solidFill>
                  <a:srgbClr val="6B7280"/>
                </a:solidFill>
                <a:latin typeface="Arial"/>
                <a:ea typeface="Arial"/>
                <a:cs typeface="Arial"/>
              </a:defRPr>
            </a:pPr>
            <a:r>
              <a:t>ADC −</a:t>
            </a:r>
          </a:p>
        </p:txBody>
      </p:sp>
      <p:sp>
        <p:nvSpPr>
          <p:cNvPr id="85" name="">
            <a:extLst xmlns:a="http://schemas.openxmlformats.org/drawingml/2006/main">
              <a:ext uri="{FF2B5EF4-FFF2-40B4-BE49-F238E27FC236}">
                <a16:creationId xmlns:a16="http://schemas.microsoft.com/office/drawing/2014/main" id="{C13851A3-5502-4A5A-B606-FD0B0BE2FF22}"/>
              </a:ext>
            </a:extLst>
          </p:cNvPr>
          <p:cNvSpPr>
            <a:spLocks xmlns:a="http://schemas.openxmlformats.org/drawingml/2006/main" noGrp="1"/>
          </p:cNvSpPr>
          <p:nvPr/>
        </p:nvSpPr>
        <p:spPr>
          <a:xfrm xmlns:a="http://schemas.openxmlformats.org/drawingml/2006/main">
            <a:off x="7734300" y="3048000"/>
            <a:ext cx="4000500" cy="1676400"/>
          </a:xfrm>
          <a:prstGeom xmlns:a="http://schemas.openxmlformats.org/drawingml/2006/main" prst="rect">
            <a:avLst/>
          </a:prstGeom>
          <a:solidFill xmlns:a="http://schemas.openxmlformats.org/drawingml/2006/main">
            <a:srgbClr val="FFFFFF"/>
          </a:solidFill>
          <a:ln xmlns:a="http://schemas.openxmlformats.org/drawingml/2006/main" w="19050">
            <a:solidFill>
              <a:srgbClr val="35607F"/>
            </a:solidFill>
            <a:prstDash val="solid"/>
          </a:ln>
        </p:spPr>
      </p:sp>
      <p:sp>
        <p:nvSpPr>
          <p:cNvPr id="86" name="">
            <a:extLst xmlns:a="http://schemas.openxmlformats.org/drawingml/2006/main">
              <a:ext uri="{FF2B5EF4-FFF2-40B4-BE49-F238E27FC236}">
                <a16:creationId xmlns:a16="http://schemas.microsoft.com/office/drawing/2014/main" id="{D6EE604B-04BE-42B6-9CB4-3E3A0D8E0593}"/>
              </a:ext>
            </a:extLst>
          </p:cNvPr>
          <p:cNvSpPr>
            <a:spLocks xmlns:a="http://schemas.openxmlformats.org/drawingml/2006/main" noGrp="1"/>
          </p:cNvSpPr>
          <p:nvPr/>
        </p:nvSpPr>
        <p:spPr>
          <a:xfrm xmlns:a="http://schemas.openxmlformats.org/drawingml/2006/main">
            <a:off x="7734300" y="3048000"/>
            <a:ext cx="4000500" cy="47625"/>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87" name="">
            <a:extLst xmlns:a="http://schemas.openxmlformats.org/drawingml/2006/main">
              <a:ext uri="{FF2B5EF4-FFF2-40B4-BE49-F238E27FC236}">
                <a16:creationId xmlns:a16="http://schemas.microsoft.com/office/drawing/2014/main" id="{84C13861-2B6E-4E2D-97FD-5DFA2A227BC2}"/>
              </a:ext>
            </a:extLst>
          </p:cNvPr>
          <p:cNvSpPr>
            <a:spLocks xmlns:a="http://schemas.openxmlformats.org/drawingml/2006/main" noGrp="1"/>
          </p:cNvSpPr>
          <p:nvPr/>
        </p:nvSpPr>
        <p:spPr>
          <a:xfrm xmlns:a="http://schemas.openxmlformats.org/drawingml/2006/main">
            <a:off x="7886700" y="3162300"/>
            <a:ext cx="36957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1E293B"/>
                </a:solidFill>
                <a:latin typeface="Arial"/>
                <a:ea typeface="Arial"/>
                <a:cs typeface="Arial"/>
              </a:defRPr>
            </a:pPr>
            <a:r>
              <a:t>Right · pins 33–48 · Flash and serial</a:t>
            </a:r>
          </a:p>
        </p:txBody>
      </p:sp>
      <p:sp>
        <p:nvSpPr>
          <p:cNvPr id="88" name="">
            <a:extLst xmlns:a="http://schemas.openxmlformats.org/drawingml/2006/main">
              <a:ext uri="{FF2B5EF4-FFF2-40B4-BE49-F238E27FC236}">
                <a16:creationId xmlns:a16="http://schemas.microsoft.com/office/drawing/2014/main" id="{69BE62A2-812B-4C2A-B8E1-7E97C2ECAF8D}"/>
              </a:ext>
            </a:extLst>
          </p:cNvPr>
          <p:cNvSpPr>
            <a:spLocks xmlns:a="http://schemas.openxmlformats.org/drawingml/2006/main" noGrp="1"/>
          </p:cNvSpPr>
          <p:nvPr/>
        </p:nvSpPr>
        <p:spPr>
          <a:xfrm xmlns:a="http://schemas.openxmlformats.org/drawingml/2006/main">
            <a:off x="7886700" y="3409950"/>
            <a:ext cx="3695700" cy="1276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QSPI CSN0, IO0–3, CSN1</a:t>
            </a:r>
          </a:p>
          <a:p xmlns:a="http://schemas.openxmlformats.org/drawingml/2006/main">
            <a:pPr algn="l">
              <a:defRPr sz="1125">
                <a:solidFill>
                  <a:srgbClr val="6B7280"/>
                </a:solidFill>
                <a:latin typeface="Arial"/>
                <a:ea typeface="Arial"/>
                <a:cs typeface="Arial"/>
              </a:defRPr>
            </a:pPr>
            <a:r>
              <a:t>UART0 TX/RX · UART1 TX/RX</a:t>
            </a:r>
          </a:p>
          <a:p xmlns:a="http://schemas.openxmlformats.org/drawingml/2006/main">
            <a:pPr algn="l">
              <a:defRPr sz="1125">
                <a:solidFill>
                  <a:srgbClr val="6B7280"/>
                </a:solidFill>
                <a:latin typeface="Arial"/>
                <a:ea typeface="Arial"/>
                <a:cs typeface="Arial"/>
              </a:defRPr>
            </a:pPr>
            <a:r>
              <a:t>SPI SCLK and MOSI</a:t>
            </a:r>
          </a:p>
        </p:txBody>
      </p:sp>
      <p:sp>
        <p:nvSpPr>
          <p:cNvPr id="89" name="">
            <a:extLst xmlns:a="http://schemas.openxmlformats.org/drawingml/2006/main">
              <a:ext uri="{FF2B5EF4-FFF2-40B4-BE49-F238E27FC236}">
                <a16:creationId xmlns:a16="http://schemas.microsoft.com/office/drawing/2014/main" id="{A7BF1CCA-847D-4764-A262-5CCFA2BB48E2}"/>
              </a:ext>
            </a:extLst>
          </p:cNvPr>
          <p:cNvSpPr>
            <a:spLocks xmlns:a="http://schemas.openxmlformats.org/drawingml/2006/main" noGrp="1"/>
          </p:cNvSpPr>
          <p:nvPr/>
        </p:nvSpPr>
        <p:spPr>
          <a:xfrm xmlns:a="http://schemas.openxmlformats.org/drawingml/2006/main">
            <a:off x="3619500" y="5391150"/>
            <a:ext cx="4953000" cy="800100"/>
          </a:xfrm>
          <a:prstGeom xmlns:a="http://schemas.openxmlformats.org/drawingml/2006/main" prst="rect">
            <a:avLst/>
          </a:prstGeom>
          <a:solidFill xmlns:a="http://schemas.openxmlformats.org/drawingml/2006/main">
            <a:srgbClr val="FFFFFF"/>
          </a:solidFill>
          <a:ln xmlns:a="http://schemas.openxmlformats.org/drawingml/2006/main" w="19050">
            <a:solidFill>
              <a:srgbClr val="1E293B"/>
            </a:solidFill>
            <a:prstDash val="solid"/>
          </a:ln>
        </p:spPr>
      </p:sp>
      <p:sp>
        <p:nvSpPr>
          <p:cNvPr id="90" name="">
            <a:extLst xmlns:a="http://schemas.openxmlformats.org/drawingml/2006/main">
              <a:ext uri="{FF2B5EF4-FFF2-40B4-BE49-F238E27FC236}">
                <a16:creationId xmlns:a16="http://schemas.microsoft.com/office/drawing/2014/main" id="{B9BDEFB1-40EE-4E1D-A445-48387B0FC2C3}"/>
              </a:ext>
            </a:extLst>
          </p:cNvPr>
          <p:cNvSpPr>
            <a:spLocks xmlns:a="http://schemas.openxmlformats.org/drawingml/2006/main" noGrp="1"/>
          </p:cNvSpPr>
          <p:nvPr/>
        </p:nvSpPr>
        <p:spPr>
          <a:xfrm xmlns:a="http://schemas.openxmlformats.org/drawingml/2006/main">
            <a:off x="3619500" y="5391150"/>
            <a:ext cx="4953000" cy="47625"/>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91" name="">
            <a:extLst xmlns:a="http://schemas.openxmlformats.org/drawingml/2006/main">
              <a:ext uri="{FF2B5EF4-FFF2-40B4-BE49-F238E27FC236}">
                <a16:creationId xmlns:a16="http://schemas.microsoft.com/office/drawing/2014/main" id="{29F667E2-DFF3-4AE9-B78C-B2995CBF024F}"/>
              </a:ext>
            </a:extLst>
          </p:cNvPr>
          <p:cNvSpPr>
            <a:spLocks xmlns:a="http://schemas.openxmlformats.org/drawingml/2006/main" noGrp="1"/>
          </p:cNvSpPr>
          <p:nvPr/>
        </p:nvSpPr>
        <p:spPr>
          <a:xfrm xmlns:a="http://schemas.openxmlformats.org/drawingml/2006/main">
            <a:off x="3771900" y="5505450"/>
            <a:ext cx="4648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1E293B"/>
                </a:solidFill>
                <a:latin typeface="Arial"/>
                <a:ea typeface="Arial"/>
                <a:cs typeface="Arial"/>
              </a:defRPr>
            </a:pPr>
            <a:r>
              <a:t>Bottom · pins 17–32 · Debug, clock and reset</a:t>
            </a:r>
          </a:p>
        </p:txBody>
      </p:sp>
      <p:sp>
        <p:nvSpPr>
          <p:cNvPr id="92" name="">
            <a:extLst xmlns:a="http://schemas.openxmlformats.org/drawingml/2006/main">
              <a:ext uri="{FF2B5EF4-FFF2-40B4-BE49-F238E27FC236}">
                <a16:creationId xmlns:a16="http://schemas.microsoft.com/office/drawing/2014/main" id="{77FB3839-F116-4B46-B5A8-B7A8BFDE7E10}"/>
              </a:ext>
            </a:extLst>
          </p:cNvPr>
          <p:cNvSpPr>
            <a:spLocks xmlns:a="http://schemas.openxmlformats.org/drawingml/2006/main" noGrp="1"/>
          </p:cNvSpPr>
          <p:nvPr/>
        </p:nvSpPr>
        <p:spPr>
          <a:xfrm xmlns:a="http://schemas.openxmlformats.org/drawingml/2006/main">
            <a:off x="3771900" y="5753100"/>
            <a:ext cx="464820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JTAG × 4 · CLK · RST_N and resetb · Hall C · QSPI clock</a:t>
            </a:r>
          </a:p>
        </p:txBody>
      </p:sp>
      <p:sp>
        <p:nvSpPr>
          <p:cNvPr id="93" name="">
            <a:extLst xmlns:a="http://schemas.openxmlformats.org/drawingml/2006/main">
              <a:ext uri="{FF2B5EF4-FFF2-40B4-BE49-F238E27FC236}">
                <a16:creationId xmlns:a16="http://schemas.microsoft.com/office/drawing/2014/main" id="{7B818482-D398-462B-A948-42F26F0F1382}"/>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6B7280"/>
                </a:solidFill>
                <a:latin typeface="Arial"/>
                <a:ea typeface="Arial"/>
                <a:cs typeface="Arial"/>
              </a:defRPr>
            </a:pPr>
            <a:r>
              <a:t>Source: DG32-LITE preliminary datasheet §2–3. Pin map awaiting the foundry’s bond-diagram confirmation.</a:t>
            </a:r>
          </a:p>
        </p:txBody>
      </p:sp>
    </p:spTree>
    <p:extLst>
      <p:ext uri="{BB962C8B-B14F-4D97-AF65-F5344CB8AC3E}">
        <p14:creationId xmlns:p14="http://schemas.microsoft.com/office/powerpoint/2010/main" val="18175847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92" name="">
            <a:extLst xmlns:a="http://schemas.openxmlformats.org/drawingml/2006/main">
              <a:ext uri="{FF2B5EF4-FFF2-40B4-BE49-F238E27FC236}">
                <a16:creationId xmlns:a16="http://schemas.microsoft.com/office/drawing/2014/main" id="{E6BE815D-6ED9-4AA4-A805-9F5DEC3013A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8C43CBF-4615-4AC7-AFD7-1CAAE5923BBB}"/>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77A3"/>
                </a:solidFill>
                <a:latin typeface="Arial"/>
                <a:ea typeface="Arial"/>
                <a:cs typeface="Arial"/>
              </a:defRPr>
            </a:pPr>
            <a:r>
              <a:t>06 · ELECTRICAL</a:t>
            </a:r>
          </a:p>
        </p:txBody>
      </p:sp>
      <p:sp>
        <p:nvSpPr>
          <p:cNvPr id="3" name="">
            <a:extLst xmlns:a="http://schemas.openxmlformats.org/drawingml/2006/main">
              <a:ext uri="{FF2B5EF4-FFF2-40B4-BE49-F238E27FC236}">
                <a16:creationId xmlns:a16="http://schemas.microsoft.com/office/drawing/2014/main" id="{DCA5B08E-9211-4323-AA2C-BBE05DD600C1}"/>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Every electrical limit is a nominal until silicon</a:t>
            </a:r>
          </a:p>
        </p:txBody>
      </p:sp>
      <p:sp>
        <p:nvSpPr>
          <p:cNvPr id="4" name="">
            <a:extLst xmlns:a="http://schemas.openxmlformats.org/drawingml/2006/main">
              <a:ext uri="{FF2B5EF4-FFF2-40B4-BE49-F238E27FC236}">
                <a16:creationId xmlns:a16="http://schemas.microsoft.com/office/drawing/2014/main" id="{A4B8F3F0-F9D5-4A6B-B5AE-20E3791AB65C}"/>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Recommended operating conditions and absolute maximums, before characterisation</a:t>
            </a:r>
          </a:p>
        </p:txBody>
      </p:sp>
      <p:sp>
        <p:nvSpPr>
          <p:cNvPr id="5" name="">
            <a:extLst xmlns:a="http://schemas.openxmlformats.org/drawingml/2006/main">
              <a:ext uri="{FF2B5EF4-FFF2-40B4-BE49-F238E27FC236}">
                <a16:creationId xmlns:a16="http://schemas.microsoft.com/office/drawing/2014/main" id="{66A68ADE-B034-488A-90EC-C88838914230}"/>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62270D5-2697-4CDF-BDF4-B68277CC6FC1}"/>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19789A8-0816-4AC0-923D-06098114112B}"/>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DEEPGRID SEMI  ·  DG32-LITE PRELIMINARY DATASHEET  ·  SEPTEMBER 2026  ·  PRE-SILICON</a:t>
            </a:r>
          </a:p>
        </p:txBody>
      </p:sp>
      <p:sp>
        <p:nvSpPr>
          <p:cNvPr id="8" name="">
            <a:extLst xmlns:a="http://schemas.openxmlformats.org/drawingml/2006/main">
              <a:ext uri="{FF2B5EF4-FFF2-40B4-BE49-F238E27FC236}">
                <a16:creationId xmlns:a16="http://schemas.microsoft.com/office/drawing/2014/main" id="{93D7EF3E-8AD4-4487-94EC-0FC3E7A086B0}"/>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06</a:t>
            </a:r>
          </a:p>
        </p:txBody>
      </p:sp>
      <p:sp>
        <p:nvSpPr>
          <p:cNvPr id="9" name="">
            <a:extLst xmlns:a="http://schemas.openxmlformats.org/drawingml/2006/main">
              <a:ext uri="{FF2B5EF4-FFF2-40B4-BE49-F238E27FC236}">
                <a16:creationId xmlns:a16="http://schemas.microsoft.com/office/drawing/2014/main" id="{90BA715A-D333-485C-83EB-3476599C1A5F}"/>
              </a:ext>
            </a:extLst>
          </p:cNvPr>
          <p:cNvSpPr>
            <a:spLocks xmlns:a="http://schemas.openxmlformats.org/drawingml/2006/main" noGrp="1"/>
          </p:cNvSpPr>
          <p:nvPr/>
        </p:nvSpPr>
        <p:spPr>
          <a:xfrm xmlns:a="http://schemas.openxmlformats.org/drawingml/2006/main">
            <a:off x="457200" y="1619250"/>
            <a:ext cx="11277600" cy="36195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79AD486-B9F2-4F52-BA5B-4BAF841B9BE4}"/>
              </a:ext>
            </a:extLst>
          </p:cNvPr>
          <p:cNvSpPr>
            <a:spLocks xmlns:a="http://schemas.openxmlformats.org/drawingml/2006/main" noGrp="1"/>
          </p:cNvSpPr>
          <p:nvPr/>
        </p:nvSpPr>
        <p:spPr>
          <a:xfrm xmlns:a="http://schemas.openxmlformats.org/drawingml/2006/main">
            <a:off x="590550" y="1733550"/>
            <a:ext cx="21907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PARAMETER</a:t>
            </a:r>
          </a:p>
        </p:txBody>
      </p:sp>
      <p:sp>
        <p:nvSpPr>
          <p:cNvPr id="11" name="">
            <a:extLst xmlns:a="http://schemas.openxmlformats.org/drawingml/2006/main">
              <a:ext uri="{FF2B5EF4-FFF2-40B4-BE49-F238E27FC236}">
                <a16:creationId xmlns:a16="http://schemas.microsoft.com/office/drawing/2014/main" id="{210091AE-FCE8-425B-8CCA-883E9DA000E2}"/>
              </a:ext>
            </a:extLst>
          </p:cNvPr>
          <p:cNvSpPr>
            <a:spLocks xmlns:a="http://schemas.openxmlformats.org/drawingml/2006/main" noGrp="1"/>
          </p:cNvSpPr>
          <p:nvPr/>
        </p:nvSpPr>
        <p:spPr>
          <a:xfrm xmlns:a="http://schemas.openxmlformats.org/drawingml/2006/main">
            <a:off x="2971800" y="1733550"/>
            <a:ext cx="10477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SYMBOL</a:t>
            </a:r>
          </a:p>
        </p:txBody>
      </p:sp>
      <p:sp>
        <p:nvSpPr>
          <p:cNvPr id="12" name="">
            <a:extLst xmlns:a="http://schemas.openxmlformats.org/drawingml/2006/main">
              <a:ext uri="{FF2B5EF4-FFF2-40B4-BE49-F238E27FC236}">
                <a16:creationId xmlns:a16="http://schemas.microsoft.com/office/drawing/2014/main" id="{3A1E9A4D-7CFF-4C74-8729-6A37A06898AF}"/>
              </a:ext>
            </a:extLst>
          </p:cNvPr>
          <p:cNvSpPr>
            <a:spLocks xmlns:a="http://schemas.openxmlformats.org/drawingml/2006/main" noGrp="1"/>
          </p:cNvSpPr>
          <p:nvPr/>
        </p:nvSpPr>
        <p:spPr>
          <a:xfrm xmlns:a="http://schemas.openxmlformats.org/drawingml/2006/main">
            <a:off x="4210050" y="1733550"/>
            <a:ext cx="8572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1">
                <a:solidFill>
                  <a:srgbClr val="FFFFFF"/>
                </a:solidFill>
                <a:latin typeface="Arial"/>
                <a:ea typeface="Arial"/>
                <a:cs typeface="Arial"/>
              </a:defRPr>
            </a:pPr>
            <a:r>
              <a:t>MIN</a:t>
            </a:r>
          </a:p>
        </p:txBody>
      </p:sp>
      <p:sp>
        <p:nvSpPr>
          <p:cNvPr id="13" name="">
            <a:extLst xmlns:a="http://schemas.openxmlformats.org/drawingml/2006/main">
              <a:ext uri="{FF2B5EF4-FFF2-40B4-BE49-F238E27FC236}">
                <a16:creationId xmlns:a16="http://schemas.microsoft.com/office/drawing/2014/main" id="{BB62AB7E-4115-4B42-B980-7D23BA5716E0}"/>
              </a:ext>
            </a:extLst>
          </p:cNvPr>
          <p:cNvSpPr>
            <a:spLocks xmlns:a="http://schemas.openxmlformats.org/drawingml/2006/main" noGrp="1"/>
          </p:cNvSpPr>
          <p:nvPr/>
        </p:nvSpPr>
        <p:spPr>
          <a:xfrm xmlns:a="http://schemas.openxmlformats.org/drawingml/2006/main">
            <a:off x="5257800" y="1733550"/>
            <a:ext cx="8572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1">
                <a:solidFill>
                  <a:srgbClr val="FFFFFF"/>
                </a:solidFill>
                <a:latin typeface="Arial"/>
                <a:ea typeface="Arial"/>
                <a:cs typeface="Arial"/>
              </a:defRPr>
            </a:pPr>
            <a:r>
              <a:t>TYP</a:t>
            </a:r>
          </a:p>
        </p:txBody>
      </p:sp>
      <p:sp>
        <p:nvSpPr>
          <p:cNvPr id="14" name="">
            <a:extLst xmlns:a="http://schemas.openxmlformats.org/drawingml/2006/main">
              <a:ext uri="{FF2B5EF4-FFF2-40B4-BE49-F238E27FC236}">
                <a16:creationId xmlns:a16="http://schemas.microsoft.com/office/drawing/2014/main" id="{F7B12017-B465-4BCA-A4DB-46A03F95BA83}"/>
              </a:ext>
            </a:extLst>
          </p:cNvPr>
          <p:cNvSpPr>
            <a:spLocks xmlns:a="http://schemas.openxmlformats.org/drawingml/2006/main" noGrp="1"/>
          </p:cNvSpPr>
          <p:nvPr/>
        </p:nvSpPr>
        <p:spPr>
          <a:xfrm xmlns:a="http://schemas.openxmlformats.org/drawingml/2006/main">
            <a:off x="6305550" y="1733550"/>
            <a:ext cx="8572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1">
                <a:solidFill>
                  <a:srgbClr val="FFFFFF"/>
                </a:solidFill>
                <a:latin typeface="Arial"/>
                <a:ea typeface="Arial"/>
                <a:cs typeface="Arial"/>
              </a:defRPr>
            </a:pPr>
            <a:r>
              <a:t>MAX</a:t>
            </a:r>
          </a:p>
        </p:txBody>
      </p:sp>
      <p:sp>
        <p:nvSpPr>
          <p:cNvPr id="15" name="">
            <a:extLst xmlns:a="http://schemas.openxmlformats.org/drawingml/2006/main">
              <a:ext uri="{FF2B5EF4-FFF2-40B4-BE49-F238E27FC236}">
                <a16:creationId xmlns:a16="http://schemas.microsoft.com/office/drawing/2014/main" id="{EA6659BD-7E07-431C-A3E7-FE268C7A504B}"/>
              </a:ext>
            </a:extLst>
          </p:cNvPr>
          <p:cNvSpPr>
            <a:spLocks xmlns:a="http://schemas.openxmlformats.org/drawingml/2006/main" noGrp="1"/>
          </p:cNvSpPr>
          <p:nvPr/>
        </p:nvSpPr>
        <p:spPr>
          <a:xfrm xmlns:a="http://schemas.openxmlformats.org/drawingml/2006/main">
            <a:off x="7353300" y="1733550"/>
            <a:ext cx="6667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UNIT</a:t>
            </a:r>
          </a:p>
        </p:txBody>
      </p:sp>
      <p:sp>
        <p:nvSpPr>
          <p:cNvPr id="16" name="">
            <a:extLst xmlns:a="http://schemas.openxmlformats.org/drawingml/2006/main">
              <a:ext uri="{FF2B5EF4-FFF2-40B4-BE49-F238E27FC236}">
                <a16:creationId xmlns:a16="http://schemas.microsoft.com/office/drawing/2014/main" id="{E2C4D1F8-74DB-4469-93DF-846923973A77}"/>
              </a:ext>
            </a:extLst>
          </p:cNvPr>
          <p:cNvSpPr>
            <a:spLocks xmlns:a="http://schemas.openxmlformats.org/drawingml/2006/main" noGrp="1"/>
          </p:cNvSpPr>
          <p:nvPr/>
        </p:nvSpPr>
        <p:spPr>
          <a:xfrm xmlns:a="http://schemas.openxmlformats.org/drawingml/2006/main">
            <a:off x="8210550" y="1733550"/>
            <a:ext cx="34671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NOTE</a:t>
            </a:r>
          </a:p>
        </p:txBody>
      </p:sp>
      <p:sp>
        <p:nvSpPr>
          <p:cNvPr id="17" name="">
            <a:extLst xmlns:a="http://schemas.openxmlformats.org/drawingml/2006/main">
              <a:ext uri="{FF2B5EF4-FFF2-40B4-BE49-F238E27FC236}">
                <a16:creationId xmlns:a16="http://schemas.microsoft.com/office/drawing/2014/main" id="{61BEF2DB-DBF1-428F-8BA3-640F458894F1}"/>
              </a:ext>
            </a:extLst>
          </p:cNvPr>
          <p:cNvSpPr>
            <a:spLocks xmlns:a="http://schemas.openxmlformats.org/drawingml/2006/main" noGrp="1"/>
          </p:cNvSpPr>
          <p:nvPr/>
        </p:nvSpPr>
        <p:spPr>
          <a:xfrm xmlns:a="http://schemas.openxmlformats.org/drawingml/2006/main">
            <a:off x="457200" y="1981200"/>
            <a:ext cx="11277600" cy="3810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18" name="">
            <a:extLst xmlns:a="http://schemas.openxmlformats.org/drawingml/2006/main">
              <a:ext uri="{FF2B5EF4-FFF2-40B4-BE49-F238E27FC236}">
                <a16:creationId xmlns:a16="http://schemas.microsoft.com/office/drawing/2014/main" id="{B79C26F5-191A-4112-8C36-7A0834474271}"/>
              </a:ext>
            </a:extLst>
          </p:cNvPr>
          <p:cNvSpPr>
            <a:spLocks xmlns:a="http://schemas.openxmlformats.org/drawingml/2006/main" noGrp="1"/>
          </p:cNvSpPr>
          <p:nvPr/>
        </p:nvSpPr>
        <p:spPr>
          <a:xfrm xmlns:a="http://schemas.openxmlformats.org/drawingml/2006/main">
            <a:off x="590550" y="2085975"/>
            <a:ext cx="21717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Core supply</a:t>
            </a:r>
          </a:p>
        </p:txBody>
      </p:sp>
      <p:sp>
        <p:nvSpPr>
          <p:cNvPr id="19" name="">
            <a:extLst xmlns:a="http://schemas.openxmlformats.org/drawingml/2006/main">
              <a:ext uri="{FF2B5EF4-FFF2-40B4-BE49-F238E27FC236}">
                <a16:creationId xmlns:a16="http://schemas.microsoft.com/office/drawing/2014/main" id="{0F522235-FBE2-4B3B-A837-D69B86E2F778}"/>
              </a:ext>
            </a:extLst>
          </p:cNvPr>
          <p:cNvSpPr>
            <a:spLocks xmlns:a="http://schemas.openxmlformats.org/drawingml/2006/main" noGrp="1"/>
          </p:cNvSpPr>
          <p:nvPr/>
        </p:nvSpPr>
        <p:spPr>
          <a:xfrm xmlns:a="http://schemas.openxmlformats.org/drawingml/2006/main">
            <a:off x="2971800" y="2085975"/>
            <a:ext cx="10287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vccd1</a:t>
            </a:r>
          </a:p>
        </p:txBody>
      </p:sp>
      <p:sp>
        <p:nvSpPr>
          <p:cNvPr id="20" name="">
            <a:extLst xmlns:a="http://schemas.openxmlformats.org/drawingml/2006/main">
              <a:ext uri="{FF2B5EF4-FFF2-40B4-BE49-F238E27FC236}">
                <a16:creationId xmlns:a16="http://schemas.microsoft.com/office/drawing/2014/main" id="{03D6341B-A0BD-4DAF-B275-FF00F1C35F38}"/>
              </a:ext>
            </a:extLst>
          </p:cNvPr>
          <p:cNvSpPr>
            <a:spLocks xmlns:a="http://schemas.openxmlformats.org/drawingml/2006/main" noGrp="1"/>
          </p:cNvSpPr>
          <p:nvPr/>
        </p:nvSpPr>
        <p:spPr>
          <a:xfrm xmlns:a="http://schemas.openxmlformats.org/drawingml/2006/main">
            <a:off x="4210050" y="2085975"/>
            <a:ext cx="838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1.71</a:t>
            </a:r>
          </a:p>
        </p:txBody>
      </p:sp>
      <p:sp>
        <p:nvSpPr>
          <p:cNvPr id="21" name="">
            <a:extLst xmlns:a="http://schemas.openxmlformats.org/drawingml/2006/main">
              <a:ext uri="{FF2B5EF4-FFF2-40B4-BE49-F238E27FC236}">
                <a16:creationId xmlns:a16="http://schemas.microsoft.com/office/drawing/2014/main" id="{1777C67D-D82C-454C-A151-81D131665A19}"/>
              </a:ext>
            </a:extLst>
          </p:cNvPr>
          <p:cNvSpPr>
            <a:spLocks xmlns:a="http://schemas.openxmlformats.org/drawingml/2006/main" noGrp="1"/>
          </p:cNvSpPr>
          <p:nvPr/>
        </p:nvSpPr>
        <p:spPr>
          <a:xfrm xmlns:a="http://schemas.openxmlformats.org/drawingml/2006/main">
            <a:off x="5257800" y="2085975"/>
            <a:ext cx="838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1.8</a:t>
            </a:r>
          </a:p>
        </p:txBody>
      </p:sp>
      <p:sp>
        <p:nvSpPr>
          <p:cNvPr id="22" name="">
            <a:extLst xmlns:a="http://schemas.openxmlformats.org/drawingml/2006/main">
              <a:ext uri="{FF2B5EF4-FFF2-40B4-BE49-F238E27FC236}">
                <a16:creationId xmlns:a16="http://schemas.microsoft.com/office/drawing/2014/main" id="{13184588-7B47-4E5A-B0DC-1597C4973D84}"/>
              </a:ext>
            </a:extLst>
          </p:cNvPr>
          <p:cNvSpPr>
            <a:spLocks xmlns:a="http://schemas.openxmlformats.org/drawingml/2006/main" noGrp="1"/>
          </p:cNvSpPr>
          <p:nvPr/>
        </p:nvSpPr>
        <p:spPr>
          <a:xfrm xmlns:a="http://schemas.openxmlformats.org/drawingml/2006/main">
            <a:off x="6305550" y="2085975"/>
            <a:ext cx="838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1.89</a:t>
            </a:r>
          </a:p>
        </p:txBody>
      </p:sp>
      <p:sp>
        <p:nvSpPr>
          <p:cNvPr id="23" name="">
            <a:extLst xmlns:a="http://schemas.openxmlformats.org/drawingml/2006/main">
              <a:ext uri="{FF2B5EF4-FFF2-40B4-BE49-F238E27FC236}">
                <a16:creationId xmlns:a16="http://schemas.microsoft.com/office/drawing/2014/main" id="{D4FCCA7E-29BE-473B-B0C1-8D4D6236D768}"/>
              </a:ext>
            </a:extLst>
          </p:cNvPr>
          <p:cNvSpPr>
            <a:spLocks xmlns:a="http://schemas.openxmlformats.org/drawingml/2006/main" noGrp="1"/>
          </p:cNvSpPr>
          <p:nvPr/>
        </p:nvSpPr>
        <p:spPr>
          <a:xfrm xmlns:a="http://schemas.openxmlformats.org/drawingml/2006/main">
            <a:off x="7353300" y="2085975"/>
            <a:ext cx="6477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V</a:t>
            </a:r>
          </a:p>
        </p:txBody>
      </p:sp>
      <p:sp>
        <p:nvSpPr>
          <p:cNvPr id="24" name="">
            <a:extLst xmlns:a="http://schemas.openxmlformats.org/drawingml/2006/main">
              <a:ext uri="{FF2B5EF4-FFF2-40B4-BE49-F238E27FC236}">
                <a16:creationId xmlns:a16="http://schemas.microsoft.com/office/drawing/2014/main" id="{6BD72710-D2FA-44BF-8B6D-21EA43C20A65}"/>
              </a:ext>
            </a:extLst>
          </p:cNvPr>
          <p:cNvSpPr>
            <a:spLocks xmlns:a="http://schemas.openxmlformats.org/drawingml/2006/main" noGrp="1"/>
          </p:cNvSpPr>
          <p:nvPr/>
        </p:nvSpPr>
        <p:spPr>
          <a:xfrm xmlns:a="http://schemas.openxmlformats.org/drawingml/2006/main">
            <a:off x="8210550" y="2085975"/>
            <a:ext cx="344805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±5%; logic, SRAM and the ADC</a:t>
            </a:r>
          </a:p>
        </p:txBody>
      </p:sp>
      <p:sp>
        <p:nvSpPr>
          <p:cNvPr id="25" name="">
            <a:extLst xmlns:a="http://schemas.openxmlformats.org/drawingml/2006/main">
              <a:ext uri="{FF2B5EF4-FFF2-40B4-BE49-F238E27FC236}">
                <a16:creationId xmlns:a16="http://schemas.microsoft.com/office/drawing/2014/main" id="{0AE0B9B1-F449-4903-91D7-33471C7C1168}"/>
              </a:ext>
            </a:extLst>
          </p:cNvPr>
          <p:cNvSpPr>
            <a:spLocks xmlns:a="http://schemas.openxmlformats.org/drawingml/2006/main" noGrp="1"/>
          </p:cNvSpPr>
          <p:nvPr/>
        </p:nvSpPr>
        <p:spPr>
          <a:xfrm xmlns:a="http://schemas.openxmlformats.org/drawingml/2006/main">
            <a:off x="457200" y="2362200"/>
            <a:ext cx="11277600" cy="38100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26" name="">
            <a:extLst xmlns:a="http://schemas.openxmlformats.org/drawingml/2006/main">
              <a:ext uri="{FF2B5EF4-FFF2-40B4-BE49-F238E27FC236}">
                <a16:creationId xmlns:a16="http://schemas.microsoft.com/office/drawing/2014/main" id="{B89805C8-445C-4598-8ECE-35CEB716B647}"/>
              </a:ext>
            </a:extLst>
          </p:cNvPr>
          <p:cNvSpPr>
            <a:spLocks xmlns:a="http://schemas.openxmlformats.org/drawingml/2006/main" noGrp="1"/>
          </p:cNvSpPr>
          <p:nvPr/>
        </p:nvSpPr>
        <p:spPr>
          <a:xfrm xmlns:a="http://schemas.openxmlformats.org/drawingml/2006/main">
            <a:off x="590550" y="2466975"/>
            <a:ext cx="21717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I/O supply</a:t>
            </a:r>
          </a:p>
        </p:txBody>
      </p:sp>
      <p:sp>
        <p:nvSpPr>
          <p:cNvPr id="27" name="">
            <a:extLst xmlns:a="http://schemas.openxmlformats.org/drawingml/2006/main">
              <a:ext uri="{FF2B5EF4-FFF2-40B4-BE49-F238E27FC236}">
                <a16:creationId xmlns:a16="http://schemas.microsoft.com/office/drawing/2014/main" id="{84BBE005-2071-40C8-AF0C-A8ED3E330BC0}"/>
              </a:ext>
            </a:extLst>
          </p:cNvPr>
          <p:cNvSpPr>
            <a:spLocks xmlns:a="http://schemas.openxmlformats.org/drawingml/2006/main" noGrp="1"/>
          </p:cNvSpPr>
          <p:nvPr/>
        </p:nvSpPr>
        <p:spPr>
          <a:xfrm xmlns:a="http://schemas.openxmlformats.org/drawingml/2006/main">
            <a:off x="2971800" y="2466975"/>
            <a:ext cx="10287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vddio</a:t>
            </a:r>
          </a:p>
        </p:txBody>
      </p:sp>
      <p:sp>
        <p:nvSpPr>
          <p:cNvPr id="28" name="">
            <a:extLst xmlns:a="http://schemas.openxmlformats.org/drawingml/2006/main">
              <a:ext uri="{FF2B5EF4-FFF2-40B4-BE49-F238E27FC236}">
                <a16:creationId xmlns:a16="http://schemas.microsoft.com/office/drawing/2014/main" id="{80A4DA50-DFEC-4A16-A5B9-66E8F6CDA018}"/>
              </a:ext>
            </a:extLst>
          </p:cNvPr>
          <p:cNvSpPr>
            <a:spLocks xmlns:a="http://schemas.openxmlformats.org/drawingml/2006/main" noGrp="1"/>
          </p:cNvSpPr>
          <p:nvPr/>
        </p:nvSpPr>
        <p:spPr>
          <a:xfrm xmlns:a="http://schemas.openxmlformats.org/drawingml/2006/main">
            <a:off x="4210050" y="2466975"/>
            <a:ext cx="838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3.0</a:t>
            </a:r>
          </a:p>
        </p:txBody>
      </p:sp>
      <p:sp>
        <p:nvSpPr>
          <p:cNvPr id="29" name="">
            <a:extLst xmlns:a="http://schemas.openxmlformats.org/drawingml/2006/main">
              <a:ext uri="{FF2B5EF4-FFF2-40B4-BE49-F238E27FC236}">
                <a16:creationId xmlns:a16="http://schemas.microsoft.com/office/drawing/2014/main" id="{C9D45B82-B9A5-40DD-96EC-61E6D269EB66}"/>
              </a:ext>
            </a:extLst>
          </p:cNvPr>
          <p:cNvSpPr>
            <a:spLocks xmlns:a="http://schemas.openxmlformats.org/drawingml/2006/main" noGrp="1"/>
          </p:cNvSpPr>
          <p:nvPr/>
        </p:nvSpPr>
        <p:spPr>
          <a:xfrm xmlns:a="http://schemas.openxmlformats.org/drawingml/2006/main">
            <a:off x="5257800" y="2466975"/>
            <a:ext cx="838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3.3</a:t>
            </a:r>
          </a:p>
        </p:txBody>
      </p:sp>
      <p:sp>
        <p:nvSpPr>
          <p:cNvPr id="30" name="">
            <a:extLst xmlns:a="http://schemas.openxmlformats.org/drawingml/2006/main">
              <a:ext uri="{FF2B5EF4-FFF2-40B4-BE49-F238E27FC236}">
                <a16:creationId xmlns:a16="http://schemas.microsoft.com/office/drawing/2014/main" id="{4A47D4B6-7275-439D-873E-093E069EC2CA}"/>
              </a:ext>
            </a:extLst>
          </p:cNvPr>
          <p:cNvSpPr>
            <a:spLocks xmlns:a="http://schemas.openxmlformats.org/drawingml/2006/main" noGrp="1"/>
          </p:cNvSpPr>
          <p:nvPr/>
        </p:nvSpPr>
        <p:spPr>
          <a:xfrm xmlns:a="http://schemas.openxmlformats.org/drawingml/2006/main">
            <a:off x="6305550" y="2466975"/>
            <a:ext cx="838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3.6</a:t>
            </a:r>
          </a:p>
        </p:txBody>
      </p:sp>
      <p:sp>
        <p:nvSpPr>
          <p:cNvPr id="31" name="">
            <a:extLst xmlns:a="http://schemas.openxmlformats.org/drawingml/2006/main">
              <a:ext uri="{FF2B5EF4-FFF2-40B4-BE49-F238E27FC236}">
                <a16:creationId xmlns:a16="http://schemas.microsoft.com/office/drawing/2014/main" id="{2AE8CE74-C8AD-49E8-8D07-B3C4B354C4E5}"/>
              </a:ext>
            </a:extLst>
          </p:cNvPr>
          <p:cNvSpPr>
            <a:spLocks xmlns:a="http://schemas.openxmlformats.org/drawingml/2006/main" noGrp="1"/>
          </p:cNvSpPr>
          <p:nvPr/>
        </p:nvSpPr>
        <p:spPr>
          <a:xfrm xmlns:a="http://schemas.openxmlformats.org/drawingml/2006/main">
            <a:off x="7353300" y="2466975"/>
            <a:ext cx="6477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V</a:t>
            </a:r>
          </a:p>
        </p:txBody>
      </p:sp>
      <p:sp>
        <p:nvSpPr>
          <p:cNvPr id="32" name="">
            <a:extLst xmlns:a="http://schemas.openxmlformats.org/drawingml/2006/main">
              <a:ext uri="{FF2B5EF4-FFF2-40B4-BE49-F238E27FC236}">
                <a16:creationId xmlns:a16="http://schemas.microsoft.com/office/drawing/2014/main" id="{C4AED1F5-BF15-491A-80A6-45C38FF3EB18}"/>
              </a:ext>
            </a:extLst>
          </p:cNvPr>
          <p:cNvSpPr>
            <a:spLocks xmlns:a="http://schemas.openxmlformats.org/drawingml/2006/main" noGrp="1"/>
          </p:cNvSpPr>
          <p:nvPr/>
        </p:nvSpPr>
        <p:spPr>
          <a:xfrm xmlns:a="http://schemas.openxmlformats.org/drawingml/2006/main">
            <a:off x="8210550" y="2466975"/>
            <a:ext cx="344805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3.3 V CMOS pad ring and ESD</a:t>
            </a:r>
          </a:p>
        </p:txBody>
      </p:sp>
      <p:sp>
        <p:nvSpPr>
          <p:cNvPr id="33" name="">
            <a:extLst xmlns:a="http://schemas.openxmlformats.org/drawingml/2006/main">
              <a:ext uri="{FF2B5EF4-FFF2-40B4-BE49-F238E27FC236}">
                <a16:creationId xmlns:a16="http://schemas.microsoft.com/office/drawing/2014/main" id="{558054D5-C0EF-4323-9523-F37372EAFCCD}"/>
              </a:ext>
            </a:extLst>
          </p:cNvPr>
          <p:cNvSpPr>
            <a:spLocks xmlns:a="http://schemas.openxmlformats.org/drawingml/2006/main" noGrp="1"/>
          </p:cNvSpPr>
          <p:nvPr/>
        </p:nvSpPr>
        <p:spPr>
          <a:xfrm xmlns:a="http://schemas.openxmlformats.org/drawingml/2006/main">
            <a:off x="457200" y="2743200"/>
            <a:ext cx="11277600" cy="3810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34" name="">
            <a:extLst xmlns:a="http://schemas.openxmlformats.org/drawingml/2006/main">
              <a:ext uri="{FF2B5EF4-FFF2-40B4-BE49-F238E27FC236}">
                <a16:creationId xmlns:a16="http://schemas.microsoft.com/office/drawing/2014/main" id="{BE115F59-ABEB-427A-8C04-77EF8C5E998E}"/>
              </a:ext>
            </a:extLst>
          </p:cNvPr>
          <p:cNvSpPr>
            <a:spLocks xmlns:a="http://schemas.openxmlformats.org/drawingml/2006/main" noGrp="1"/>
          </p:cNvSpPr>
          <p:nvPr/>
        </p:nvSpPr>
        <p:spPr>
          <a:xfrm xmlns:a="http://schemas.openxmlformats.org/drawingml/2006/main">
            <a:off x="590550" y="2847975"/>
            <a:ext cx="21717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Core clock</a:t>
            </a:r>
          </a:p>
        </p:txBody>
      </p:sp>
      <p:sp>
        <p:nvSpPr>
          <p:cNvPr id="35" name="">
            <a:extLst xmlns:a="http://schemas.openxmlformats.org/drawingml/2006/main">
              <a:ext uri="{FF2B5EF4-FFF2-40B4-BE49-F238E27FC236}">
                <a16:creationId xmlns:a16="http://schemas.microsoft.com/office/drawing/2014/main" id="{1BBB58EB-553C-4EDA-8F9C-65B1D78D5B06}"/>
              </a:ext>
            </a:extLst>
          </p:cNvPr>
          <p:cNvSpPr>
            <a:spLocks xmlns:a="http://schemas.openxmlformats.org/drawingml/2006/main" noGrp="1"/>
          </p:cNvSpPr>
          <p:nvPr/>
        </p:nvSpPr>
        <p:spPr>
          <a:xfrm xmlns:a="http://schemas.openxmlformats.org/drawingml/2006/main">
            <a:off x="2971800" y="2847975"/>
            <a:ext cx="10287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CLK</a:t>
            </a:r>
          </a:p>
        </p:txBody>
      </p:sp>
      <p:sp>
        <p:nvSpPr>
          <p:cNvPr id="36" name="">
            <a:extLst xmlns:a="http://schemas.openxmlformats.org/drawingml/2006/main">
              <a:ext uri="{FF2B5EF4-FFF2-40B4-BE49-F238E27FC236}">
                <a16:creationId xmlns:a16="http://schemas.microsoft.com/office/drawing/2014/main" id="{1FC23F7D-7122-47D1-97AB-D8529031D2BB}"/>
              </a:ext>
            </a:extLst>
          </p:cNvPr>
          <p:cNvSpPr>
            <a:spLocks xmlns:a="http://schemas.openxmlformats.org/drawingml/2006/main" noGrp="1"/>
          </p:cNvSpPr>
          <p:nvPr/>
        </p:nvSpPr>
        <p:spPr>
          <a:xfrm xmlns:a="http://schemas.openxmlformats.org/drawingml/2006/main">
            <a:off x="4210050" y="2847975"/>
            <a:ext cx="838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a:t>
            </a:r>
          </a:p>
        </p:txBody>
      </p:sp>
      <p:sp>
        <p:nvSpPr>
          <p:cNvPr id="37" name="">
            <a:extLst xmlns:a="http://schemas.openxmlformats.org/drawingml/2006/main">
              <a:ext uri="{FF2B5EF4-FFF2-40B4-BE49-F238E27FC236}">
                <a16:creationId xmlns:a16="http://schemas.microsoft.com/office/drawing/2014/main" id="{D1AC91A8-D842-400E-9138-871D829FAD91}"/>
              </a:ext>
            </a:extLst>
          </p:cNvPr>
          <p:cNvSpPr>
            <a:spLocks xmlns:a="http://schemas.openxmlformats.org/drawingml/2006/main" noGrp="1"/>
          </p:cNvSpPr>
          <p:nvPr/>
        </p:nvSpPr>
        <p:spPr>
          <a:xfrm xmlns:a="http://schemas.openxmlformats.org/drawingml/2006/main">
            <a:off x="5257800" y="2847975"/>
            <a:ext cx="838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50</a:t>
            </a:r>
          </a:p>
        </p:txBody>
      </p:sp>
      <p:sp>
        <p:nvSpPr>
          <p:cNvPr id="38" name="">
            <a:extLst xmlns:a="http://schemas.openxmlformats.org/drawingml/2006/main">
              <a:ext uri="{FF2B5EF4-FFF2-40B4-BE49-F238E27FC236}">
                <a16:creationId xmlns:a16="http://schemas.microsoft.com/office/drawing/2014/main" id="{A6906A80-1240-4B8D-A4B0-65C555CDF99B}"/>
              </a:ext>
            </a:extLst>
          </p:cNvPr>
          <p:cNvSpPr>
            <a:spLocks xmlns:a="http://schemas.openxmlformats.org/drawingml/2006/main" noGrp="1"/>
          </p:cNvSpPr>
          <p:nvPr/>
        </p:nvSpPr>
        <p:spPr>
          <a:xfrm xmlns:a="http://schemas.openxmlformats.org/drawingml/2006/main">
            <a:off x="6305550" y="2847975"/>
            <a:ext cx="838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~55</a:t>
            </a:r>
          </a:p>
        </p:txBody>
      </p:sp>
      <p:sp>
        <p:nvSpPr>
          <p:cNvPr id="39" name="">
            <a:extLst xmlns:a="http://schemas.openxmlformats.org/drawingml/2006/main">
              <a:ext uri="{FF2B5EF4-FFF2-40B4-BE49-F238E27FC236}">
                <a16:creationId xmlns:a16="http://schemas.microsoft.com/office/drawing/2014/main" id="{23DB735D-B8A9-4CD5-B6B9-B4ADEF55AE32}"/>
              </a:ext>
            </a:extLst>
          </p:cNvPr>
          <p:cNvSpPr>
            <a:spLocks xmlns:a="http://schemas.openxmlformats.org/drawingml/2006/main" noGrp="1"/>
          </p:cNvSpPr>
          <p:nvPr/>
        </p:nvSpPr>
        <p:spPr>
          <a:xfrm xmlns:a="http://schemas.openxmlformats.org/drawingml/2006/main">
            <a:off x="7353300" y="2847975"/>
            <a:ext cx="6477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MHz</a:t>
            </a:r>
          </a:p>
        </p:txBody>
      </p:sp>
      <p:sp>
        <p:nvSpPr>
          <p:cNvPr id="40" name="">
            <a:extLst xmlns:a="http://schemas.openxmlformats.org/drawingml/2006/main">
              <a:ext uri="{FF2B5EF4-FFF2-40B4-BE49-F238E27FC236}">
                <a16:creationId xmlns:a16="http://schemas.microsoft.com/office/drawing/2014/main" id="{43086D05-6133-4E5F-915E-9E920C80F25A}"/>
              </a:ext>
            </a:extLst>
          </p:cNvPr>
          <p:cNvSpPr>
            <a:spLocks xmlns:a="http://schemas.openxmlformats.org/drawingml/2006/main" noGrp="1"/>
          </p:cNvSpPr>
          <p:nvPr/>
        </p:nvSpPr>
        <p:spPr>
          <a:xfrm xmlns:a="http://schemas.openxmlformats.org/drawingml/2006/main">
            <a:off x="8210550" y="2847975"/>
            <a:ext cx="344805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fmax ~55–62 MHz post-route</a:t>
            </a:r>
          </a:p>
        </p:txBody>
      </p:sp>
      <p:sp>
        <p:nvSpPr>
          <p:cNvPr id="41" name="">
            <a:extLst xmlns:a="http://schemas.openxmlformats.org/drawingml/2006/main">
              <a:ext uri="{FF2B5EF4-FFF2-40B4-BE49-F238E27FC236}">
                <a16:creationId xmlns:a16="http://schemas.microsoft.com/office/drawing/2014/main" id="{94F2D3A9-116D-4AFB-A8F2-068B8D59BEEC}"/>
              </a:ext>
            </a:extLst>
          </p:cNvPr>
          <p:cNvSpPr>
            <a:spLocks xmlns:a="http://schemas.openxmlformats.org/drawingml/2006/main" noGrp="1"/>
          </p:cNvSpPr>
          <p:nvPr/>
        </p:nvSpPr>
        <p:spPr>
          <a:xfrm xmlns:a="http://schemas.openxmlformats.org/drawingml/2006/main">
            <a:off x="457200" y="3124200"/>
            <a:ext cx="11277600" cy="38100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42" name="">
            <a:extLst xmlns:a="http://schemas.openxmlformats.org/drawingml/2006/main">
              <a:ext uri="{FF2B5EF4-FFF2-40B4-BE49-F238E27FC236}">
                <a16:creationId xmlns:a16="http://schemas.microsoft.com/office/drawing/2014/main" id="{C96E3DD9-E060-4FE0-A04D-61A16A1FEA88}"/>
              </a:ext>
            </a:extLst>
          </p:cNvPr>
          <p:cNvSpPr>
            <a:spLocks xmlns:a="http://schemas.openxmlformats.org/drawingml/2006/main" noGrp="1"/>
          </p:cNvSpPr>
          <p:nvPr/>
        </p:nvSpPr>
        <p:spPr>
          <a:xfrm xmlns:a="http://schemas.openxmlformats.org/drawingml/2006/main">
            <a:off x="590550" y="3228975"/>
            <a:ext cx="21717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ADC input</a:t>
            </a:r>
          </a:p>
        </p:txBody>
      </p:sp>
      <p:sp>
        <p:nvSpPr>
          <p:cNvPr id="43" name="">
            <a:extLst xmlns:a="http://schemas.openxmlformats.org/drawingml/2006/main">
              <a:ext uri="{FF2B5EF4-FFF2-40B4-BE49-F238E27FC236}">
                <a16:creationId xmlns:a16="http://schemas.microsoft.com/office/drawing/2014/main" id="{E0C373BE-6C81-4903-A2B9-E835A0591B94}"/>
              </a:ext>
            </a:extLst>
          </p:cNvPr>
          <p:cNvSpPr>
            <a:spLocks xmlns:a="http://schemas.openxmlformats.org/drawingml/2006/main" noGrp="1"/>
          </p:cNvSpPr>
          <p:nvPr/>
        </p:nvSpPr>
        <p:spPr>
          <a:xfrm xmlns:a="http://schemas.openxmlformats.org/drawingml/2006/main">
            <a:off x="2971800" y="3228975"/>
            <a:ext cx="10287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VINP / VINN</a:t>
            </a:r>
          </a:p>
        </p:txBody>
      </p:sp>
      <p:sp>
        <p:nvSpPr>
          <p:cNvPr id="44" name="">
            <a:extLst xmlns:a="http://schemas.openxmlformats.org/drawingml/2006/main">
              <a:ext uri="{FF2B5EF4-FFF2-40B4-BE49-F238E27FC236}">
                <a16:creationId xmlns:a16="http://schemas.microsoft.com/office/drawing/2014/main" id="{BEE90ECF-8AFE-43AC-907D-1B83BC210576}"/>
              </a:ext>
            </a:extLst>
          </p:cNvPr>
          <p:cNvSpPr>
            <a:spLocks xmlns:a="http://schemas.openxmlformats.org/drawingml/2006/main" noGrp="1"/>
          </p:cNvSpPr>
          <p:nvPr/>
        </p:nvSpPr>
        <p:spPr>
          <a:xfrm xmlns:a="http://schemas.openxmlformats.org/drawingml/2006/main">
            <a:off x="4210050" y="3228975"/>
            <a:ext cx="838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0</a:t>
            </a:r>
          </a:p>
        </p:txBody>
      </p:sp>
      <p:sp>
        <p:nvSpPr>
          <p:cNvPr id="45" name="">
            <a:extLst xmlns:a="http://schemas.openxmlformats.org/drawingml/2006/main">
              <a:ext uri="{FF2B5EF4-FFF2-40B4-BE49-F238E27FC236}">
                <a16:creationId xmlns:a16="http://schemas.microsoft.com/office/drawing/2014/main" id="{408AAACC-71AA-4528-A5C1-ED1809B78EFA}"/>
              </a:ext>
            </a:extLst>
          </p:cNvPr>
          <p:cNvSpPr>
            <a:spLocks xmlns:a="http://schemas.openxmlformats.org/drawingml/2006/main" noGrp="1"/>
          </p:cNvSpPr>
          <p:nvPr/>
        </p:nvSpPr>
        <p:spPr>
          <a:xfrm xmlns:a="http://schemas.openxmlformats.org/drawingml/2006/main">
            <a:off x="5257800" y="3228975"/>
            <a:ext cx="838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a:t>
            </a:r>
          </a:p>
        </p:txBody>
      </p:sp>
      <p:sp>
        <p:nvSpPr>
          <p:cNvPr id="46" name="">
            <a:extLst xmlns:a="http://schemas.openxmlformats.org/drawingml/2006/main">
              <a:ext uri="{FF2B5EF4-FFF2-40B4-BE49-F238E27FC236}">
                <a16:creationId xmlns:a16="http://schemas.microsoft.com/office/drawing/2014/main" id="{F76E5647-C4E8-4BC9-850A-3ACC9E8FA2B3}"/>
              </a:ext>
            </a:extLst>
          </p:cNvPr>
          <p:cNvSpPr>
            <a:spLocks xmlns:a="http://schemas.openxmlformats.org/drawingml/2006/main" noGrp="1"/>
          </p:cNvSpPr>
          <p:nvPr/>
        </p:nvSpPr>
        <p:spPr>
          <a:xfrm xmlns:a="http://schemas.openxmlformats.org/drawingml/2006/main">
            <a:off x="6305550" y="3228975"/>
            <a:ext cx="838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1.8</a:t>
            </a:r>
          </a:p>
        </p:txBody>
      </p:sp>
      <p:sp>
        <p:nvSpPr>
          <p:cNvPr id="47" name="">
            <a:extLst xmlns:a="http://schemas.openxmlformats.org/drawingml/2006/main">
              <a:ext uri="{FF2B5EF4-FFF2-40B4-BE49-F238E27FC236}">
                <a16:creationId xmlns:a16="http://schemas.microsoft.com/office/drawing/2014/main" id="{DF17682C-8287-4871-B482-D8F429FFB565}"/>
              </a:ext>
            </a:extLst>
          </p:cNvPr>
          <p:cNvSpPr>
            <a:spLocks xmlns:a="http://schemas.openxmlformats.org/drawingml/2006/main" noGrp="1"/>
          </p:cNvSpPr>
          <p:nvPr/>
        </p:nvSpPr>
        <p:spPr>
          <a:xfrm xmlns:a="http://schemas.openxmlformats.org/drawingml/2006/main">
            <a:off x="7353300" y="3228975"/>
            <a:ext cx="6477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V</a:t>
            </a:r>
          </a:p>
        </p:txBody>
      </p:sp>
      <p:sp>
        <p:nvSpPr>
          <p:cNvPr id="48" name="">
            <a:extLst xmlns:a="http://schemas.openxmlformats.org/drawingml/2006/main">
              <a:ext uri="{FF2B5EF4-FFF2-40B4-BE49-F238E27FC236}">
                <a16:creationId xmlns:a16="http://schemas.microsoft.com/office/drawing/2014/main" id="{7A296EF4-C487-414E-A1ED-A22C5C1BEDB0}"/>
              </a:ext>
            </a:extLst>
          </p:cNvPr>
          <p:cNvSpPr>
            <a:spLocks xmlns:a="http://schemas.openxmlformats.org/drawingml/2006/main" noGrp="1"/>
          </p:cNvSpPr>
          <p:nvPr/>
        </p:nvSpPr>
        <p:spPr>
          <a:xfrm xmlns:a="http://schemas.openxmlformats.org/drawingml/2006/main">
            <a:off x="8210550" y="3228975"/>
            <a:ext cx="344805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Differential, core domain</a:t>
            </a:r>
          </a:p>
        </p:txBody>
      </p:sp>
      <p:sp>
        <p:nvSpPr>
          <p:cNvPr id="49" name="">
            <a:extLst xmlns:a="http://schemas.openxmlformats.org/drawingml/2006/main">
              <a:ext uri="{FF2B5EF4-FFF2-40B4-BE49-F238E27FC236}">
                <a16:creationId xmlns:a16="http://schemas.microsoft.com/office/drawing/2014/main" id="{25431237-2610-49FF-8B06-F93C60302F5C}"/>
              </a:ext>
            </a:extLst>
          </p:cNvPr>
          <p:cNvSpPr>
            <a:spLocks xmlns:a="http://schemas.openxmlformats.org/drawingml/2006/main" noGrp="1"/>
          </p:cNvSpPr>
          <p:nvPr/>
        </p:nvSpPr>
        <p:spPr>
          <a:xfrm xmlns:a="http://schemas.openxmlformats.org/drawingml/2006/main">
            <a:off x="457200" y="3505200"/>
            <a:ext cx="11277600" cy="3810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50" name="">
            <a:extLst xmlns:a="http://schemas.openxmlformats.org/drawingml/2006/main">
              <a:ext uri="{FF2B5EF4-FFF2-40B4-BE49-F238E27FC236}">
                <a16:creationId xmlns:a16="http://schemas.microsoft.com/office/drawing/2014/main" id="{67AD562E-F8E9-4DDD-B338-99F9BC849B76}"/>
              </a:ext>
            </a:extLst>
          </p:cNvPr>
          <p:cNvSpPr>
            <a:spLocks xmlns:a="http://schemas.openxmlformats.org/drawingml/2006/main" noGrp="1"/>
          </p:cNvSpPr>
          <p:nvPr/>
        </p:nvSpPr>
        <p:spPr>
          <a:xfrm xmlns:a="http://schemas.openxmlformats.org/drawingml/2006/main">
            <a:off x="590550" y="3609975"/>
            <a:ext cx="21717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Junction temp</a:t>
            </a:r>
          </a:p>
        </p:txBody>
      </p:sp>
      <p:sp>
        <p:nvSpPr>
          <p:cNvPr id="51" name="">
            <a:extLst xmlns:a="http://schemas.openxmlformats.org/drawingml/2006/main">
              <a:ext uri="{FF2B5EF4-FFF2-40B4-BE49-F238E27FC236}">
                <a16:creationId xmlns:a16="http://schemas.microsoft.com/office/drawing/2014/main" id="{9589F0F6-BB95-4ABB-BD85-24DFCB952C75}"/>
              </a:ext>
            </a:extLst>
          </p:cNvPr>
          <p:cNvSpPr>
            <a:spLocks xmlns:a="http://schemas.openxmlformats.org/drawingml/2006/main" noGrp="1"/>
          </p:cNvSpPr>
          <p:nvPr/>
        </p:nvSpPr>
        <p:spPr>
          <a:xfrm xmlns:a="http://schemas.openxmlformats.org/drawingml/2006/main">
            <a:off x="2971800" y="3609975"/>
            <a:ext cx="10287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TJ</a:t>
            </a:r>
          </a:p>
        </p:txBody>
      </p:sp>
      <p:sp>
        <p:nvSpPr>
          <p:cNvPr id="52" name="">
            <a:extLst xmlns:a="http://schemas.openxmlformats.org/drawingml/2006/main">
              <a:ext uri="{FF2B5EF4-FFF2-40B4-BE49-F238E27FC236}">
                <a16:creationId xmlns:a16="http://schemas.microsoft.com/office/drawing/2014/main" id="{006BCF45-9C46-4691-8D1C-F7D0C777DC10}"/>
              </a:ext>
            </a:extLst>
          </p:cNvPr>
          <p:cNvSpPr>
            <a:spLocks xmlns:a="http://schemas.openxmlformats.org/drawingml/2006/main" noGrp="1"/>
          </p:cNvSpPr>
          <p:nvPr/>
        </p:nvSpPr>
        <p:spPr>
          <a:xfrm xmlns:a="http://schemas.openxmlformats.org/drawingml/2006/main">
            <a:off x="4210050" y="3609975"/>
            <a:ext cx="838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a:t>
            </a:r>
          </a:p>
        </p:txBody>
      </p:sp>
      <p:sp>
        <p:nvSpPr>
          <p:cNvPr id="53" name="">
            <a:extLst xmlns:a="http://schemas.openxmlformats.org/drawingml/2006/main">
              <a:ext uri="{FF2B5EF4-FFF2-40B4-BE49-F238E27FC236}">
                <a16:creationId xmlns:a16="http://schemas.microsoft.com/office/drawing/2014/main" id="{3C750AE2-B063-41A9-BF0B-741013F8BFA9}"/>
              </a:ext>
            </a:extLst>
          </p:cNvPr>
          <p:cNvSpPr>
            <a:spLocks xmlns:a="http://schemas.openxmlformats.org/drawingml/2006/main" noGrp="1"/>
          </p:cNvSpPr>
          <p:nvPr/>
        </p:nvSpPr>
        <p:spPr>
          <a:xfrm xmlns:a="http://schemas.openxmlformats.org/drawingml/2006/main">
            <a:off x="5257800" y="3609975"/>
            <a:ext cx="838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25</a:t>
            </a:r>
          </a:p>
        </p:txBody>
      </p:sp>
      <p:sp>
        <p:nvSpPr>
          <p:cNvPr id="54" name="">
            <a:extLst xmlns:a="http://schemas.openxmlformats.org/drawingml/2006/main">
              <a:ext uri="{FF2B5EF4-FFF2-40B4-BE49-F238E27FC236}">
                <a16:creationId xmlns:a16="http://schemas.microsoft.com/office/drawing/2014/main" id="{5CF02408-FCF5-4664-A8C0-8A90C5A3FD27}"/>
              </a:ext>
            </a:extLst>
          </p:cNvPr>
          <p:cNvSpPr>
            <a:spLocks xmlns:a="http://schemas.openxmlformats.org/drawingml/2006/main" noGrp="1"/>
          </p:cNvSpPr>
          <p:nvPr/>
        </p:nvSpPr>
        <p:spPr>
          <a:xfrm xmlns:a="http://schemas.openxmlformats.org/drawingml/2006/main">
            <a:off x="6305550" y="3609975"/>
            <a:ext cx="838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a:t>
            </a:r>
          </a:p>
        </p:txBody>
      </p:sp>
      <p:sp>
        <p:nvSpPr>
          <p:cNvPr id="55" name="">
            <a:extLst xmlns:a="http://schemas.openxmlformats.org/drawingml/2006/main">
              <a:ext uri="{FF2B5EF4-FFF2-40B4-BE49-F238E27FC236}">
                <a16:creationId xmlns:a16="http://schemas.microsoft.com/office/drawing/2014/main" id="{7678A339-16B4-4C89-8CA8-5F988FC74660}"/>
              </a:ext>
            </a:extLst>
          </p:cNvPr>
          <p:cNvSpPr>
            <a:spLocks xmlns:a="http://schemas.openxmlformats.org/drawingml/2006/main" noGrp="1"/>
          </p:cNvSpPr>
          <p:nvPr/>
        </p:nvSpPr>
        <p:spPr>
          <a:xfrm xmlns:a="http://schemas.openxmlformats.org/drawingml/2006/main">
            <a:off x="7353300" y="3609975"/>
            <a:ext cx="6477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°C</a:t>
            </a:r>
          </a:p>
        </p:txBody>
      </p:sp>
      <p:sp>
        <p:nvSpPr>
          <p:cNvPr id="56" name="">
            <a:extLst xmlns:a="http://schemas.openxmlformats.org/drawingml/2006/main">
              <a:ext uri="{FF2B5EF4-FFF2-40B4-BE49-F238E27FC236}">
                <a16:creationId xmlns:a16="http://schemas.microsoft.com/office/drawing/2014/main" id="{2563C753-42A9-4A23-B23C-33807A68F287}"/>
              </a:ext>
            </a:extLst>
          </p:cNvPr>
          <p:cNvSpPr>
            <a:spLocks xmlns:a="http://schemas.openxmlformats.org/drawingml/2006/main" noGrp="1"/>
          </p:cNvSpPr>
          <p:nvPr/>
        </p:nvSpPr>
        <p:spPr>
          <a:xfrm xmlns:a="http://schemas.openxmlformats.org/drawingml/2006/main">
            <a:off x="8210550" y="3609975"/>
            <a:ext cx="344805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Range set at characterisation</a:t>
            </a:r>
          </a:p>
        </p:txBody>
      </p:sp>
      <p:sp>
        <p:nvSpPr>
          <p:cNvPr id="57" name="">
            <a:extLst xmlns:a="http://schemas.openxmlformats.org/drawingml/2006/main">
              <a:ext uri="{FF2B5EF4-FFF2-40B4-BE49-F238E27FC236}">
                <a16:creationId xmlns:a16="http://schemas.microsoft.com/office/drawing/2014/main" id="{FACF9C44-B3AD-41E7-A0ED-09F16BF75705}"/>
              </a:ext>
            </a:extLst>
          </p:cNvPr>
          <p:cNvSpPr>
            <a:spLocks xmlns:a="http://schemas.openxmlformats.org/drawingml/2006/main" noGrp="1"/>
          </p:cNvSpPr>
          <p:nvPr/>
        </p:nvSpPr>
        <p:spPr>
          <a:xfrm xmlns:a="http://schemas.openxmlformats.org/drawingml/2006/main">
            <a:off x="457200" y="4095750"/>
            <a:ext cx="7239000" cy="34290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FB0ABA93-DF41-4CA1-8020-1511BB4C20C4}"/>
              </a:ext>
            </a:extLst>
          </p:cNvPr>
          <p:cNvSpPr>
            <a:spLocks xmlns:a="http://schemas.openxmlformats.org/drawingml/2006/main" noGrp="1"/>
          </p:cNvSpPr>
          <p:nvPr/>
        </p:nvSpPr>
        <p:spPr>
          <a:xfrm xmlns:a="http://schemas.openxmlformats.org/drawingml/2006/main">
            <a:off x="590550" y="4210050"/>
            <a:ext cx="29527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ABSOLUTE MAXIMUM</a:t>
            </a:r>
          </a:p>
        </p:txBody>
      </p:sp>
      <p:sp>
        <p:nvSpPr>
          <p:cNvPr id="59" name="">
            <a:extLst xmlns:a="http://schemas.openxmlformats.org/drawingml/2006/main">
              <a:ext uri="{FF2B5EF4-FFF2-40B4-BE49-F238E27FC236}">
                <a16:creationId xmlns:a16="http://schemas.microsoft.com/office/drawing/2014/main" id="{B4F00504-B553-4822-881A-84FBBA478A5D}"/>
              </a:ext>
            </a:extLst>
          </p:cNvPr>
          <p:cNvSpPr>
            <a:spLocks xmlns:a="http://schemas.openxmlformats.org/drawingml/2006/main" noGrp="1"/>
          </p:cNvSpPr>
          <p:nvPr/>
        </p:nvSpPr>
        <p:spPr>
          <a:xfrm xmlns:a="http://schemas.openxmlformats.org/drawingml/2006/main">
            <a:off x="3733800" y="4210050"/>
            <a:ext cx="9525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1">
                <a:solidFill>
                  <a:srgbClr val="FFFFFF"/>
                </a:solidFill>
                <a:latin typeface="Arial"/>
                <a:ea typeface="Arial"/>
                <a:cs typeface="Arial"/>
              </a:defRPr>
            </a:pPr>
            <a:r>
              <a:t>MIN</a:t>
            </a:r>
          </a:p>
        </p:txBody>
      </p:sp>
      <p:sp>
        <p:nvSpPr>
          <p:cNvPr id="60" name="">
            <a:extLst xmlns:a="http://schemas.openxmlformats.org/drawingml/2006/main">
              <a:ext uri="{FF2B5EF4-FFF2-40B4-BE49-F238E27FC236}">
                <a16:creationId xmlns:a16="http://schemas.microsoft.com/office/drawing/2014/main" id="{E7C96FFE-B07A-4EB5-9438-69D3D9852833}"/>
              </a:ext>
            </a:extLst>
          </p:cNvPr>
          <p:cNvSpPr>
            <a:spLocks xmlns:a="http://schemas.openxmlformats.org/drawingml/2006/main" noGrp="1"/>
          </p:cNvSpPr>
          <p:nvPr/>
        </p:nvSpPr>
        <p:spPr>
          <a:xfrm xmlns:a="http://schemas.openxmlformats.org/drawingml/2006/main">
            <a:off x="4876800" y="4210050"/>
            <a:ext cx="17145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1">
                <a:solidFill>
                  <a:srgbClr val="FFFFFF"/>
                </a:solidFill>
                <a:latin typeface="Arial"/>
                <a:ea typeface="Arial"/>
                <a:cs typeface="Arial"/>
              </a:defRPr>
            </a:pPr>
            <a:r>
              <a:t>MAX</a:t>
            </a:r>
          </a:p>
        </p:txBody>
      </p:sp>
      <p:sp>
        <p:nvSpPr>
          <p:cNvPr id="61" name="">
            <a:extLst xmlns:a="http://schemas.openxmlformats.org/drawingml/2006/main">
              <a:ext uri="{FF2B5EF4-FFF2-40B4-BE49-F238E27FC236}">
                <a16:creationId xmlns:a16="http://schemas.microsoft.com/office/drawing/2014/main" id="{B6AFE1F7-3D08-4D54-96E4-4EE60DBD60CB}"/>
              </a:ext>
            </a:extLst>
          </p:cNvPr>
          <p:cNvSpPr>
            <a:spLocks xmlns:a="http://schemas.openxmlformats.org/drawingml/2006/main" noGrp="1"/>
          </p:cNvSpPr>
          <p:nvPr/>
        </p:nvSpPr>
        <p:spPr>
          <a:xfrm xmlns:a="http://schemas.openxmlformats.org/drawingml/2006/main">
            <a:off x="6781800" y="4210050"/>
            <a:ext cx="8572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UNIT</a:t>
            </a:r>
          </a:p>
        </p:txBody>
      </p:sp>
      <p:sp>
        <p:nvSpPr>
          <p:cNvPr id="62" name="">
            <a:extLst xmlns:a="http://schemas.openxmlformats.org/drawingml/2006/main">
              <a:ext uri="{FF2B5EF4-FFF2-40B4-BE49-F238E27FC236}">
                <a16:creationId xmlns:a16="http://schemas.microsoft.com/office/drawing/2014/main" id="{5EF2C39A-AAAF-49E7-8C51-1A1878B5C0BA}"/>
              </a:ext>
            </a:extLst>
          </p:cNvPr>
          <p:cNvSpPr>
            <a:spLocks xmlns:a="http://schemas.openxmlformats.org/drawingml/2006/main" noGrp="1"/>
          </p:cNvSpPr>
          <p:nvPr/>
        </p:nvSpPr>
        <p:spPr>
          <a:xfrm xmlns:a="http://schemas.openxmlformats.org/drawingml/2006/main">
            <a:off x="457200" y="4438650"/>
            <a:ext cx="723900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63" name="">
            <a:extLst xmlns:a="http://schemas.openxmlformats.org/drawingml/2006/main">
              <a:ext uri="{FF2B5EF4-FFF2-40B4-BE49-F238E27FC236}">
                <a16:creationId xmlns:a16="http://schemas.microsoft.com/office/drawing/2014/main" id="{26AC92A4-51CC-4B9E-A1FE-1E7B7400B9F4}"/>
              </a:ext>
            </a:extLst>
          </p:cNvPr>
          <p:cNvSpPr>
            <a:spLocks xmlns:a="http://schemas.openxmlformats.org/drawingml/2006/main" noGrp="1"/>
          </p:cNvSpPr>
          <p:nvPr/>
        </p:nvSpPr>
        <p:spPr>
          <a:xfrm xmlns:a="http://schemas.openxmlformats.org/drawingml/2006/main">
            <a:off x="590550" y="4543425"/>
            <a:ext cx="29337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Core supply vccd1</a:t>
            </a:r>
          </a:p>
        </p:txBody>
      </p:sp>
      <p:sp>
        <p:nvSpPr>
          <p:cNvPr id="64" name="">
            <a:extLst xmlns:a="http://schemas.openxmlformats.org/drawingml/2006/main">
              <a:ext uri="{FF2B5EF4-FFF2-40B4-BE49-F238E27FC236}">
                <a16:creationId xmlns:a16="http://schemas.microsoft.com/office/drawing/2014/main" id="{78962B6B-9B61-4DBA-B548-AF7CF18584AD}"/>
              </a:ext>
            </a:extLst>
          </p:cNvPr>
          <p:cNvSpPr>
            <a:spLocks xmlns:a="http://schemas.openxmlformats.org/drawingml/2006/main" noGrp="1"/>
          </p:cNvSpPr>
          <p:nvPr/>
        </p:nvSpPr>
        <p:spPr>
          <a:xfrm xmlns:a="http://schemas.openxmlformats.org/drawingml/2006/main">
            <a:off x="3733800" y="4543425"/>
            <a:ext cx="9334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−0.3</a:t>
            </a:r>
          </a:p>
        </p:txBody>
      </p:sp>
      <p:sp>
        <p:nvSpPr>
          <p:cNvPr id="65" name="">
            <a:extLst xmlns:a="http://schemas.openxmlformats.org/drawingml/2006/main">
              <a:ext uri="{FF2B5EF4-FFF2-40B4-BE49-F238E27FC236}">
                <a16:creationId xmlns:a16="http://schemas.microsoft.com/office/drawing/2014/main" id="{BCA94372-249A-4794-BCD4-E98F235890A1}"/>
              </a:ext>
            </a:extLst>
          </p:cNvPr>
          <p:cNvSpPr>
            <a:spLocks xmlns:a="http://schemas.openxmlformats.org/drawingml/2006/main" noGrp="1"/>
          </p:cNvSpPr>
          <p:nvPr/>
        </p:nvSpPr>
        <p:spPr>
          <a:xfrm xmlns:a="http://schemas.openxmlformats.org/drawingml/2006/main">
            <a:off x="4876800" y="4543425"/>
            <a:ext cx="16954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1.95</a:t>
            </a:r>
          </a:p>
        </p:txBody>
      </p:sp>
      <p:sp>
        <p:nvSpPr>
          <p:cNvPr id="66" name="">
            <a:extLst xmlns:a="http://schemas.openxmlformats.org/drawingml/2006/main">
              <a:ext uri="{FF2B5EF4-FFF2-40B4-BE49-F238E27FC236}">
                <a16:creationId xmlns:a16="http://schemas.microsoft.com/office/drawing/2014/main" id="{D32BC147-053F-46C0-AA97-DC21A9C35CE9}"/>
              </a:ext>
            </a:extLst>
          </p:cNvPr>
          <p:cNvSpPr>
            <a:spLocks xmlns:a="http://schemas.openxmlformats.org/drawingml/2006/main" noGrp="1"/>
          </p:cNvSpPr>
          <p:nvPr/>
        </p:nvSpPr>
        <p:spPr>
          <a:xfrm xmlns:a="http://schemas.openxmlformats.org/drawingml/2006/main">
            <a:off x="6781800" y="4543425"/>
            <a:ext cx="8382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V</a:t>
            </a:r>
          </a:p>
        </p:txBody>
      </p:sp>
      <p:sp>
        <p:nvSpPr>
          <p:cNvPr id="67" name="">
            <a:extLst xmlns:a="http://schemas.openxmlformats.org/drawingml/2006/main">
              <a:ext uri="{FF2B5EF4-FFF2-40B4-BE49-F238E27FC236}">
                <a16:creationId xmlns:a16="http://schemas.microsoft.com/office/drawing/2014/main" id="{38B2820E-DC41-4076-84B1-0887675486F7}"/>
              </a:ext>
            </a:extLst>
          </p:cNvPr>
          <p:cNvSpPr>
            <a:spLocks xmlns:a="http://schemas.openxmlformats.org/drawingml/2006/main" noGrp="1"/>
          </p:cNvSpPr>
          <p:nvPr/>
        </p:nvSpPr>
        <p:spPr>
          <a:xfrm xmlns:a="http://schemas.openxmlformats.org/drawingml/2006/main">
            <a:off x="457200" y="4762500"/>
            <a:ext cx="7239000" cy="32385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68" name="">
            <a:extLst xmlns:a="http://schemas.openxmlformats.org/drawingml/2006/main">
              <a:ext uri="{FF2B5EF4-FFF2-40B4-BE49-F238E27FC236}">
                <a16:creationId xmlns:a16="http://schemas.microsoft.com/office/drawing/2014/main" id="{323913F4-2C57-43A7-83AD-DE43E4E4123C}"/>
              </a:ext>
            </a:extLst>
          </p:cNvPr>
          <p:cNvSpPr>
            <a:spLocks xmlns:a="http://schemas.openxmlformats.org/drawingml/2006/main" noGrp="1"/>
          </p:cNvSpPr>
          <p:nvPr/>
        </p:nvSpPr>
        <p:spPr>
          <a:xfrm xmlns:a="http://schemas.openxmlformats.org/drawingml/2006/main">
            <a:off x="590550" y="4867275"/>
            <a:ext cx="29337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I/O supply vddio</a:t>
            </a:r>
          </a:p>
        </p:txBody>
      </p:sp>
      <p:sp>
        <p:nvSpPr>
          <p:cNvPr id="69" name="">
            <a:extLst xmlns:a="http://schemas.openxmlformats.org/drawingml/2006/main">
              <a:ext uri="{FF2B5EF4-FFF2-40B4-BE49-F238E27FC236}">
                <a16:creationId xmlns:a16="http://schemas.microsoft.com/office/drawing/2014/main" id="{D0E66CE1-5A57-4933-A02B-C9DBF16A23D6}"/>
              </a:ext>
            </a:extLst>
          </p:cNvPr>
          <p:cNvSpPr>
            <a:spLocks xmlns:a="http://schemas.openxmlformats.org/drawingml/2006/main" noGrp="1"/>
          </p:cNvSpPr>
          <p:nvPr/>
        </p:nvSpPr>
        <p:spPr>
          <a:xfrm xmlns:a="http://schemas.openxmlformats.org/drawingml/2006/main">
            <a:off x="3733800" y="4867275"/>
            <a:ext cx="9334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−0.3</a:t>
            </a:r>
          </a:p>
        </p:txBody>
      </p:sp>
      <p:sp>
        <p:nvSpPr>
          <p:cNvPr id="70" name="">
            <a:extLst xmlns:a="http://schemas.openxmlformats.org/drawingml/2006/main">
              <a:ext uri="{FF2B5EF4-FFF2-40B4-BE49-F238E27FC236}">
                <a16:creationId xmlns:a16="http://schemas.microsoft.com/office/drawing/2014/main" id="{7317F1FD-086C-44AD-8BD0-F07D545ACA1D}"/>
              </a:ext>
            </a:extLst>
          </p:cNvPr>
          <p:cNvSpPr>
            <a:spLocks xmlns:a="http://schemas.openxmlformats.org/drawingml/2006/main" noGrp="1"/>
          </p:cNvSpPr>
          <p:nvPr/>
        </p:nvSpPr>
        <p:spPr>
          <a:xfrm xmlns:a="http://schemas.openxmlformats.org/drawingml/2006/main">
            <a:off x="4876800" y="4867275"/>
            <a:ext cx="16954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3.63</a:t>
            </a:r>
          </a:p>
        </p:txBody>
      </p:sp>
      <p:sp>
        <p:nvSpPr>
          <p:cNvPr id="71" name="">
            <a:extLst xmlns:a="http://schemas.openxmlformats.org/drawingml/2006/main">
              <a:ext uri="{FF2B5EF4-FFF2-40B4-BE49-F238E27FC236}">
                <a16:creationId xmlns:a16="http://schemas.microsoft.com/office/drawing/2014/main" id="{470C4AC1-809D-46F6-BBD0-582C9FC2B86D}"/>
              </a:ext>
            </a:extLst>
          </p:cNvPr>
          <p:cNvSpPr>
            <a:spLocks xmlns:a="http://schemas.openxmlformats.org/drawingml/2006/main" noGrp="1"/>
          </p:cNvSpPr>
          <p:nvPr/>
        </p:nvSpPr>
        <p:spPr>
          <a:xfrm xmlns:a="http://schemas.openxmlformats.org/drawingml/2006/main">
            <a:off x="6781800" y="4867275"/>
            <a:ext cx="8382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V</a:t>
            </a:r>
          </a:p>
        </p:txBody>
      </p:sp>
      <p:sp>
        <p:nvSpPr>
          <p:cNvPr id="72" name="">
            <a:extLst xmlns:a="http://schemas.openxmlformats.org/drawingml/2006/main">
              <a:ext uri="{FF2B5EF4-FFF2-40B4-BE49-F238E27FC236}">
                <a16:creationId xmlns:a16="http://schemas.microsoft.com/office/drawing/2014/main" id="{58CFD235-36CD-45F0-B3F7-1CACD4E45F27}"/>
              </a:ext>
            </a:extLst>
          </p:cNvPr>
          <p:cNvSpPr>
            <a:spLocks xmlns:a="http://schemas.openxmlformats.org/drawingml/2006/main" noGrp="1"/>
          </p:cNvSpPr>
          <p:nvPr/>
        </p:nvSpPr>
        <p:spPr>
          <a:xfrm xmlns:a="http://schemas.openxmlformats.org/drawingml/2006/main">
            <a:off x="457200" y="5086350"/>
            <a:ext cx="723900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73" name="">
            <a:extLst xmlns:a="http://schemas.openxmlformats.org/drawingml/2006/main">
              <a:ext uri="{FF2B5EF4-FFF2-40B4-BE49-F238E27FC236}">
                <a16:creationId xmlns:a16="http://schemas.microsoft.com/office/drawing/2014/main" id="{6054B34C-4FDE-4A4B-9F51-E06D6B5A5ECE}"/>
              </a:ext>
            </a:extLst>
          </p:cNvPr>
          <p:cNvSpPr>
            <a:spLocks xmlns:a="http://schemas.openxmlformats.org/drawingml/2006/main" noGrp="1"/>
          </p:cNvSpPr>
          <p:nvPr/>
        </p:nvSpPr>
        <p:spPr>
          <a:xfrm xmlns:a="http://schemas.openxmlformats.org/drawingml/2006/main">
            <a:off x="590550" y="5191125"/>
            <a:ext cx="29337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Any digital pad</a:t>
            </a:r>
          </a:p>
        </p:txBody>
      </p:sp>
      <p:sp>
        <p:nvSpPr>
          <p:cNvPr id="74" name="">
            <a:extLst xmlns:a="http://schemas.openxmlformats.org/drawingml/2006/main">
              <a:ext uri="{FF2B5EF4-FFF2-40B4-BE49-F238E27FC236}">
                <a16:creationId xmlns:a16="http://schemas.microsoft.com/office/drawing/2014/main" id="{F81CD8E2-D68D-4E08-A67F-7E1A28FC2DA8}"/>
              </a:ext>
            </a:extLst>
          </p:cNvPr>
          <p:cNvSpPr>
            <a:spLocks xmlns:a="http://schemas.openxmlformats.org/drawingml/2006/main" noGrp="1"/>
          </p:cNvSpPr>
          <p:nvPr/>
        </p:nvSpPr>
        <p:spPr>
          <a:xfrm xmlns:a="http://schemas.openxmlformats.org/drawingml/2006/main">
            <a:off x="3733800" y="5191125"/>
            <a:ext cx="9334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−0.3</a:t>
            </a:r>
          </a:p>
        </p:txBody>
      </p:sp>
      <p:sp>
        <p:nvSpPr>
          <p:cNvPr id="75" name="">
            <a:extLst xmlns:a="http://schemas.openxmlformats.org/drawingml/2006/main">
              <a:ext uri="{FF2B5EF4-FFF2-40B4-BE49-F238E27FC236}">
                <a16:creationId xmlns:a16="http://schemas.microsoft.com/office/drawing/2014/main" id="{2E2F9665-B4F8-4AB7-9FE0-CB1346A26D23}"/>
              </a:ext>
            </a:extLst>
          </p:cNvPr>
          <p:cNvSpPr>
            <a:spLocks xmlns:a="http://schemas.openxmlformats.org/drawingml/2006/main" noGrp="1"/>
          </p:cNvSpPr>
          <p:nvPr/>
        </p:nvSpPr>
        <p:spPr>
          <a:xfrm xmlns:a="http://schemas.openxmlformats.org/drawingml/2006/main">
            <a:off x="4876800" y="5191125"/>
            <a:ext cx="16954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vddio + 0.3</a:t>
            </a:r>
          </a:p>
        </p:txBody>
      </p:sp>
      <p:sp>
        <p:nvSpPr>
          <p:cNvPr id="76" name="">
            <a:extLst xmlns:a="http://schemas.openxmlformats.org/drawingml/2006/main">
              <a:ext uri="{FF2B5EF4-FFF2-40B4-BE49-F238E27FC236}">
                <a16:creationId xmlns:a16="http://schemas.microsoft.com/office/drawing/2014/main" id="{224D7970-6E37-4BB4-86D4-A9A93D2280EE}"/>
              </a:ext>
            </a:extLst>
          </p:cNvPr>
          <p:cNvSpPr>
            <a:spLocks xmlns:a="http://schemas.openxmlformats.org/drawingml/2006/main" noGrp="1"/>
          </p:cNvSpPr>
          <p:nvPr/>
        </p:nvSpPr>
        <p:spPr>
          <a:xfrm xmlns:a="http://schemas.openxmlformats.org/drawingml/2006/main">
            <a:off x="6781800" y="5191125"/>
            <a:ext cx="8382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V</a:t>
            </a:r>
          </a:p>
        </p:txBody>
      </p:sp>
      <p:sp>
        <p:nvSpPr>
          <p:cNvPr id="77" name="">
            <a:extLst xmlns:a="http://schemas.openxmlformats.org/drawingml/2006/main">
              <a:ext uri="{FF2B5EF4-FFF2-40B4-BE49-F238E27FC236}">
                <a16:creationId xmlns:a16="http://schemas.microsoft.com/office/drawing/2014/main" id="{C05FA52B-6CCE-4834-97CC-C34592B8B70B}"/>
              </a:ext>
            </a:extLst>
          </p:cNvPr>
          <p:cNvSpPr>
            <a:spLocks xmlns:a="http://schemas.openxmlformats.org/drawingml/2006/main" noGrp="1"/>
          </p:cNvSpPr>
          <p:nvPr/>
        </p:nvSpPr>
        <p:spPr>
          <a:xfrm xmlns:a="http://schemas.openxmlformats.org/drawingml/2006/main">
            <a:off x="457200" y="5410200"/>
            <a:ext cx="7239000" cy="32385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78" name="">
            <a:extLst xmlns:a="http://schemas.openxmlformats.org/drawingml/2006/main">
              <a:ext uri="{FF2B5EF4-FFF2-40B4-BE49-F238E27FC236}">
                <a16:creationId xmlns:a16="http://schemas.microsoft.com/office/drawing/2014/main" id="{8D8F8AA8-9532-4C7B-8C54-C3BFB4380E55}"/>
              </a:ext>
            </a:extLst>
          </p:cNvPr>
          <p:cNvSpPr>
            <a:spLocks xmlns:a="http://schemas.openxmlformats.org/drawingml/2006/main" noGrp="1"/>
          </p:cNvSpPr>
          <p:nvPr/>
        </p:nvSpPr>
        <p:spPr>
          <a:xfrm xmlns:a="http://schemas.openxmlformats.org/drawingml/2006/main">
            <a:off x="590550" y="5514975"/>
            <a:ext cx="29337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Analog pad</a:t>
            </a:r>
          </a:p>
        </p:txBody>
      </p:sp>
      <p:sp>
        <p:nvSpPr>
          <p:cNvPr id="79" name="">
            <a:extLst xmlns:a="http://schemas.openxmlformats.org/drawingml/2006/main">
              <a:ext uri="{FF2B5EF4-FFF2-40B4-BE49-F238E27FC236}">
                <a16:creationId xmlns:a16="http://schemas.microsoft.com/office/drawing/2014/main" id="{6A8D5F70-7AB5-431A-85B6-73EE1DCA2E24}"/>
              </a:ext>
            </a:extLst>
          </p:cNvPr>
          <p:cNvSpPr>
            <a:spLocks xmlns:a="http://schemas.openxmlformats.org/drawingml/2006/main" noGrp="1"/>
          </p:cNvSpPr>
          <p:nvPr/>
        </p:nvSpPr>
        <p:spPr>
          <a:xfrm xmlns:a="http://schemas.openxmlformats.org/drawingml/2006/main">
            <a:off x="3733800" y="5514975"/>
            <a:ext cx="9334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−0.3</a:t>
            </a:r>
          </a:p>
        </p:txBody>
      </p:sp>
      <p:sp>
        <p:nvSpPr>
          <p:cNvPr id="80" name="">
            <a:extLst xmlns:a="http://schemas.openxmlformats.org/drawingml/2006/main">
              <a:ext uri="{FF2B5EF4-FFF2-40B4-BE49-F238E27FC236}">
                <a16:creationId xmlns:a16="http://schemas.microsoft.com/office/drawing/2014/main" id="{9B1FE954-86E8-45AE-867C-9B2FE4BC3C58}"/>
              </a:ext>
            </a:extLst>
          </p:cNvPr>
          <p:cNvSpPr>
            <a:spLocks xmlns:a="http://schemas.openxmlformats.org/drawingml/2006/main" noGrp="1"/>
          </p:cNvSpPr>
          <p:nvPr/>
        </p:nvSpPr>
        <p:spPr>
          <a:xfrm xmlns:a="http://schemas.openxmlformats.org/drawingml/2006/main">
            <a:off x="4876800" y="5514975"/>
            <a:ext cx="16954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vccd1 + 0.3</a:t>
            </a:r>
          </a:p>
        </p:txBody>
      </p:sp>
      <p:sp>
        <p:nvSpPr>
          <p:cNvPr id="81" name="">
            <a:extLst xmlns:a="http://schemas.openxmlformats.org/drawingml/2006/main">
              <a:ext uri="{FF2B5EF4-FFF2-40B4-BE49-F238E27FC236}">
                <a16:creationId xmlns:a16="http://schemas.microsoft.com/office/drawing/2014/main" id="{5F8103E8-A80B-4DC5-8C45-4EE7752A2537}"/>
              </a:ext>
            </a:extLst>
          </p:cNvPr>
          <p:cNvSpPr>
            <a:spLocks xmlns:a="http://schemas.openxmlformats.org/drawingml/2006/main" noGrp="1"/>
          </p:cNvSpPr>
          <p:nvPr/>
        </p:nvSpPr>
        <p:spPr>
          <a:xfrm xmlns:a="http://schemas.openxmlformats.org/drawingml/2006/main">
            <a:off x="6781800" y="5514975"/>
            <a:ext cx="8382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V</a:t>
            </a:r>
          </a:p>
        </p:txBody>
      </p:sp>
      <p:sp>
        <p:nvSpPr>
          <p:cNvPr id="82" name="">
            <a:extLst xmlns:a="http://schemas.openxmlformats.org/drawingml/2006/main">
              <a:ext uri="{FF2B5EF4-FFF2-40B4-BE49-F238E27FC236}">
                <a16:creationId xmlns:a16="http://schemas.microsoft.com/office/drawing/2014/main" id="{F84C474C-8441-48E2-A1F3-449535427D1C}"/>
              </a:ext>
            </a:extLst>
          </p:cNvPr>
          <p:cNvSpPr>
            <a:spLocks xmlns:a="http://schemas.openxmlformats.org/drawingml/2006/main" noGrp="1"/>
          </p:cNvSpPr>
          <p:nvPr/>
        </p:nvSpPr>
        <p:spPr>
          <a:xfrm xmlns:a="http://schemas.openxmlformats.org/drawingml/2006/main">
            <a:off x="457200" y="5734050"/>
            <a:ext cx="723900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83" name="">
            <a:extLst xmlns:a="http://schemas.openxmlformats.org/drawingml/2006/main">
              <a:ext uri="{FF2B5EF4-FFF2-40B4-BE49-F238E27FC236}">
                <a16:creationId xmlns:a16="http://schemas.microsoft.com/office/drawing/2014/main" id="{B36B82B4-D2DA-432D-AFEB-C29C3A13D4CC}"/>
              </a:ext>
            </a:extLst>
          </p:cNvPr>
          <p:cNvSpPr>
            <a:spLocks xmlns:a="http://schemas.openxmlformats.org/drawingml/2006/main" noGrp="1"/>
          </p:cNvSpPr>
          <p:nvPr/>
        </p:nvSpPr>
        <p:spPr>
          <a:xfrm xmlns:a="http://schemas.openxmlformats.org/drawingml/2006/main">
            <a:off x="590550" y="5838825"/>
            <a:ext cx="29337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Storage temperature (target)</a:t>
            </a:r>
          </a:p>
        </p:txBody>
      </p:sp>
      <p:sp>
        <p:nvSpPr>
          <p:cNvPr id="84" name="">
            <a:extLst xmlns:a="http://schemas.openxmlformats.org/drawingml/2006/main">
              <a:ext uri="{FF2B5EF4-FFF2-40B4-BE49-F238E27FC236}">
                <a16:creationId xmlns:a16="http://schemas.microsoft.com/office/drawing/2014/main" id="{8941AFD6-BAF2-444C-B8CB-479098E2D1AA}"/>
              </a:ext>
            </a:extLst>
          </p:cNvPr>
          <p:cNvSpPr>
            <a:spLocks xmlns:a="http://schemas.openxmlformats.org/drawingml/2006/main" noGrp="1"/>
          </p:cNvSpPr>
          <p:nvPr/>
        </p:nvSpPr>
        <p:spPr>
          <a:xfrm xmlns:a="http://schemas.openxmlformats.org/drawingml/2006/main">
            <a:off x="3733800" y="5838825"/>
            <a:ext cx="9334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−40</a:t>
            </a:r>
          </a:p>
        </p:txBody>
      </p:sp>
      <p:sp>
        <p:nvSpPr>
          <p:cNvPr id="85" name="">
            <a:extLst xmlns:a="http://schemas.openxmlformats.org/drawingml/2006/main">
              <a:ext uri="{FF2B5EF4-FFF2-40B4-BE49-F238E27FC236}">
                <a16:creationId xmlns:a16="http://schemas.microsoft.com/office/drawing/2014/main" id="{48EF447F-6B15-4E09-9EF7-40FCEC099996}"/>
              </a:ext>
            </a:extLst>
          </p:cNvPr>
          <p:cNvSpPr>
            <a:spLocks xmlns:a="http://schemas.openxmlformats.org/drawingml/2006/main" noGrp="1"/>
          </p:cNvSpPr>
          <p:nvPr/>
        </p:nvSpPr>
        <p:spPr>
          <a:xfrm xmlns:a="http://schemas.openxmlformats.org/drawingml/2006/main">
            <a:off x="4876800" y="5838825"/>
            <a:ext cx="16954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125</a:t>
            </a:r>
          </a:p>
        </p:txBody>
      </p:sp>
      <p:sp>
        <p:nvSpPr>
          <p:cNvPr id="86" name="">
            <a:extLst xmlns:a="http://schemas.openxmlformats.org/drawingml/2006/main">
              <a:ext uri="{FF2B5EF4-FFF2-40B4-BE49-F238E27FC236}">
                <a16:creationId xmlns:a16="http://schemas.microsoft.com/office/drawing/2014/main" id="{E4EEB3FC-1BF0-48C5-AE36-D32969E94D75}"/>
              </a:ext>
            </a:extLst>
          </p:cNvPr>
          <p:cNvSpPr>
            <a:spLocks xmlns:a="http://schemas.openxmlformats.org/drawingml/2006/main" noGrp="1"/>
          </p:cNvSpPr>
          <p:nvPr/>
        </p:nvSpPr>
        <p:spPr>
          <a:xfrm xmlns:a="http://schemas.openxmlformats.org/drawingml/2006/main">
            <a:off x="6781800" y="5838825"/>
            <a:ext cx="8382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°C</a:t>
            </a:r>
          </a:p>
        </p:txBody>
      </p:sp>
      <p:sp>
        <p:nvSpPr>
          <p:cNvPr id="87" name="">
            <a:extLst xmlns:a="http://schemas.openxmlformats.org/drawingml/2006/main">
              <a:ext uri="{FF2B5EF4-FFF2-40B4-BE49-F238E27FC236}">
                <a16:creationId xmlns:a16="http://schemas.microsoft.com/office/drawing/2014/main" id="{53E57CE9-BA6A-4490-87C7-BA78BA81D261}"/>
              </a:ext>
            </a:extLst>
          </p:cNvPr>
          <p:cNvSpPr>
            <a:spLocks xmlns:a="http://schemas.openxmlformats.org/drawingml/2006/main" noGrp="1"/>
          </p:cNvSpPr>
          <p:nvPr/>
        </p:nvSpPr>
        <p:spPr>
          <a:xfrm xmlns:a="http://schemas.openxmlformats.org/drawingml/2006/main">
            <a:off x="7962900" y="4095750"/>
            <a:ext cx="3771900" cy="1733550"/>
          </a:xfrm>
          <a:prstGeom xmlns:a="http://schemas.openxmlformats.org/drawingml/2006/main" prst="roundRect">
            <a:avLst>
              <a:gd name="adj" fmla="val 4396"/>
            </a:avLst>
          </a:prstGeom>
          <a:solidFill xmlns:a="http://schemas.openxmlformats.org/drawingml/2006/main">
            <a:srgbClr val="FFFFFF"/>
          </a:solidFill>
          <a:ln xmlns:a="http://schemas.openxmlformats.org/drawingml/2006/main" w="9525">
            <a:solidFill>
              <a:srgbClr val="E2E8F0"/>
            </a:solidFill>
            <a:prstDash val="solid"/>
          </a:ln>
        </p:spPr>
      </p:sp>
      <p:sp>
        <p:nvSpPr>
          <p:cNvPr id="88" name="">
            <a:extLst xmlns:a="http://schemas.openxmlformats.org/drawingml/2006/main">
              <a:ext uri="{FF2B5EF4-FFF2-40B4-BE49-F238E27FC236}">
                <a16:creationId xmlns:a16="http://schemas.microsoft.com/office/drawing/2014/main" id="{CFB5C1D3-16F0-47F3-8073-EFE75405B1DE}"/>
              </a:ext>
            </a:extLst>
          </p:cNvPr>
          <p:cNvSpPr>
            <a:spLocks xmlns:a="http://schemas.openxmlformats.org/drawingml/2006/main" noGrp="1"/>
          </p:cNvSpPr>
          <p:nvPr/>
        </p:nvSpPr>
        <p:spPr>
          <a:xfrm xmlns:a="http://schemas.openxmlformats.org/drawingml/2006/main">
            <a:off x="7962900" y="4095750"/>
            <a:ext cx="57150" cy="1733550"/>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89" name="">
            <a:extLst xmlns:a="http://schemas.openxmlformats.org/drawingml/2006/main">
              <a:ext uri="{FF2B5EF4-FFF2-40B4-BE49-F238E27FC236}">
                <a16:creationId xmlns:a16="http://schemas.microsoft.com/office/drawing/2014/main" id="{044CBCEA-588A-4479-948D-5EEC8BBB1521}"/>
              </a:ext>
            </a:extLst>
          </p:cNvPr>
          <p:cNvSpPr>
            <a:spLocks xmlns:a="http://schemas.openxmlformats.org/drawingml/2006/main" noGrp="1"/>
          </p:cNvSpPr>
          <p:nvPr/>
        </p:nvSpPr>
        <p:spPr>
          <a:xfrm xmlns:a="http://schemas.openxmlformats.org/drawingml/2006/main">
            <a:off x="8191500" y="4286250"/>
            <a:ext cx="33528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Why every row is provisional</a:t>
            </a:r>
          </a:p>
        </p:txBody>
      </p:sp>
      <p:sp>
        <p:nvSpPr>
          <p:cNvPr id="90" name="">
            <a:extLst xmlns:a="http://schemas.openxmlformats.org/drawingml/2006/main">
              <a:ext uri="{FF2B5EF4-FFF2-40B4-BE49-F238E27FC236}">
                <a16:creationId xmlns:a16="http://schemas.microsoft.com/office/drawing/2014/main" id="{5248B6CB-B3E3-4DA0-A212-890D59D39B13}"/>
              </a:ext>
            </a:extLst>
          </p:cNvPr>
          <p:cNvSpPr>
            <a:spLocks xmlns:a="http://schemas.openxmlformats.org/drawingml/2006/main" noGrp="1"/>
          </p:cNvSpPr>
          <p:nvPr/>
        </p:nvSpPr>
        <p:spPr>
          <a:xfrm xmlns:a="http://schemas.openxmlformats.org/drawingml/2006/main">
            <a:off x="8191500" y="4648200"/>
            <a:ext cx="3314700" cy="1047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These are process nominals for this die’s supply domains. First-silicon characterisation replaces the section.</a:t>
            </a:r>
          </a:p>
        </p:txBody>
      </p:sp>
      <p:sp>
        <p:nvSpPr>
          <p:cNvPr id="91" name="">
            <a:extLst xmlns:a="http://schemas.openxmlformats.org/drawingml/2006/main">
              <a:ext uri="{FF2B5EF4-FFF2-40B4-BE49-F238E27FC236}">
                <a16:creationId xmlns:a16="http://schemas.microsoft.com/office/drawing/2014/main" id="{D672C262-8780-4638-9815-DD0318F369B1}"/>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6B7280"/>
                </a:solidFill>
                <a:latin typeface="Arial"/>
                <a:ea typeface="Arial"/>
                <a:cs typeface="Arial"/>
              </a:defRPr>
            </a:pPr>
            <a:r>
              <a:t>Source: DG32-LITE preliminary datasheet §4.1–4.2. Absolute maximums are process limits, pre-characterisation.</a:t>
            </a:r>
          </a:p>
        </p:txBody>
      </p:sp>
    </p:spTree>
    <p:extLst>
      <p:ext uri="{BB962C8B-B14F-4D97-AF65-F5344CB8AC3E}">
        <p14:creationId xmlns:p14="http://schemas.microsoft.com/office/powerpoint/2010/main" val="1368735151"/>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64" name="">
            <a:extLst xmlns:a="http://schemas.openxmlformats.org/drawingml/2006/main">
              <a:ext uri="{FF2B5EF4-FFF2-40B4-BE49-F238E27FC236}">
                <a16:creationId xmlns:a16="http://schemas.microsoft.com/office/drawing/2014/main" id="{E54D07FE-3867-425B-A196-E1EAD25ED84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D6E0FE0-062E-4C12-BC04-A9A1C835BE30}"/>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77A3"/>
                </a:solidFill>
                <a:latin typeface="Arial"/>
                <a:ea typeface="Arial"/>
                <a:cs typeface="Arial"/>
              </a:defRPr>
            </a:pPr>
            <a:r>
              <a:t>07 · POWER</a:t>
            </a:r>
          </a:p>
        </p:txBody>
      </p:sp>
      <p:sp>
        <p:nvSpPr>
          <p:cNvPr id="3" name="">
            <a:extLst xmlns:a="http://schemas.openxmlformats.org/drawingml/2006/main">
              <a:ext uri="{FF2B5EF4-FFF2-40B4-BE49-F238E27FC236}">
                <a16:creationId xmlns:a16="http://schemas.microsoft.com/office/drawing/2014/main" id="{ECA69FD5-B363-4EF0-8379-64744C3A1678}"/>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All logic draws from one 1.8 V rail</a:t>
            </a:r>
          </a:p>
        </p:txBody>
      </p:sp>
      <p:sp>
        <p:nvSpPr>
          <p:cNvPr id="4" name="">
            <a:extLst xmlns:a="http://schemas.openxmlformats.org/drawingml/2006/main">
              <a:ext uri="{FF2B5EF4-FFF2-40B4-BE49-F238E27FC236}">
                <a16:creationId xmlns:a16="http://schemas.microsoft.com/office/drawing/2014/main" id="{24208748-2770-4D6D-BE41-2E0831AC1269}"/>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Which rails are required, which are tie-offs, and the order they come up</a:t>
            </a:r>
          </a:p>
        </p:txBody>
      </p:sp>
      <p:sp>
        <p:nvSpPr>
          <p:cNvPr id="5" name="">
            <a:extLst xmlns:a="http://schemas.openxmlformats.org/drawingml/2006/main">
              <a:ext uri="{FF2B5EF4-FFF2-40B4-BE49-F238E27FC236}">
                <a16:creationId xmlns:a16="http://schemas.microsoft.com/office/drawing/2014/main" id="{D4C74F48-AE9A-4318-B606-9611EBA4038D}"/>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6779B64-CC7C-4E9D-97AC-922E2D0525D6}"/>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FC1E9D7-B623-4EDF-A186-E83BC3518E43}"/>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DEEPGRID SEMI  ·  DG32-LITE PRELIMINARY DATASHEET  ·  SEPTEMBER 2026  ·  PRE-SILICON</a:t>
            </a:r>
          </a:p>
        </p:txBody>
      </p:sp>
      <p:sp>
        <p:nvSpPr>
          <p:cNvPr id="8" name="">
            <a:extLst xmlns:a="http://schemas.openxmlformats.org/drawingml/2006/main">
              <a:ext uri="{FF2B5EF4-FFF2-40B4-BE49-F238E27FC236}">
                <a16:creationId xmlns:a16="http://schemas.microsoft.com/office/drawing/2014/main" id="{DB832762-F2B0-4824-81D1-B235E85FC138}"/>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07</a:t>
            </a:r>
          </a:p>
        </p:txBody>
      </p:sp>
      <p:sp>
        <p:nvSpPr>
          <p:cNvPr id="9" name="">
            <a:extLst xmlns:a="http://schemas.openxmlformats.org/drawingml/2006/main">
              <a:ext uri="{FF2B5EF4-FFF2-40B4-BE49-F238E27FC236}">
                <a16:creationId xmlns:a16="http://schemas.microsoft.com/office/drawing/2014/main" id="{0F07D35B-3403-47DD-8470-2E2AF4DFAE65}"/>
              </a:ext>
            </a:extLst>
          </p:cNvPr>
          <p:cNvSpPr>
            <a:spLocks xmlns:a="http://schemas.openxmlformats.org/drawingml/2006/main" noGrp="1"/>
          </p:cNvSpPr>
          <p:nvPr/>
        </p:nvSpPr>
        <p:spPr>
          <a:xfrm xmlns:a="http://schemas.openxmlformats.org/drawingml/2006/main">
            <a:off x="457200" y="1638300"/>
            <a:ext cx="6667500" cy="36195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654AE1E-BF3C-4937-9362-52A944B2B779}"/>
              </a:ext>
            </a:extLst>
          </p:cNvPr>
          <p:cNvSpPr>
            <a:spLocks xmlns:a="http://schemas.openxmlformats.org/drawingml/2006/main" noGrp="1"/>
          </p:cNvSpPr>
          <p:nvPr/>
        </p:nvSpPr>
        <p:spPr>
          <a:xfrm xmlns:a="http://schemas.openxmlformats.org/drawingml/2006/main">
            <a:off x="590550" y="1752600"/>
            <a:ext cx="12382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RAIL</a:t>
            </a:r>
          </a:p>
        </p:txBody>
      </p:sp>
      <p:sp>
        <p:nvSpPr>
          <p:cNvPr id="11" name="">
            <a:extLst xmlns:a="http://schemas.openxmlformats.org/drawingml/2006/main">
              <a:ext uri="{FF2B5EF4-FFF2-40B4-BE49-F238E27FC236}">
                <a16:creationId xmlns:a16="http://schemas.microsoft.com/office/drawing/2014/main" id="{96725632-8B6F-4F89-8BEA-BDF905C87D96}"/>
              </a:ext>
            </a:extLst>
          </p:cNvPr>
          <p:cNvSpPr>
            <a:spLocks xmlns:a="http://schemas.openxmlformats.org/drawingml/2006/main" noGrp="1"/>
          </p:cNvSpPr>
          <p:nvPr/>
        </p:nvSpPr>
        <p:spPr>
          <a:xfrm xmlns:a="http://schemas.openxmlformats.org/drawingml/2006/main">
            <a:off x="2019300" y="1752600"/>
            <a:ext cx="13335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PINS</a:t>
            </a:r>
          </a:p>
        </p:txBody>
      </p:sp>
      <p:sp>
        <p:nvSpPr>
          <p:cNvPr id="12" name="">
            <a:extLst xmlns:a="http://schemas.openxmlformats.org/drawingml/2006/main">
              <a:ext uri="{FF2B5EF4-FFF2-40B4-BE49-F238E27FC236}">
                <a16:creationId xmlns:a16="http://schemas.microsoft.com/office/drawing/2014/main" id="{E21BDE0F-0F52-4FF4-B56C-A9293B1DD609}"/>
              </a:ext>
            </a:extLst>
          </p:cNvPr>
          <p:cNvSpPr>
            <a:spLocks xmlns:a="http://schemas.openxmlformats.org/drawingml/2006/main" noGrp="1"/>
          </p:cNvSpPr>
          <p:nvPr/>
        </p:nvSpPr>
        <p:spPr>
          <a:xfrm xmlns:a="http://schemas.openxmlformats.org/drawingml/2006/main">
            <a:off x="3543300" y="1752600"/>
            <a:ext cx="8572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VOLTAGE</a:t>
            </a:r>
          </a:p>
        </p:txBody>
      </p:sp>
      <p:sp>
        <p:nvSpPr>
          <p:cNvPr id="13" name="">
            <a:extLst xmlns:a="http://schemas.openxmlformats.org/drawingml/2006/main">
              <a:ext uri="{FF2B5EF4-FFF2-40B4-BE49-F238E27FC236}">
                <a16:creationId xmlns:a16="http://schemas.microsoft.com/office/drawing/2014/main" id="{416B0F88-4936-4C01-96FE-F9E4424F84C7}"/>
              </a:ext>
            </a:extLst>
          </p:cNvPr>
          <p:cNvSpPr>
            <a:spLocks xmlns:a="http://schemas.openxmlformats.org/drawingml/2006/main" noGrp="1"/>
          </p:cNvSpPr>
          <p:nvPr/>
        </p:nvSpPr>
        <p:spPr>
          <a:xfrm xmlns:a="http://schemas.openxmlformats.org/drawingml/2006/main">
            <a:off x="4591050" y="1752600"/>
            <a:ext cx="24765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ROLE</a:t>
            </a:r>
          </a:p>
        </p:txBody>
      </p:sp>
      <p:sp>
        <p:nvSpPr>
          <p:cNvPr id="14" name="">
            <a:extLst xmlns:a="http://schemas.openxmlformats.org/drawingml/2006/main">
              <a:ext uri="{FF2B5EF4-FFF2-40B4-BE49-F238E27FC236}">
                <a16:creationId xmlns:a16="http://schemas.microsoft.com/office/drawing/2014/main" id="{82D074A5-A4FA-455B-9B3C-539BAA1DD363}"/>
              </a:ext>
            </a:extLst>
          </p:cNvPr>
          <p:cNvSpPr>
            <a:spLocks xmlns:a="http://schemas.openxmlformats.org/drawingml/2006/main" noGrp="1"/>
          </p:cNvSpPr>
          <p:nvPr/>
        </p:nvSpPr>
        <p:spPr>
          <a:xfrm xmlns:a="http://schemas.openxmlformats.org/drawingml/2006/main">
            <a:off x="457200" y="2000250"/>
            <a:ext cx="6667500" cy="419100"/>
          </a:xfrm>
          <a:prstGeom xmlns:a="http://schemas.openxmlformats.org/drawingml/2006/main" prst="rect">
            <a:avLst/>
          </a:prstGeom>
          <a:solidFill xmlns:a="http://schemas.openxmlformats.org/drawingml/2006/main">
            <a:srgbClr val="E8F8FC"/>
          </a:solidFill>
          <a:ln xmlns:a="http://schemas.openxmlformats.org/drawingml/2006/main" w="9525">
            <a:solidFill>
              <a:srgbClr val="E2E8F0"/>
            </a:solidFill>
            <a:prstDash val="solid"/>
          </a:ln>
        </p:spPr>
      </p:sp>
      <p:sp>
        <p:nvSpPr>
          <p:cNvPr id="15" name="">
            <a:extLst xmlns:a="http://schemas.openxmlformats.org/drawingml/2006/main">
              <a:ext uri="{FF2B5EF4-FFF2-40B4-BE49-F238E27FC236}">
                <a16:creationId xmlns:a16="http://schemas.microsoft.com/office/drawing/2014/main" id="{948D04F6-8F4B-4F63-83A0-E10DC19395B9}"/>
              </a:ext>
            </a:extLst>
          </p:cNvPr>
          <p:cNvSpPr>
            <a:spLocks xmlns:a="http://schemas.openxmlformats.org/drawingml/2006/main" noGrp="1"/>
          </p:cNvSpPr>
          <p:nvPr/>
        </p:nvSpPr>
        <p:spPr>
          <a:xfrm xmlns:a="http://schemas.openxmlformats.org/drawingml/2006/main">
            <a:off x="457200" y="2000250"/>
            <a:ext cx="47625" cy="419100"/>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83CE3D6-9979-44D6-8A62-E365F06BA6CD}"/>
              </a:ext>
            </a:extLst>
          </p:cNvPr>
          <p:cNvSpPr>
            <a:spLocks xmlns:a="http://schemas.openxmlformats.org/drawingml/2006/main" noGrp="1"/>
          </p:cNvSpPr>
          <p:nvPr/>
        </p:nvSpPr>
        <p:spPr>
          <a:xfrm xmlns:a="http://schemas.openxmlformats.org/drawingml/2006/main">
            <a:off x="590550" y="2105025"/>
            <a:ext cx="12192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vccd1</a:t>
            </a:r>
          </a:p>
        </p:txBody>
      </p:sp>
      <p:sp>
        <p:nvSpPr>
          <p:cNvPr id="17" name="">
            <a:extLst xmlns:a="http://schemas.openxmlformats.org/drawingml/2006/main">
              <a:ext uri="{FF2B5EF4-FFF2-40B4-BE49-F238E27FC236}">
                <a16:creationId xmlns:a16="http://schemas.microsoft.com/office/drawing/2014/main" id="{06B6C003-EE93-4833-8E16-70B1321F03BB}"/>
              </a:ext>
            </a:extLst>
          </p:cNvPr>
          <p:cNvSpPr>
            <a:spLocks xmlns:a="http://schemas.openxmlformats.org/drawingml/2006/main" noGrp="1"/>
          </p:cNvSpPr>
          <p:nvPr/>
        </p:nvSpPr>
        <p:spPr>
          <a:xfrm xmlns:a="http://schemas.openxmlformats.org/drawingml/2006/main">
            <a:off x="2019300" y="2105025"/>
            <a:ext cx="13144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49</a:t>
            </a:r>
          </a:p>
        </p:txBody>
      </p:sp>
      <p:sp>
        <p:nvSpPr>
          <p:cNvPr id="18" name="">
            <a:extLst xmlns:a="http://schemas.openxmlformats.org/drawingml/2006/main">
              <a:ext uri="{FF2B5EF4-FFF2-40B4-BE49-F238E27FC236}">
                <a16:creationId xmlns:a16="http://schemas.microsoft.com/office/drawing/2014/main" id="{9F0C6842-F3CD-46A9-BF11-23346C435678}"/>
              </a:ext>
            </a:extLst>
          </p:cNvPr>
          <p:cNvSpPr>
            <a:spLocks xmlns:a="http://schemas.openxmlformats.org/drawingml/2006/main" noGrp="1"/>
          </p:cNvSpPr>
          <p:nvPr/>
        </p:nvSpPr>
        <p:spPr>
          <a:xfrm xmlns:a="http://schemas.openxmlformats.org/drawingml/2006/main">
            <a:off x="3543300" y="2105025"/>
            <a:ext cx="8382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1.8 V</a:t>
            </a:r>
          </a:p>
        </p:txBody>
      </p:sp>
      <p:sp>
        <p:nvSpPr>
          <p:cNvPr id="19" name="">
            <a:extLst xmlns:a="http://schemas.openxmlformats.org/drawingml/2006/main">
              <a:ext uri="{FF2B5EF4-FFF2-40B4-BE49-F238E27FC236}">
                <a16:creationId xmlns:a16="http://schemas.microsoft.com/office/drawing/2014/main" id="{C63AA291-3F5A-44B6-9214-2FE2A5E6AC8F}"/>
              </a:ext>
            </a:extLst>
          </p:cNvPr>
          <p:cNvSpPr>
            <a:spLocks xmlns:a="http://schemas.openxmlformats.org/drawingml/2006/main" noGrp="1"/>
          </p:cNvSpPr>
          <p:nvPr/>
        </p:nvSpPr>
        <p:spPr>
          <a:xfrm xmlns:a="http://schemas.openxmlformats.org/drawingml/2006/main">
            <a:off x="4591050" y="2105025"/>
            <a:ext cx="24574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Logic, SRAM, ADC · required</a:t>
            </a:r>
          </a:p>
        </p:txBody>
      </p:sp>
      <p:sp>
        <p:nvSpPr>
          <p:cNvPr id="20" name="">
            <a:extLst xmlns:a="http://schemas.openxmlformats.org/drawingml/2006/main">
              <a:ext uri="{FF2B5EF4-FFF2-40B4-BE49-F238E27FC236}">
                <a16:creationId xmlns:a16="http://schemas.microsoft.com/office/drawing/2014/main" id="{AB56E2D5-9116-4541-BB37-84191B601B80}"/>
              </a:ext>
            </a:extLst>
          </p:cNvPr>
          <p:cNvSpPr>
            <a:spLocks xmlns:a="http://schemas.openxmlformats.org/drawingml/2006/main" noGrp="1"/>
          </p:cNvSpPr>
          <p:nvPr/>
        </p:nvSpPr>
        <p:spPr>
          <a:xfrm xmlns:a="http://schemas.openxmlformats.org/drawingml/2006/main">
            <a:off x="457200" y="2419350"/>
            <a:ext cx="6667500" cy="41910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21" name="">
            <a:extLst xmlns:a="http://schemas.openxmlformats.org/drawingml/2006/main">
              <a:ext uri="{FF2B5EF4-FFF2-40B4-BE49-F238E27FC236}">
                <a16:creationId xmlns:a16="http://schemas.microsoft.com/office/drawing/2014/main" id="{0D6B9A09-68EA-4212-B631-F96254B75E7C}"/>
              </a:ext>
            </a:extLst>
          </p:cNvPr>
          <p:cNvSpPr>
            <a:spLocks xmlns:a="http://schemas.openxmlformats.org/drawingml/2006/main" noGrp="1"/>
          </p:cNvSpPr>
          <p:nvPr/>
        </p:nvSpPr>
        <p:spPr>
          <a:xfrm xmlns:a="http://schemas.openxmlformats.org/drawingml/2006/main">
            <a:off x="590550" y="2524125"/>
            <a:ext cx="12192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vddio</a:t>
            </a:r>
          </a:p>
        </p:txBody>
      </p:sp>
      <p:sp>
        <p:nvSpPr>
          <p:cNvPr id="22" name="">
            <a:extLst xmlns:a="http://schemas.openxmlformats.org/drawingml/2006/main">
              <a:ext uri="{FF2B5EF4-FFF2-40B4-BE49-F238E27FC236}">
                <a16:creationId xmlns:a16="http://schemas.microsoft.com/office/drawing/2014/main" id="{6C088AC6-B56E-4B55-B161-02E172D9542B}"/>
              </a:ext>
            </a:extLst>
          </p:cNvPr>
          <p:cNvSpPr>
            <a:spLocks xmlns:a="http://schemas.openxmlformats.org/drawingml/2006/main" noGrp="1"/>
          </p:cNvSpPr>
          <p:nvPr/>
        </p:nvSpPr>
        <p:spPr>
          <a:xfrm xmlns:a="http://schemas.openxmlformats.org/drawingml/2006/main">
            <a:off x="2019300" y="2524125"/>
            <a:ext cx="13144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17, 64</a:t>
            </a:r>
          </a:p>
        </p:txBody>
      </p:sp>
      <p:sp>
        <p:nvSpPr>
          <p:cNvPr id="23" name="">
            <a:extLst xmlns:a="http://schemas.openxmlformats.org/drawingml/2006/main">
              <a:ext uri="{FF2B5EF4-FFF2-40B4-BE49-F238E27FC236}">
                <a16:creationId xmlns:a16="http://schemas.microsoft.com/office/drawing/2014/main" id="{9E8A4291-EA25-4F51-A2B1-D77BD632D00F}"/>
              </a:ext>
            </a:extLst>
          </p:cNvPr>
          <p:cNvSpPr>
            <a:spLocks xmlns:a="http://schemas.openxmlformats.org/drawingml/2006/main" noGrp="1"/>
          </p:cNvSpPr>
          <p:nvPr/>
        </p:nvSpPr>
        <p:spPr>
          <a:xfrm xmlns:a="http://schemas.openxmlformats.org/drawingml/2006/main">
            <a:off x="3543300" y="2524125"/>
            <a:ext cx="8382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3.3 V</a:t>
            </a:r>
          </a:p>
        </p:txBody>
      </p:sp>
      <p:sp>
        <p:nvSpPr>
          <p:cNvPr id="24" name="">
            <a:extLst xmlns:a="http://schemas.openxmlformats.org/drawingml/2006/main">
              <a:ext uri="{FF2B5EF4-FFF2-40B4-BE49-F238E27FC236}">
                <a16:creationId xmlns:a16="http://schemas.microsoft.com/office/drawing/2014/main" id="{D0A8C261-EEB5-48AA-9385-E6732B7E3496}"/>
              </a:ext>
            </a:extLst>
          </p:cNvPr>
          <p:cNvSpPr>
            <a:spLocks xmlns:a="http://schemas.openxmlformats.org/drawingml/2006/main" noGrp="1"/>
          </p:cNvSpPr>
          <p:nvPr/>
        </p:nvSpPr>
        <p:spPr>
          <a:xfrm xmlns:a="http://schemas.openxmlformats.org/drawingml/2006/main">
            <a:off x="4591050" y="2524125"/>
            <a:ext cx="24574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Pad ring and ESD · required</a:t>
            </a:r>
          </a:p>
        </p:txBody>
      </p:sp>
      <p:sp>
        <p:nvSpPr>
          <p:cNvPr id="25" name="">
            <a:extLst xmlns:a="http://schemas.openxmlformats.org/drawingml/2006/main">
              <a:ext uri="{FF2B5EF4-FFF2-40B4-BE49-F238E27FC236}">
                <a16:creationId xmlns:a16="http://schemas.microsoft.com/office/drawing/2014/main" id="{F0D48517-2695-4434-9CB0-80C6CDE2DA6C}"/>
              </a:ext>
            </a:extLst>
          </p:cNvPr>
          <p:cNvSpPr>
            <a:spLocks xmlns:a="http://schemas.openxmlformats.org/drawingml/2006/main" noGrp="1"/>
          </p:cNvSpPr>
          <p:nvPr/>
        </p:nvSpPr>
        <p:spPr>
          <a:xfrm xmlns:a="http://schemas.openxmlformats.org/drawingml/2006/main">
            <a:off x="457200" y="2838450"/>
            <a:ext cx="666750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26" name="">
            <a:extLst xmlns:a="http://schemas.openxmlformats.org/drawingml/2006/main">
              <a:ext uri="{FF2B5EF4-FFF2-40B4-BE49-F238E27FC236}">
                <a16:creationId xmlns:a16="http://schemas.microsoft.com/office/drawing/2014/main" id="{CDCC8024-BC62-4EE7-BDE8-BDBA329F3EA7}"/>
              </a:ext>
            </a:extLst>
          </p:cNvPr>
          <p:cNvSpPr>
            <a:spLocks xmlns:a="http://schemas.openxmlformats.org/drawingml/2006/main" noGrp="1"/>
          </p:cNvSpPr>
          <p:nvPr/>
        </p:nvSpPr>
        <p:spPr>
          <a:xfrm xmlns:a="http://schemas.openxmlformats.org/drawingml/2006/main">
            <a:off x="590550" y="2943225"/>
            <a:ext cx="12192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vccd</a:t>
            </a:r>
          </a:p>
        </p:txBody>
      </p:sp>
      <p:sp>
        <p:nvSpPr>
          <p:cNvPr id="27" name="">
            <a:extLst xmlns:a="http://schemas.openxmlformats.org/drawingml/2006/main">
              <a:ext uri="{FF2B5EF4-FFF2-40B4-BE49-F238E27FC236}">
                <a16:creationId xmlns:a16="http://schemas.microsoft.com/office/drawing/2014/main" id="{D4121FAB-A79C-4FCE-B236-53735E027304}"/>
              </a:ext>
            </a:extLst>
          </p:cNvPr>
          <p:cNvSpPr>
            <a:spLocks xmlns:a="http://schemas.openxmlformats.org/drawingml/2006/main" noGrp="1"/>
          </p:cNvSpPr>
          <p:nvPr/>
        </p:nvSpPr>
        <p:spPr>
          <a:xfrm xmlns:a="http://schemas.openxmlformats.org/drawingml/2006/main">
            <a:off x="2019300" y="2943225"/>
            <a:ext cx="13144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18</a:t>
            </a:r>
          </a:p>
        </p:txBody>
      </p:sp>
      <p:sp>
        <p:nvSpPr>
          <p:cNvPr id="28" name="">
            <a:extLst xmlns:a="http://schemas.openxmlformats.org/drawingml/2006/main">
              <a:ext uri="{FF2B5EF4-FFF2-40B4-BE49-F238E27FC236}">
                <a16:creationId xmlns:a16="http://schemas.microsoft.com/office/drawing/2014/main" id="{5FEE9B41-B342-40E3-9B70-BA153F6F7FBF}"/>
              </a:ext>
            </a:extLst>
          </p:cNvPr>
          <p:cNvSpPr>
            <a:spLocks xmlns:a="http://schemas.openxmlformats.org/drawingml/2006/main" noGrp="1"/>
          </p:cNvSpPr>
          <p:nvPr/>
        </p:nvSpPr>
        <p:spPr>
          <a:xfrm xmlns:a="http://schemas.openxmlformats.org/drawingml/2006/main">
            <a:off x="3543300" y="2943225"/>
            <a:ext cx="8382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1.8 V</a:t>
            </a:r>
          </a:p>
        </p:txBody>
      </p:sp>
      <p:sp>
        <p:nvSpPr>
          <p:cNvPr id="29" name="">
            <a:extLst xmlns:a="http://schemas.openxmlformats.org/drawingml/2006/main">
              <a:ext uri="{FF2B5EF4-FFF2-40B4-BE49-F238E27FC236}">
                <a16:creationId xmlns:a16="http://schemas.microsoft.com/office/drawing/2014/main" id="{724FE931-15DC-4682-A27D-C0F3F628777F}"/>
              </a:ext>
            </a:extLst>
          </p:cNvPr>
          <p:cNvSpPr>
            <a:spLocks xmlns:a="http://schemas.openxmlformats.org/drawingml/2006/main" noGrp="1"/>
          </p:cNvSpPr>
          <p:nvPr/>
        </p:nvSpPr>
        <p:spPr>
          <a:xfrm xmlns:a="http://schemas.openxmlformats.org/drawingml/2006/main">
            <a:off x="4591050" y="2943225"/>
            <a:ext cx="24574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Wrapper core · required</a:t>
            </a:r>
          </a:p>
        </p:txBody>
      </p:sp>
      <p:sp>
        <p:nvSpPr>
          <p:cNvPr id="30" name="">
            <a:extLst xmlns:a="http://schemas.openxmlformats.org/drawingml/2006/main">
              <a:ext uri="{FF2B5EF4-FFF2-40B4-BE49-F238E27FC236}">
                <a16:creationId xmlns:a16="http://schemas.microsoft.com/office/drawing/2014/main" id="{506445CE-A7F5-4826-AE5F-369932B583C8}"/>
              </a:ext>
            </a:extLst>
          </p:cNvPr>
          <p:cNvSpPr>
            <a:spLocks xmlns:a="http://schemas.openxmlformats.org/drawingml/2006/main" noGrp="1"/>
          </p:cNvSpPr>
          <p:nvPr/>
        </p:nvSpPr>
        <p:spPr>
          <a:xfrm xmlns:a="http://schemas.openxmlformats.org/drawingml/2006/main">
            <a:off x="457200" y="3257550"/>
            <a:ext cx="6667500" cy="41910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31" name="">
            <a:extLst xmlns:a="http://schemas.openxmlformats.org/drawingml/2006/main">
              <a:ext uri="{FF2B5EF4-FFF2-40B4-BE49-F238E27FC236}">
                <a16:creationId xmlns:a16="http://schemas.microsoft.com/office/drawing/2014/main" id="{406EEB45-10A3-4F12-9646-C7DF6C3F4D71}"/>
              </a:ext>
            </a:extLst>
          </p:cNvPr>
          <p:cNvSpPr>
            <a:spLocks xmlns:a="http://schemas.openxmlformats.org/drawingml/2006/main" noGrp="1"/>
          </p:cNvSpPr>
          <p:nvPr/>
        </p:nvSpPr>
        <p:spPr>
          <a:xfrm xmlns:a="http://schemas.openxmlformats.org/drawingml/2006/main">
            <a:off x="590550" y="3362325"/>
            <a:ext cx="12192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vdda</a:t>
            </a:r>
          </a:p>
        </p:txBody>
      </p:sp>
      <p:sp>
        <p:nvSpPr>
          <p:cNvPr id="32" name="">
            <a:extLst xmlns:a="http://schemas.openxmlformats.org/drawingml/2006/main">
              <a:ext uri="{FF2B5EF4-FFF2-40B4-BE49-F238E27FC236}">
                <a16:creationId xmlns:a16="http://schemas.microsoft.com/office/drawing/2014/main" id="{71955546-29AE-4BDC-BB94-3B8A820E3F91}"/>
              </a:ext>
            </a:extLst>
          </p:cNvPr>
          <p:cNvSpPr>
            <a:spLocks xmlns:a="http://schemas.openxmlformats.org/drawingml/2006/main" noGrp="1"/>
          </p:cNvSpPr>
          <p:nvPr/>
        </p:nvSpPr>
        <p:spPr>
          <a:xfrm xmlns:a="http://schemas.openxmlformats.org/drawingml/2006/main">
            <a:off x="2019300" y="3362325"/>
            <a:ext cx="13144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30</a:t>
            </a:r>
          </a:p>
        </p:txBody>
      </p:sp>
      <p:sp>
        <p:nvSpPr>
          <p:cNvPr id="33" name="">
            <a:extLst xmlns:a="http://schemas.openxmlformats.org/drawingml/2006/main">
              <a:ext uri="{FF2B5EF4-FFF2-40B4-BE49-F238E27FC236}">
                <a16:creationId xmlns:a16="http://schemas.microsoft.com/office/drawing/2014/main" id="{5CAC7F59-6A6A-437B-9E81-6FF4B9E6FF4A}"/>
              </a:ext>
            </a:extLst>
          </p:cNvPr>
          <p:cNvSpPr>
            <a:spLocks xmlns:a="http://schemas.openxmlformats.org/drawingml/2006/main" noGrp="1"/>
          </p:cNvSpPr>
          <p:nvPr/>
        </p:nvSpPr>
        <p:spPr>
          <a:xfrm xmlns:a="http://schemas.openxmlformats.org/drawingml/2006/main">
            <a:off x="3543300" y="3362325"/>
            <a:ext cx="8382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3.3 V</a:t>
            </a:r>
          </a:p>
        </p:txBody>
      </p:sp>
      <p:sp>
        <p:nvSpPr>
          <p:cNvPr id="34" name="">
            <a:extLst xmlns:a="http://schemas.openxmlformats.org/drawingml/2006/main">
              <a:ext uri="{FF2B5EF4-FFF2-40B4-BE49-F238E27FC236}">
                <a16:creationId xmlns:a16="http://schemas.microsoft.com/office/drawing/2014/main" id="{9DE9B454-89AD-4A64-92BD-032727804C92}"/>
              </a:ext>
            </a:extLst>
          </p:cNvPr>
          <p:cNvSpPr>
            <a:spLocks xmlns:a="http://schemas.openxmlformats.org/drawingml/2006/main" noGrp="1"/>
          </p:cNvSpPr>
          <p:nvPr/>
        </p:nvSpPr>
        <p:spPr>
          <a:xfrm xmlns:a="http://schemas.openxmlformats.org/drawingml/2006/main">
            <a:off x="4591050" y="3362325"/>
            <a:ext cx="24574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Analog, POR · required</a:t>
            </a:r>
          </a:p>
        </p:txBody>
      </p:sp>
      <p:sp>
        <p:nvSpPr>
          <p:cNvPr id="35" name="">
            <a:extLst xmlns:a="http://schemas.openxmlformats.org/drawingml/2006/main">
              <a:ext uri="{FF2B5EF4-FFF2-40B4-BE49-F238E27FC236}">
                <a16:creationId xmlns:a16="http://schemas.microsoft.com/office/drawing/2014/main" id="{D286219E-67A2-445A-8CAB-65E8CB61BD16}"/>
              </a:ext>
            </a:extLst>
          </p:cNvPr>
          <p:cNvSpPr>
            <a:spLocks xmlns:a="http://schemas.openxmlformats.org/drawingml/2006/main" noGrp="1"/>
          </p:cNvSpPr>
          <p:nvPr/>
        </p:nvSpPr>
        <p:spPr>
          <a:xfrm xmlns:a="http://schemas.openxmlformats.org/drawingml/2006/main">
            <a:off x="457200" y="3676650"/>
            <a:ext cx="666750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36" name="">
            <a:extLst xmlns:a="http://schemas.openxmlformats.org/drawingml/2006/main">
              <a:ext uri="{FF2B5EF4-FFF2-40B4-BE49-F238E27FC236}">
                <a16:creationId xmlns:a16="http://schemas.microsoft.com/office/drawing/2014/main" id="{043F099C-8B0E-4F33-9FE2-D4B77CDEFEDB}"/>
              </a:ext>
            </a:extLst>
          </p:cNvPr>
          <p:cNvSpPr>
            <a:spLocks xmlns:a="http://schemas.openxmlformats.org/drawingml/2006/main" noGrp="1"/>
          </p:cNvSpPr>
          <p:nvPr/>
        </p:nvSpPr>
        <p:spPr>
          <a:xfrm xmlns:a="http://schemas.openxmlformats.org/drawingml/2006/main">
            <a:off x="590550" y="3781425"/>
            <a:ext cx="12192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vdda1, vdda2</a:t>
            </a:r>
          </a:p>
        </p:txBody>
      </p:sp>
      <p:sp>
        <p:nvSpPr>
          <p:cNvPr id="37" name="">
            <a:extLst xmlns:a="http://schemas.openxmlformats.org/drawingml/2006/main">
              <a:ext uri="{FF2B5EF4-FFF2-40B4-BE49-F238E27FC236}">
                <a16:creationId xmlns:a16="http://schemas.microsoft.com/office/drawing/2014/main" id="{621EAB1D-904D-410A-8D19-7747F4BE6D15}"/>
              </a:ext>
            </a:extLst>
          </p:cNvPr>
          <p:cNvSpPr>
            <a:spLocks xmlns:a="http://schemas.openxmlformats.org/drawingml/2006/main" noGrp="1"/>
          </p:cNvSpPr>
          <p:nvPr/>
        </p:nvSpPr>
        <p:spPr>
          <a:xfrm xmlns:a="http://schemas.openxmlformats.org/drawingml/2006/main">
            <a:off x="2019300" y="3781425"/>
            <a:ext cx="13144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9, 40, 47</a:t>
            </a:r>
          </a:p>
        </p:txBody>
      </p:sp>
      <p:sp>
        <p:nvSpPr>
          <p:cNvPr id="38" name="">
            <a:extLst xmlns:a="http://schemas.openxmlformats.org/drawingml/2006/main">
              <a:ext uri="{FF2B5EF4-FFF2-40B4-BE49-F238E27FC236}">
                <a16:creationId xmlns:a16="http://schemas.microsoft.com/office/drawing/2014/main" id="{3510E9AF-BC7A-4875-AD89-82445628021C}"/>
              </a:ext>
            </a:extLst>
          </p:cNvPr>
          <p:cNvSpPr>
            <a:spLocks xmlns:a="http://schemas.openxmlformats.org/drawingml/2006/main" noGrp="1"/>
          </p:cNvSpPr>
          <p:nvPr/>
        </p:nvSpPr>
        <p:spPr>
          <a:xfrm xmlns:a="http://schemas.openxmlformats.org/drawingml/2006/main">
            <a:off x="3543300" y="3781425"/>
            <a:ext cx="8382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3.3 V</a:t>
            </a:r>
          </a:p>
        </p:txBody>
      </p:sp>
      <p:sp>
        <p:nvSpPr>
          <p:cNvPr id="39" name="">
            <a:extLst xmlns:a="http://schemas.openxmlformats.org/drawingml/2006/main">
              <a:ext uri="{FF2B5EF4-FFF2-40B4-BE49-F238E27FC236}">
                <a16:creationId xmlns:a16="http://schemas.microsoft.com/office/drawing/2014/main" id="{3AD17969-F019-445E-B9FF-B92BF4D035FE}"/>
              </a:ext>
            </a:extLst>
          </p:cNvPr>
          <p:cNvSpPr>
            <a:spLocks xmlns:a="http://schemas.openxmlformats.org/drawingml/2006/main" noGrp="1"/>
          </p:cNvSpPr>
          <p:nvPr/>
        </p:nvSpPr>
        <p:spPr>
          <a:xfrm xmlns:a="http://schemas.openxmlformats.org/drawingml/2006/main">
            <a:off x="4591050" y="3781425"/>
            <a:ext cx="24574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Unused · tie to 3.3 V</a:t>
            </a:r>
          </a:p>
        </p:txBody>
      </p:sp>
      <p:sp>
        <p:nvSpPr>
          <p:cNvPr id="40" name="">
            <a:extLst xmlns:a="http://schemas.openxmlformats.org/drawingml/2006/main">
              <a:ext uri="{FF2B5EF4-FFF2-40B4-BE49-F238E27FC236}">
                <a16:creationId xmlns:a16="http://schemas.microsoft.com/office/drawing/2014/main" id="{DD27F8DB-1BBA-4F25-8D00-6685044A9FD2}"/>
              </a:ext>
            </a:extLst>
          </p:cNvPr>
          <p:cNvSpPr>
            <a:spLocks xmlns:a="http://schemas.openxmlformats.org/drawingml/2006/main" noGrp="1"/>
          </p:cNvSpPr>
          <p:nvPr/>
        </p:nvSpPr>
        <p:spPr>
          <a:xfrm xmlns:a="http://schemas.openxmlformats.org/drawingml/2006/main">
            <a:off x="457200" y="4095750"/>
            <a:ext cx="6667500" cy="41910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41" name="">
            <a:extLst xmlns:a="http://schemas.openxmlformats.org/drawingml/2006/main">
              <a:ext uri="{FF2B5EF4-FFF2-40B4-BE49-F238E27FC236}">
                <a16:creationId xmlns:a16="http://schemas.microsoft.com/office/drawing/2014/main" id="{D743EDD8-BB13-4E12-AEB0-32A3A1EDD484}"/>
              </a:ext>
            </a:extLst>
          </p:cNvPr>
          <p:cNvSpPr>
            <a:spLocks xmlns:a="http://schemas.openxmlformats.org/drawingml/2006/main" noGrp="1"/>
          </p:cNvSpPr>
          <p:nvPr/>
        </p:nvSpPr>
        <p:spPr>
          <a:xfrm xmlns:a="http://schemas.openxmlformats.org/drawingml/2006/main">
            <a:off x="590550" y="4200525"/>
            <a:ext cx="12192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vccd2</a:t>
            </a:r>
          </a:p>
        </p:txBody>
      </p:sp>
      <p:sp>
        <p:nvSpPr>
          <p:cNvPr id="42" name="">
            <a:extLst xmlns:a="http://schemas.openxmlformats.org/drawingml/2006/main">
              <a:ext uri="{FF2B5EF4-FFF2-40B4-BE49-F238E27FC236}">
                <a16:creationId xmlns:a16="http://schemas.microsoft.com/office/drawing/2014/main" id="{84415700-F1EB-4BFA-888B-E9F47D0BD2FA}"/>
              </a:ext>
            </a:extLst>
          </p:cNvPr>
          <p:cNvSpPr>
            <a:spLocks xmlns:a="http://schemas.openxmlformats.org/drawingml/2006/main" noGrp="1"/>
          </p:cNvSpPr>
          <p:nvPr/>
        </p:nvSpPr>
        <p:spPr>
          <a:xfrm xmlns:a="http://schemas.openxmlformats.org/drawingml/2006/main">
            <a:off x="2019300" y="4200525"/>
            <a:ext cx="13144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63</a:t>
            </a:r>
          </a:p>
        </p:txBody>
      </p:sp>
      <p:sp>
        <p:nvSpPr>
          <p:cNvPr id="43" name="">
            <a:extLst xmlns:a="http://schemas.openxmlformats.org/drawingml/2006/main">
              <a:ext uri="{FF2B5EF4-FFF2-40B4-BE49-F238E27FC236}">
                <a16:creationId xmlns:a16="http://schemas.microsoft.com/office/drawing/2014/main" id="{1CAB9760-BCB9-4B9F-874D-BC3106A2C489}"/>
              </a:ext>
            </a:extLst>
          </p:cNvPr>
          <p:cNvSpPr>
            <a:spLocks xmlns:a="http://schemas.openxmlformats.org/drawingml/2006/main" noGrp="1"/>
          </p:cNvSpPr>
          <p:nvPr/>
        </p:nvSpPr>
        <p:spPr>
          <a:xfrm xmlns:a="http://schemas.openxmlformats.org/drawingml/2006/main">
            <a:off x="3543300" y="4200525"/>
            <a:ext cx="8382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1.8 V</a:t>
            </a:r>
          </a:p>
        </p:txBody>
      </p:sp>
      <p:sp>
        <p:nvSpPr>
          <p:cNvPr id="44" name="">
            <a:extLst xmlns:a="http://schemas.openxmlformats.org/drawingml/2006/main">
              <a:ext uri="{FF2B5EF4-FFF2-40B4-BE49-F238E27FC236}">
                <a16:creationId xmlns:a16="http://schemas.microsoft.com/office/drawing/2014/main" id="{246672FD-7597-4657-95B8-2D3B3680B9EF}"/>
              </a:ext>
            </a:extLst>
          </p:cNvPr>
          <p:cNvSpPr>
            <a:spLocks xmlns:a="http://schemas.openxmlformats.org/drawingml/2006/main" noGrp="1"/>
          </p:cNvSpPr>
          <p:nvPr/>
        </p:nvSpPr>
        <p:spPr>
          <a:xfrm xmlns:a="http://schemas.openxmlformats.org/drawingml/2006/main">
            <a:off x="4591050" y="4200525"/>
            <a:ext cx="24574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Unused · tie to 1.8 V</a:t>
            </a:r>
          </a:p>
        </p:txBody>
      </p:sp>
      <p:sp>
        <p:nvSpPr>
          <p:cNvPr id="45" name="">
            <a:extLst xmlns:a="http://schemas.openxmlformats.org/drawingml/2006/main">
              <a:ext uri="{FF2B5EF4-FFF2-40B4-BE49-F238E27FC236}">
                <a16:creationId xmlns:a16="http://schemas.microsoft.com/office/drawing/2014/main" id="{8D1BD4DC-537D-4C77-B2BA-9CB1C71BAE9B}"/>
              </a:ext>
            </a:extLst>
          </p:cNvPr>
          <p:cNvSpPr>
            <a:spLocks xmlns:a="http://schemas.openxmlformats.org/drawingml/2006/main" noGrp="1"/>
          </p:cNvSpPr>
          <p:nvPr/>
        </p:nvSpPr>
        <p:spPr>
          <a:xfrm xmlns:a="http://schemas.openxmlformats.org/drawingml/2006/main">
            <a:off x="457200" y="4514850"/>
            <a:ext cx="666750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46" name="">
            <a:extLst xmlns:a="http://schemas.openxmlformats.org/drawingml/2006/main">
              <a:ext uri="{FF2B5EF4-FFF2-40B4-BE49-F238E27FC236}">
                <a16:creationId xmlns:a16="http://schemas.microsoft.com/office/drawing/2014/main" id="{391532B6-AAE7-4BE4-BAFD-3261EE0BD2B4}"/>
              </a:ext>
            </a:extLst>
          </p:cNvPr>
          <p:cNvSpPr>
            <a:spLocks xmlns:a="http://schemas.openxmlformats.org/drawingml/2006/main" noGrp="1"/>
          </p:cNvSpPr>
          <p:nvPr/>
        </p:nvSpPr>
        <p:spPr>
          <a:xfrm xmlns:a="http://schemas.openxmlformats.org/drawingml/2006/main">
            <a:off x="590550" y="4619625"/>
            <a:ext cx="12192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Grounds</a:t>
            </a:r>
          </a:p>
        </p:txBody>
      </p:sp>
      <p:sp>
        <p:nvSpPr>
          <p:cNvPr id="47" name="">
            <a:extLst xmlns:a="http://schemas.openxmlformats.org/drawingml/2006/main">
              <a:ext uri="{FF2B5EF4-FFF2-40B4-BE49-F238E27FC236}">
                <a16:creationId xmlns:a16="http://schemas.microsoft.com/office/drawing/2014/main" id="{E0335FD9-1DCB-4790-BE14-6F6B18D32FCF}"/>
              </a:ext>
            </a:extLst>
          </p:cNvPr>
          <p:cNvSpPr>
            <a:spLocks xmlns:a="http://schemas.openxmlformats.org/drawingml/2006/main" noGrp="1"/>
          </p:cNvSpPr>
          <p:nvPr/>
        </p:nvSpPr>
        <p:spPr>
          <a:xfrm xmlns:a="http://schemas.openxmlformats.org/drawingml/2006/main">
            <a:off x="2019300" y="4619625"/>
            <a:ext cx="13144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8 pins + paddle</a:t>
            </a:r>
          </a:p>
        </p:txBody>
      </p:sp>
      <p:sp>
        <p:nvSpPr>
          <p:cNvPr id="48" name="">
            <a:extLst xmlns:a="http://schemas.openxmlformats.org/drawingml/2006/main">
              <a:ext uri="{FF2B5EF4-FFF2-40B4-BE49-F238E27FC236}">
                <a16:creationId xmlns:a16="http://schemas.microsoft.com/office/drawing/2014/main" id="{834F4328-2D9F-42CF-BB9A-56C4396528BD}"/>
              </a:ext>
            </a:extLst>
          </p:cNvPr>
          <p:cNvSpPr>
            <a:spLocks xmlns:a="http://schemas.openxmlformats.org/drawingml/2006/main" noGrp="1"/>
          </p:cNvSpPr>
          <p:nvPr/>
        </p:nvSpPr>
        <p:spPr>
          <a:xfrm xmlns:a="http://schemas.openxmlformats.org/drawingml/2006/main">
            <a:off x="3543300" y="4619625"/>
            <a:ext cx="8382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0 V</a:t>
            </a:r>
          </a:p>
        </p:txBody>
      </p:sp>
      <p:sp>
        <p:nvSpPr>
          <p:cNvPr id="49" name="">
            <a:extLst xmlns:a="http://schemas.openxmlformats.org/drawingml/2006/main">
              <a:ext uri="{FF2B5EF4-FFF2-40B4-BE49-F238E27FC236}">
                <a16:creationId xmlns:a16="http://schemas.microsoft.com/office/drawing/2014/main" id="{7CD58D9C-06A8-45D4-8609-B5FEDAD17BD1}"/>
              </a:ext>
            </a:extLst>
          </p:cNvPr>
          <p:cNvSpPr>
            <a:spLocks xmlns:a="http://schemas.openxmlformats.org/drawingml/2006/main" noGrp="1"/>
          </p:cNvSpPr>
          <p:nvPr/>
        </p:nvSpPr>
        <p:spPr>
          <a:xfrm xmlns:a="http://schemas.openxmlformats.org/drawingml/2006/main">
            <a:off x="4591050" y="4619625"/>
            <a:ext cx="24574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Every vss pin and the paddle</a:t>
            </a:r>
          </a:p>
        </p:txBody>
      </p:sp>
      <p:sp>
        <p:nvSpPr>
          <p:cNvPr id="50" name="">
            <a:extLst xmlns:a="http://schemas.openxmlformats.org/drawingml/2006/main">
              <a:ext uri="{FF2B5EF4-FFF2-40B4-BE49-F238E27FC236}">
                <a16:creationId xmlns:a16="http://schemas.microsoft.com/office/drawing/2014/main" id="{BE95FEA5-8CC8-44E1-AB5B-A1BC4C76018F}"/>
              </a:ext>
            </a:extLst>
          </p:cNvPr>
          <p:cNvSpPr>
            <a:spLocks xmlns:a="http://schemas.openxmlformats.org/drawingml/2006/main" noGrp="1"/>
          </p:cNvSpPr>
          <p:nvPr/>
        </p:nvSpPr>
        <p:spPr>
          <a:xfrm xmlns:a="http://schemas.openxmlformats.org/drawingml/2006/main">
            <a:off x="457200" y="5143500"/>
            <a:ext cx="6667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1E293B"/>
                </a:solidFill>
                <a:latin typeface="Arial"/>
                <a:ea typeface="Arial"/>
                <a:cs typeface="Arial"/>
              </a:defRPr>
            </a:pPr>
            <a:r>
              <a:t>Every milliamp of dynamic and leakage current is drawn from vccd1.</a:t>
            </a:r>
          </a:p>
        </p:txBody>
      </p:sp>
      <p:sp>
        <p:nvSpPr>
          <p:cNvPr id="51" name="">
            <a:extLst xmlns:a="http://schemas.openxmlformats.org/drawingml/2006/main">
              <a:ext uri="{FF2B5EF4-FFF2-40B4-BE49-F238E27FC236}">
                <a16:creationId xmlns:a16="http://schemas.microsoft.com/office/drawing/2014/main" id="{5D5F3601-BE3C-4A43-82CA-0D34C9D59ABE}"/>
              </a:ext>
            </a:extLst>
          </p:cNvPr>
          <p:cNvSpPr>
            <a:spLocks xmlns:a="http://schemas.openxmlformats.org/drawingml/2006/main" noGrp="1"/>
          </p:cNvSpPr>
          <p:nvPr/>
        </p:nvSpPr>
        <p:spPr>
          <a:xfrm xmlns:a="http://schemas.openxmlformats.org/drawingml/2006/main">
            <a:off x="7429500" y="1638300"/>
            <a:ext cx="4305300" cy="1676400"/>
          </a:xfrm>
          <a:prstGeom xmlns:a="http://schemas.openxmlformats.org/drawingml/2006/main" prst="roundRect">
            <a:avLst>
              <a:gd name="adj" fmla="val 4545"/>
            </a:avLst>
          </a:prstGeom>
          <a:solidFill xmlns:a="http://schemas.openxmlformats.org/drawingml/2006/main">
            <a:srgbClr val="F8FAFC"/>
          </a:solidFill>
          <a:ln xmlns:a="http://schemas.openxmlformats.org/drawingml/2006/main" w="9525">
            <a:solidFill>
              <a:srgbClr val="E2E8F0"/>
            </a:solidFill>
            <a:prstDash val="solid"/>
          </a:ln>
        </p:spPr>
      </p:sp>
      <p:sp>
        <p:nvSpPr>
          <p:cNvPr id="52" name="">
            <a:extLst xmlns:a="http://schemas.openxmlformats.org/drawingml/2006/main">
              <a:ext uri="{FF2B5EF4-FFF2-40B4-BE49-F238E27FC236}">
                <a16:creationId xmlns:a16="http://schemas.microsoft.com/office/drawing/2014/main" id="{DF9434E5-EBA2-4397-B80C-21D7605A315B}"/>
              </a:ext>
            </a:extLst>
          </p:cNvPr>
          <p:cNvSpPr>
            <a:spLocks xmlns:a="http://schemas.openxmlformats.org/drawingml/2006/main" noGrp="1"/>
          </p:cNvSpPr>
          <p:nvPr/>
        </p:nvSpPr>
        <p:spPr>
          <a:xfrm xmlns:a="http://schemas.openxmlformats.org/drawingml/2006/main">
            <a:off x="7543800" y="1790700"/>
            <a:ext cx="4076700" cy="5429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3225" b="1">
                <a:solidFill>
                  <a:srgbClr val="0077A3"/>
                </a:solidFill>
                <a:latin typeface="Georgia"/>
                <a:ea typeface="Georgia"/>
                <a:cs typeface="Georgia"/>
              </a:defRPr>
            </a:pPr>
            <a:r>
              <a:t>~0.43 W</a:t>
            </a:r>
          </a:p>
        </p:txBody>
      </p:sp>
      <p:sp>
        <p:nvSpPr>
          <p:cNvPr id="53" name="">
            <a:extLst xmlns:a="http://schemas.openxmlformats.org/drawingml/2006/main">
              <a:ext uri="{FF2B5EF4-FFF2-40B4-BE49-F238E27FC236}">
                <a16:creationId xmlns:a16="http://schemas.microsoft.com/office/drawing/2014/main" id="{00F5591D-0BAE-4E8F-B57B-DB9A289898F5}"/>
              </a:ext>
            </a:extLst>
          </p:cNvPr>
          <p:cNvSpPr>
            <a:spLocks xmlns:a="http://schemas.openxmlformats.org/drawingml/2006/main" noGrp="1"/>
          </p:cNvSpPr>
          <p:nvPr/>
        </p:nvSpPr>
        <p:spPr>
          <a:xfrm xmlns:a="http://schemas.openxmlformats.org/drawingml/2006/main">
            <a:off x="7543800" y="2352675"/>
            <a:ext cx="40767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AT 50 MHZ</a:t>
            </a:r>
          </a:p>
        </p:txBody>
      </p:sp>
      <p:sp>
        <p:nvSpPr>
          <p:cNvPr id="54" name="">
            <a:extLst xmlns:a="http://schemas.openxmlformats.org/drawingml/2006/main">
              <a:ext uri="{FF2B5EF4-FFF2-40B4-BE49-F238E27FC236}">
                <a16:creationId xmlns:a16="http://schemas.microsoft.com/office/drawing/2014/main" id="{D412790E-12B1-4F47-87BD-D370B1F993D3}"/>
              </a:ext>
            </a:extLst>
          </p:cNvPr>
          <p:cNvSpPr>
            <a:spLocks xmlns:a="http://schemas.openxmlformats.org/drawingml/2006/main" noGrp="1"/>
          </p:cNvSpPr>
          <p:nvPr/>
        </p:nvSpPr>
        <p:spPr>
          <a:xfrm xmlns:a="http://schemas.openxmlformats.org/drawingml/2006/main">
            <a:off x="7562850" y="2600325"/>
            <a:ext cx="4038600" cy="6572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Tool estimate at 25 °C and 1.8 V, not measured</a:t>
            </a:r>
          </a:p>
        </p:txBody>
      </p:sp>
      <p:sp>
        <p:nvSpPr>
          <p:cNvPr id="55" name="">
            <a:extLst xmlns:a="http://schemas.openxmlformats.org/drawingml/2006/main">
              <a:ext uri="{FF2B5EF4-FFF2-40B4-BE49-F238E27FC236}">
                <a16:creationId xmlns:a16="http://schemas.microsoft.com/office/drawing/2014/main" id="{1D5B0888-D70C-469D-98FF-209D092D1189}"/>
              </a:ext>
            </a:extLst>
          </p:cNvPr>
          <p:cNvSpPr>
            <a:spLocks xmlns:a="http://schemas.openxmlformats.org/drawingml/2006/main" noGrp="1"/>
          </p:cNvSpPr>
          <p:nvPr/>
        </p:nvSpPr>
        <p:spPr>
          <a:xfrm xmlns:a="http://schemas.openxmlformats.org/drawingml/2006/main">
            <a:off x="7429500" y="3486150"/>
            <a:ext cx="43053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56" name="">
            <a:extLst xmlns:a="http://schemas.openxmlformats.org/drawingml/2006/main">
              <a:ext uri="{FF2B5EF4-FFF2-40B4-BE49-F238E27FC236}">
                <a16:creationId xmlns:a16="http://schemas.microsoft.com/office/drawing/2014/main" id="{A22571B7-8D91-43B9-B011-CD2BF09F7A4A}"/>
              </a:ext>
            </a:extLst>
          </p:cNvPr>
          <p:cNvSpPr>
            <a:spLocks xmlns:a="http://schemas.openxmlformats.org/drawingml/2006/main" noGrp="1"/>
          </p:cNvSpPr>
          <p:nvPr/>
        </p:nvSpPr>
        <p:spPr>
          <a:xfrm xmlns:a="http://schemas.openxmlformats.org/drawingml/2006/main">
            <a:off x="7429500" y="3486150"/>
            <a:ext cx="57150" cy="124777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57" name="">
            <a:extLst xmlns:a="http://schemas.openxmlformats.org/drawingml/2006/main">
              <a:ext uri="{FF2B5EF4-FFF2-40B4-BE49-F238E27FC236}">
                <a16:creationId xmlns:a16="http://schemas.microsoft.com/office/drawing/2014/main" id="{A86CACC6-5EB8-4013-8E6C-FA61E71EEE55}"/>
              </a:ext>
            </a:extLst>
          </p:cNvPr>
          <p:cNvSpPr>
            <a:spLocks xmlns:a="http://schemas.openxmlformats.org/drawingml/2006/main" noGrp="1"/>
          </p:cNvSpPr>
          <p:nvPr/>
        </p:nvSpPr>
        <p:spPr>
          <a:xfrm xmlns:a="http://schemas.openxmlformats.org/drawingml/2006/main">
            <a:off x="7658100" y="3676650"/>
            <a:ext cx="38862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Sequencing</a:t>
            </a:r>
          </a:p>
        </p:txBody>
      </p:sp>
      <p:sp>
        <p:nvSpPr>
          <p:cNvPr id="58" name="">
            <a:extLst xmlns:a="http://schemas.openxmlformats.org/drawingml/2006/main">
              <a:ext uri="{FF2B5EF4-FFF2-40B4-BE49-F238E27FC236}">
                <a16:creationId xmlns:a16="http://schemas.microsoft.com/office/drawing/2014/main" id="{138E5354-10C9-4173-B388-607C8C2B8C0D}"/>
              </a:ext>
            </a:extLst>
          </p:cNvPr>
          <p:cNvSpPr>
            <a:spLocks xmlns:a="http://schemas.openxmlformats.org/drawingml/2006/main" noGrp="1"/>
          </p:cNvSpPr>
          <p:nvPr/>
        </p:nvSpPr>
        <p:spPr>
          <a:xfrm xmlns:a="http://schemas.openxmlformats.org/drawingml/2006/main">
            <a:off x="7658100" y="4038600"/>
            <a:ext cx="38481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3.3 V comes up before or together with 1.8 V.</a:t>
            </a:r>
          </a:p>
        </p:txBody>
      </p:sp>
      <p:sp>
        <p:nvSpPr>
          <p:cNvPr id="59" name="">
            <a:extLst xmlns:a="http://schemas.openxmlformats.org/drawingml/2006/main">
              <a:ext uri="{FF2B5EF4-FFF2-40B4-BE49-F238E27FC236}">
                <a16:creationId xmlns:a16="http://schemas.microsoft.com/office/drawing/2014/main" id="{9CD3F461-190B-41D9-85F2-E560DFD61242}"/>
              </a:ext>
            </a:extLst>
          </p:cNvPr>
          <p:cNvSpPr>
            <a:spLocks xmlns:a="http://schemas.openxmlformats.org/drawingml/2006/main" noGrp="1"/>
          </p:cNvSpPr>
          <p:nvPr/>
        </p:nvSpPr>
        <p:spPr>
          <a:xfrm xmlns:a="http://schemas.openxmlformats.org/drawingml/2006/main">
            <a:off x="7429500" y="4867275"/>
            <a:ext cx="43053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60" name="">
            <a:extLst xmlns:a="http://schemas.openxmlformats.org/drawingml/2006/main">
              <a:ext uri="{FF2B5EF4-FFF2-40B4-BE49-F238E27FC236}">
                <a16:creationId xmlns:a16="http://schemas.microsoft.com/office/drawing/2014/main" id="{FF58FB17-8ABF-47A1-B1C4-C1478197D92B}"/>
              </a:ext>
            </a:extLst>
          </p:cNvPr>
          <p:cNvSpPr>
            <a:spLocks xmlns:a="http://schemas.openxmlformats.org/drawingml/2006/main" noGrp="1"/>
          </p:cNvSpPr>
          <p:nvPr/>
        </p:nvSpPr>
        <p:spPr>
          <a:xfrm xmlns:a="http://schemas.openxmlformats.org/drawingml/2006/main">
            <a:off x="7429500" y="4867275"/>
            <a:ext cx="57150" cy="1247775"/>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EF0B351C-B284-4947-9D03-E65AE77AF427}"/>
              </a:ext>
            </a:extLst>
          </p:cNvPr>
          <p:cNvSpPr>
            <a:spLocks xmlns:a="http://schemas.openxmlformats.org/drawingml/2006/main" noGrp="1"/>
          </p:cNvSpPr>
          <p:nvPr/>
        </p:nvSpPr>
        <p:spPr>
          <a:xfrm xmlns:a="http://schemas.openxmlformats.org/drawingml/2006/main">
            <a:off x="7658100" y="5057775"/>
            <a:ext cx="38862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Why unused rails are tied</a:t>
            </a:r>
          </a:p>
        </p:txBody>
      </p:sp>
      <p:sp>
        <p:nvSpPr>
          <p:cNvPr id="62" name="">
            <a:extLst xmlns:a="http://schemas.openxmlformats.org/drawingml/2006/main">
              <a:ext uri="{FF2B5EF4-FFF2-40B4-BE49-F238E27FC236}">
                <a16:creationId xmlns:a16="http://schemas.microsoft.com/office/drawing/2014/main" id="{64D1A690-6FFA-472D-92AC-7543A85B0817}"/>
              </a:ext>
            </a:extLst>
          </p:cNvPr>
          <p:cNvSpPr>
            <a:spLocks xmlns:a="http://schemas.openxmlformats.org/drawingml/2006/main" noGrp="1"/>
          </p:cNvSpPr>
          <p:nvPr/>
        </p:nvSpPr>
        <p:spPr>
          <a:xfrm xmlns:a="http://schemas.openxmlformats.org/drawingml/2006/main">
            <a:off x="7658100" y="5419725"/>
            <a:ext cx="38481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Nominal voltage keeps the pad ring’s protection structures biased.</a:t>
            </a:r>
          </a:p>
        </p:txBody>
      </p:sp>
      <p:sp>
        <p:nvSpPr>
          <p:cNvPr id="63" name="">
            <a:extLst xmlns:a="http://schemas.openxmlformats.org/drawingml/2006/main">
              <a:ext uri="{FF2B5EF4-FFF2-40B4-BE49-F238E27FC236}">
                <a16:creationId xmlns:a16="http://schemas.microsoft.com/office/drawing/2014/main" id="{7D0E612B-AE63-4678-902C-F9EF731AC571}"/>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6B7280"/>
                </a:solidFill>
                <a:latin typeface="Arial"/>
                <a:ea typeface="Arial"/>
                <a:cs typeface="Arial"/>
              </a:defRPr>
            </a:pPr>
            <a:r>
              <a:t>Source: DG32-LITE preliminary datasheet §4.3, §5 power supplies and sequencing.</a:t>
            </a:r>
          </a:p>
        </p:txBody>
      </p:sp>
    </p:spTree>
    <p:extLst>
      <p:ext uri="{BB962C8B-B14F-4D97-AF65-F5344CB8AC3E}">
        <p14:creationId xmlns:p14="http://schemas.microsoft.com/office/powerpoint/2010/main" val="164347659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704DD79B-3E5C-4C3D-B72C-0303C74494D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452D0FF-AECC-4BC0-A1AC-A227CDBB295C}"/>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77A3"/>
                </a:solidFill>
                <a:latin typeface="Arial"/>
                <a:ea typeface="Arial"/>
                <a:cs typeface="Arial"/>
              </a:defRPr>
            </a:pPr>
            <a:r>
              <a:t>08 · CLOCK AND RESET</a:t>
            </a:r>
          </a:p>
        </p:txBody>
      </p:sp>
      <p:sp>
        <p:nvSpPr>
          <p:cNvPr id="3" name="">
            <a:extLst xmlns:a="http://schemas.openxmlformats.org/drawingml/2006/main">
              <a:ext uri="{FF2B5EF4-FFF2-40B4-BE49-F238E27FC236}">
                <a16:creationId xmlns:a16="http://schemas.microsoft.com/office/drawing/2014/main" id="{69C3961F-511F-4409-BAFC-622D0EDD8999}"/>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One clock pin, two resets and no PLL</a:t>
            </a:r>
          </a:p>
        </p:txBody>
      </p:sp>
      <p:sp>
        <p:nvSpPr>
          <p:cNvPr id="4" name="">
            <a:extLst xmlns:a="http://schemas.openxmlformats.org/drawingml/2006/main">
              <a:ext uri="{FF2B5EF4-FFF2-40B4-BE49-F238E27FC236}">
                <a16:creationId xmlns:a16="http://schemas.microsoft.com/office/drawing/2014/main" id="{74F7FAC0-AB4E-4500-BE6F-96D35D69F238}"/>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The whole die runs from one clock as delivered; any reset input resets the core</a:t>
            </a:r>
          </a:p>
        </p:txBody>
      </p:sp>
      <p:sp>
        <p:nvSpPr>
          <p:cNvPr id="5" name="">
            <a:extLst xmlns:a="http://schemas.openxmlformats.org/drawingml/2006/main">
              <a:ext uri="{FF2B5EF4-FFF2-40B4-BE49-F238E27FC236}">
                <a16:creationId xmlns:a16="http://schemas.microsoft.com/office/drawing/2014/main" id="{DAB300E2-90D8-4B69-8F1C-55CA4FEF34D3}"/>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6F7672D-8E05-41B8-A0CA-0EA581F05E6F}"/>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6A272FB-25EB-4B47-87A5-3EA62C598A1F}"/>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DEEPGRID SEMI  ·  DG32-LITE PRELIMINARY DATASHEET  ·  SEPTEMBER 2026  ·  PRE-SILICON</a:t>
            </a:r>
          </a:p>
        </p:txBody>
      </p:sp>
      <p:sp>
        <p:nvSpPr>
          <p:cNvPr id="8" name="">
            <a:extLst xmlns:a="http://schemas.openxmlformats.org/drawingml/2006/main">
              <a:ext uri="{FF2B5EF4-FFF2-40B4-BE49-F238E27FC236}">
                <a16:creationId xmlns:a16="http://schemas.microsoft.com/office/drawing/2014/main" id="{959E2E3D-4F76-443D-B8E5-90430FF7CAB8}"/>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08</a:t>
            </a:r>
          </a:p>
        </p:txBody>
      </p:sp>
      <p:sp>
        <p:nvSpPr>
          <p:cNvPr id="9" name="">
            <a:extLst xmlns:a="http://schemas.openxmlformats.org/drawingml/2006/main">
              <a:ext uri="{FF2B5EF4-FFF2-40B4-BE49-F238E27FC236}">
                <a16:creationId xmlns:a16="http://schemas.microsoft.com/office/drawing/2014/main" id="{2B750ED7-2CCB-4139-AA9D-9372DBCAD0B7}"/>
              </a:ext>
            </a:extLst>
          </p:cNvPr>
          <p:cNvSpPr>
            <a:spLocks xmlns:a="http://schemas.openxmlformats.org/drawingml/2006/main" noGrp="1"/>
          </p:cNvSpPr>
          <p:nvPr/>
        </p:nvSpPr>
        <p:spPr>
          <a:xfrm xmlns:a="http://schemas.openxmlformats.org/drawingml/2006/main">
            <a:off x="457200" y="1695450"/>
            <a:ext cx="340360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A9396"/>
            </a:solidFill>
            <a:prstDash val="solid"/>
          </a:ln>
        </p:spPr>
      </p:sp>
      <p:sp>
        <p:nvSpPr>
          <p:cNvPr id="10" name="">
            <a:extLst xmlns:a="http://schemas.openxmlformats.org/drawingml/2006/main">
              <a:ext uri="{FF2B5EF4-FFF2-40B4-BE49-F238E27FC236}">
                <a16:creationId xmlns:a16="http://schemas.microsoft.com/office/drawing/2014/main" id="{6220D32C-2966-48C7-AD49-7EFE7F0E644E}"/>
              </a:ext>
            </a:extLst>
          </p:cNvPr>
          <p:cNvSpPr>
            <a:spLocks xmlns:a="http://schemas.openxmlformats.org/drawingml/2006/main" noGrp="1"/>
          </p:cNvSpPr>
          <p:nvPr/>
        </p:nvSpPr>
        <p:spPr>
          <a:xfrm xmlns:a="http://schemas.openxmlformats.org/drawingml/2006/main">
            <a:off x="457200" y="1695450"/>
            <a:ext cx="3403600" cy="476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E6E6752-A6ED-4676-ACD0-40366D208241}"/>
              </a:ext>
            </a:extLst>
          </p:cNvPr>
          <p:cNvSpPr>
            <a:spLocks xmlns:a="http://schemas.openxmlformats.org/drawingml/2006/main" noGrp="1"/>
          </p:cNvSpPr>
          <p:nvPr/>
        </p:nvSpPr>
        <p:spPr>
          <a:xfrm xmlns:a="http://schemas.openxmlformats.org/drawingml/2006/main">
            <a:off x="590550" y="1885950"/>
            <a:ext cx="31369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CLK pin</a:t>
            </a:r>
          </a:p>
        </p:txBody>
      </p:sp>
      <p:sp>
        <p:nvSpPr>
          <p:cNvPr id="12" name="">
            <a:extLst xmlns:a="http://schemas.openxmlformats.org/drawingml/2006/main">
              <a:ext uri="{FF2B5EF4-FFF2-40B4-BE49-F238E27FC236}">
                <a16:creationId xmlns:a16="http://schemas.microsoft.com/office/drawing/2014/main" id="{C8C62716-7ED1-4D1A-91BA-A43717606894}"/>
              </a:ext>
            </a:extLst>
          </p:cNvPr>
          <p:cNvSpPr>
            <a:spLocks xmlns:a="http://schemas.openxmlformats.org/drawingml/2006/main" noGrp="1"/>
          </p:cNvSpPr>
          <p:nvPr/>
        </p:nvSpPr>
        <p:spPr>
          <a:xfrm xmlns:a="http://schemas.openxmlformats.org/drawingml/2006/main">
            <a:off x="590550" y="2171700"/>
            <a:ext cx="313690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3.3 V CMOS, 50 MHz target</a:t>
            </a:r>
          </a:p>
        </p:txBody>
      </p:sp>
      <p:sp>
        <p:nvSpPr>
          <p:cNvPr id="13" name="">
            <a:extLst xmlns:a="http://schemas.openxmlformats.org/drawingml/2006/main">
              <a:ext uri="{FF2B5EF4-FFF2-40B4-BE49-F238E27FC236}">
                <a16:creationId xmlns:a16="http://schemas.microsoft.com/office/drawing/2014/main" id="{713DBF7A-6D52-45DE-9C65-CA4179CA8FA8}"/>
              </a:ext>
            </a:extLst>
          </p:cNvPr>
          <p:cNvSpPr>
            <a:spLocks xmlns:a="http://schemas.openxmlformats.org/drawingml/2006/main" noGrp="1"/>
          </p:cNvSpPr>
          <p:nvPr/>
        </p:nvSpPr>
        <p:spPr>
          <a:xfrm xmlns:a="http://schemas.openxmlformats.org/drawingml/2006/main">
            <a:off x="3965575" y="208597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14" name="">
            <a:extLst xmlns:a="http://schemas.openxmlformats.org/drawingml/2006/main">
              <a:ext uri="{FF2B5EF4-FFF2-40B4-BE49-F238E27FC236}">
                <a16:creationId xmlns:a16="http://schemas.microsoft.com/office/drawing/2014/main" id="{3CFB58CF-C7C6-411C-9BFE-E9A2F962D899}"/>
              </a:ext>
            </a:extLst>
          </p:cNvPr>
          <p:cNvSpPr>
            <a:spLocks xmlns:a="http://schemas.openxmlformats.org/drawingml/2006/main" noGrp="1"/>
          </p:cNvSpPr>
          <p:nvPr/>
        </p:nvSpPr>
        <p:spPr>
          <a:xfrm xmlns:a="http://schemas.openxmlformats.org/drawingml/2006/main">
            <a:off x="4394200" y="1695450"/>
            <a:ext cx="340360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A9396"/>
            </a:solidFill>
            <a:prstDash val="solid"/>
          </a:ln>
        </p:spPr>
      </p:sp>
      <p:sp>
        <p:nvSpPr>
          <p:cNvPr id="15" name="">
            <a:extLst xmlns:a="http://schemas.openxmlformats.org/drawingml/2006/main">
              <a:ext uri="{FF2B5EF4-FFF2-40B4-BE49-F238E27FC236}">
                <a16:creationId xmlns:a16="http://schemas.microsoft.com/office/drawing/2014/main" id="{8A481063-C6EC-45CB-836B-81A4EC6A2BD3}"/>
              </a:ext>
            </a:extLst>
          </p:cNvPr>
          <p:cNvSpPr>
            <a:spLocks xmlns:a="http://schemas.openxmlformats.org/drawingml/2006/main" noGrp="1"/>
          </p:cNvSpPr>
          <p:nvPr/>
        </p:nvSpPr>
        <p:spPr>
          <a:xfrm xmlns:a="http://schemas.openxmlformats.org/drawingml/2006/main">
            <a:off x="4394200" y="1695450"/>
            <a:ext cx="3403600" cy="476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6A98488-A640-4BC2-8DF2-DAB2EC64B2E6}"/>
              </a:ext>
            </a:extLst>
          </p:cNvPr>
          <p:cNvSpPr>
            <a:spLocks xmlns:a="http://schemas.openxmlformats.org/drawingml/2006/main" noGrp="1"/>
          </p:cNvSpPr>
          <p:nvPr/>
        </p:nvSpPr>
        <p:spPr>
          <a:xfrm xmlns:a="http://schemas.openxmlformats.org/drawingml/2006/main">
            <a:off x="4527550" y="1885950"/>
            <a:ext cx="31369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No PLL</a:t>
            </a:r>
          </a:p>
        </p:txBody>
      </p:sp>
      <p:sp>
        <p:nvSpPr>
          <p:cNvPr id="17" name="">
            <a:extLst xmlns:a="http://schemas.openxmlformats.org/drawingml/2006/main">
              <a:ext uri="{FF2B5EF4-FFF2-40B4-BE49-F238E27FC236}">
                <a16:creationId xmlns:a16="http://schemas.microsoft.com/office/drawing/2014/main" id="{7621BD77-8CD8-41E8-B701-C164F20AA332}"/>
              </a:ext>
            </a:extLst>
          </p:cNvPr>
          <p:cNvSpPr>
            <a:spLocks xmlns:a="http://schemas.openxmlformats.org/drawingml/2006/main" noGrp="1"/>
          </p:cNvSpPr>
          <p:nvPr/>
        </p:nvSpPr>
        <p:spPr>
          <a:xfrm xmlns:a="http://schemas.openxmlformats.org/drawingml/2006/main">
            <a:off x="4527550" y="2171700"/>
            <a:ext cx="313690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Clock used as delivered</a:t>
            </a:r>
          </a:p>
        </p:txBody>
      </p:sp>
      <p:sp>
        <p:nvSpPr>
          <p:cNvPr id="18" name="">
            <a:extLst xmlns:a="http://schemas.openxmlformats.org/drawingml/2006/main">
              <a:ext uri="{FF2B5EF4-FFF2-40B4-BE49-F238E27FC236}">
                <a16:creationId xmlns:a16="http://schemas.microsoft.com/office/drawing/2014/main" id="{2B7E6691-313A-460E-8520-498EAB483F50}"/>
              </a:ext>
            </a:extLst>
          </p:cNvPr>
          <p:cNvSpPr>
            <a:spLocks xmlns:a="http://schemas.openxmlformats.org/drawingml/2006/main" noGrp="1"/>
          </p:cNvSpPr>
          <p:nvPr/>
        </p:nvSpPr>
        <p:spPr>
          <a:xfrm xmlns:a="http://schemas.openxmlformats.org/drawingml/2006/main">
            <a:off x="7902575" y="208597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19" name="">
            <a:extLst xmlns:a="http://schemas.openxmlformats.org/drawingml/2006/main">
              <a:ext uri="{FF2B5EF4-FFF2-40B4-BE49-F238E27FC236}">
                <a16:creationId xmlns:a16="http://schemas.microsoft.com/office/drawing/2014/main" id="{1D005686-CB21-4C72-BD5B-19329B2E103E}"/>
              </a:ext>
            </a:extLst>
          </p:cNvPr>
          <p:cNvSpPr>
            <a:spLocks xmlns:a="http://schemas.openxmlformats.org/drawingml/2006/main" noGrp="1"/>
          </p:cNvSpPr>
          <p:nvPr/>
        </p:nvSpPr>
        <p:spPr>
          <a:xfrm xmlns:a="http://schemas.openxmlformats.org/drawingml/2006/main">
            <a:off x="8331200" y="1695450"/>
            <a:ext cx="340360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0B4D8"/>
            </a:solidFill>
            <a:prstDash val="solid"/>
          </a:ln>
        </p:spPr>
      </p:sp>
      <p:sp>
        <p:nvSpPr>
          <p:cNvPr id="20" name="">
            <a:extLst xmlns:a="http://schemas.openxmlformats.org/drawingml/2006/main">
              <a:ext uri="{FF2B5EF4-FFF2-40B4-BE49-F238E27FC236}">
                <a16:creationId xmlns:a16="http://schemas.microsoft.com/office/drawing/2014/main" id="{D9801A33-C355-476F-8235-8E60398A1159}"/>
              </a:ext>
            </a:extLst>
          </p:cNvPr>
          <p:cNvSpPr>
            <a:spLocks xmlns:a="http://schemas.openxmlformats.org/drawingml/2006/main" noGrp="1"/>
          </p:cNvSpPr>
          <p:nvPr/>
        </p:nvSpPr>
        <p:spPr>
          <a:xfrm xmlns:a="http://schemas.openxmlformats.org/drawingml/2006/main">
            <a:off x="8331200" y="1695450"/>
            <a:ext cx="3403600" cy="4762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4A492179-837C-4B5D-A23F-85F3D9471EF3}"/>
              </a:ext>
            </a:extLst>
          </p:cNvPr>
          <p:cNvSpPr>
            <a:spLocks xmlns:a="http://schemas.openxmlformats.org/drawingml/2006/main" noGrp="1"/>
          </p:cNvSpPr>
          <p:nvPr/>
        </p:nvSpPr>
        <p:spPr>
          <a:xfrm xmlns:a="http://schemas.openxmlformats.org/drawingml/2006/main">
            <a:off x="8464550" y="1885950"/>
            <a:ext cx="31369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One domain</a:t>
            </a:r>
          </a:p>
        </p:txBody>
      </p:sp>
      <p:sp>
        <p:nvSpPr>
          <p:cNvPr id="22" name="">
            <a:extLst xmlns:a="http://schemas.openxmlformats.org/drawingml/2006/main">
              <a:ext uri="{FF2B5EF4-FFF2-40B4-BE49-F238E27FC236}">
                <a16:creationId xmlns:a16="http://schemas.microsoft.com/office/drawing/2014/main" id="{1A51681C-0A7C-41EC-AFE1-D712F87622BA}"/>
              </a:ext>
            </a:extLst>
          </p:cNvPr>
          <p:cNvSpPr>
            <a:spLocks xmlns:a="http://schemas.openxmlformats.org/drawingml/2006/main" noGrp="1"/>
          </p:cNvSpPr>
          <p:nvPr/>
        </p:nvSpPr>
        <p:spPr>
          <a:xfrm xmlns:a="http://schemas.openxmlformats.org/drawingml/2006/main">
            <a:off x="8464550" y="2171700"/>
            <a:ext cx="313690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CPU and every peripheral</a:t>
            </a:r>
          </a:p>
        </p:txBody>
      </p:sp>
      <p:sp>
        <p:nvSpPr>
          <p:cNvPr id="23" name="">
            <a:extLst xmlns:a="http://schemas.openxmlformats.org/drawingml/2006/main">
              <a:ext uri="{FF2B5EF4-FFF2-40B4-BE49-F238E27FC236}">
                <a16:creationId xmlns:a16="http://schemas.microsoft.com/office/drawing/2014/main" id="{135F7A50-3273-4EFB-BFC3-4A18B6D513ED}"/>
              </a:ext>
            </a:extLst>
          </p:cNvPr>
          <p:cNvSpPr>
            <a:spLocks xmlns:a="http://schemas.openxmlformats.org/drawingml/2006/main" noGrp="1"/>
          </p:cNvSpPr>
          <p:nvPr/>
        </p:nvSpPr>
        <p:spPr>
          <a:xfrm xmlns:a="http://schemas.openxmlformats.org/drawingml/2006/main">
            <a:off x="457200" y="3105150"/>
            <a:ext cx="241935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A9396"/>
            </a:solidFill>
            <a:prstDash val="solid"/>
          </a:ln>
        </p:spPr>
      </p:sp>
      <p:sp>
        <p:nvSpPr>
          <p:cNvPr id="24" name="">
            <a:extLst xmlns:a="http://schemas.openxmlformats.org/drawingml/2006/main">
              <a:ext uri="{FF2B5EF4-FFF2-40B4-BE49-F238E27FC236}">
                <a16:creationId xmlns:a16="http://schemas.microsoft.com/office/drawing/2014/main" id="{AB281AA7-E413-4046-88AA-A16DC995CC93}"/>
              </a:ext>
            </a:extLst>
          </p:cNvPr>
          <p:cNvSpPr>
            <a:spLocks xmlns:a="http://schemas.openxmlformats.org/drawingml/2006/main" noGrp="1"/>
          </p:cNvSpPr>
          <p:nvPr/>
        </p:nvSpPr>
        <p:spPr>
          <a:xfrm xmlns:a="http://schemas.openxmlformats.org/drawingml/2006/main">
            <a:off x="457200" y="3105150"/>
            <a:ext cx="2419350" cy="476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D12C71A2-8BA2-435E-B4A0-A5C92EED8784}"/>
              </a:ext>
            </a:extLst>
          </p:cNvPr>
          <p:cNvSpPr>
            <a:spLocks xmlns:a="http://schemas.openxmlformats.org/drawingml/2006/main" noGrp="1"/>
          </p:cNvSpPr>
          <p:nvPr/>
        </p:nvSpPr>
        <p:spPr>
          <a:xfrm xmlns:a="http://schemas.openxmlformats.org/drawingml/2006/main">
            <a:off x="590550" y="3295650"/>
            <a:ext cx="21526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resetb</a:t>
            </a:r>
          </a:p>
        </p:txBody>
      </p:sp>
      <p:sp>
        <p:nvSpPr>
          <p:cNvPr id="26" name="">
            <a:extLst xmlns:a="http://schemas.openxmlformats.org/drawingml/2006/main">
              <a:ext uri="{FF2B5EF4-FFF2-40B4-BE49-F238E27FC236}">
                <a16:creationId xmlns:a16="http://schemas.microsoft.com/office/drawing/2014/main" id="{F752B691-8D80-4646-B05D-A82C55EAFB50}"/>
              </a:ext>
            </a:extLst>
          </p:cNvPr>
          <p:cNvSpPr>
            <a:spLocks xmlns:a="http://schemas.openxmlformats.org/drawingml/2006/main" noGrp="1"/>
          </p:cNvSpPr>
          <p:nvPr/>
        </p:nvSpPr>
        <p:spPr>
          <a:xfrm xmlns:a="http://schemas.openxmlformats.org/drawingml/2006/main">
            <a:off x="590550" y="3581400"/>
            <a:ext cx="215265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Active low, 3.3 V</a:t>
            </a:r>
          </a:p>
        </p:txBody>
      </p:sp>
      <p:sp>
        <p:nvSpPr>
          <p:cNvPr id="27" name="">
            <a:extLst xmlns:a="http://schemas.openxmlformats.org/drawingml/2006/main">
              <a:ext uri="{FF2B5EF4-FFF2-40B4-BE49-F238E27FC236}">
                <a16:creationId xmlns:a16="http://schemas.microsoft.com/office/drawing/2014/main" id="{68F967C7-BE3C-46FE-8674-F5D2F1218119}"/>
              </a:ext>
            </a:extLst>
          </p:cNvPr>
          <p:cNvSpPr>
            <a:spLocks xmlns:a="http://schemas.openxmlformats.org/drawingml/2006/main" noGrp="1"/>
          </p:cNvSpPr>
          <p:nvPr/>
        </p:nvSpPr>
        <p:spPr>
          <a:xfrm xmlns:a="http://schemas.openxmlformats.org/drawingml/2006/main">
            <a:off x="2981325" y="349567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28" name="">
            <a:extLst xmlns:a="http://schemas.openxmlformats.org/drawingml/2006/main">
              <a:ext uri="{FF2B5EF4-FFF2-40B4-BE49-F238E27FC236}">
                <a16:creationId xmlns:a16="http://schemas.microsoft.com/office/drawing/2014/main" id="{A26D233C-765B-4250-AF8D-B4B54A4BE23A}"/>
              </a:ext>
            </a:extLst>
          </p:cNvPr>
          <p:cNvSpPr>
            <a:spLocks xmlns:a="http://schemas.openxmlformats.org/drawingml/2006/main" noGrp="1"/>
          </p:cNvSpPr>
          <p:nvPr/>
        </p:nvSpPr>
        <p:spPr>
          <a:xfrm xmlns:a="http://schemas.openxmlformats.org/drawingml/2006/main">
            <a:off x="3409950" y="3105150"/>
            <a:ext cx="241935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A9396"/>
            </a:solidFill>
            <a:prstDash val="solid"/>
          </a:ln>
        </p:spPr>
      </p:sp>
      <p:sp>
        <p:nvSpPr>
          <p:cNvPr id="29" name="">
            <a:extLst xmlns:a="http://schemas.openxmlformats.org/drawingml/2006/main">
              <a:ext uri="{FF2B5EF4-FFF2-40B4-BE49-F238E27FC236}">
                <a16:creationId xmlns:a16="http://schemas.microsoft.com/office/drawing/2014/main" id="{EBB5EAB7-E68E-4CCA-97E5-67925743F304}"/>
              </a:ext>
            </a:extLst>
          </p:cNvPr>
          <p:cNvSpPr>
            <a:spLocks xmlns:a="http://schemas.openxmlformats.org/drawingml/2006/main" noGrp="1"/>
          </p:cNvSpPr>
          <p:nvPr/>
        </p:nvSpPr>
        <p:spPr>
          <a:xfrm xmlns:a="http://schemas.openxmlformats.org/drawingml/2006/main">
            <a:off x="3409950" y="3105150"/>
            <a:ext cx="2419350" cy="476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A8FCE6BE-B002-4C37-96A3-5114F948F0FE}"/>
              </a:ext>
            </a:extLst>
          </p:cNvPr>
          <p:cNvSpPr>
            <a:spLocks xmlns:a="http://schemas.openxmlformats.org/drawingml/2006/main" noGrp="1"/>
          </p:cNvSpPr>
          <p:nvPr/>
        </p:nvSpPr>
        <p:spPr>
          <a:xfrm xmlns:a="http://schemas.openxmlformats.org/drawingml/2006/main">
            <a:off x="3543300" y="3295650"/>
            <a:ext cx="21526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RST_N</a:t>
            </a:r>
          </a:p>
        </p:txBody>
      </p:sp>
      <p:sp>
        <p:nvSpPr>
          <p:cNvPr id="31" name="">
            <a:extLst xmlns:a="http://schemas.openxmlformats.org/drawingml/2006/main">
              <a:ext uri="{FF2B5EF4-FFF2-40B4-BE49-F238E27FC236}">
                <a16:creationId xmlns:a16="http://schemas.microsoft.com/office/drawing/2014/main" id="{B40285AD-ADA2-42AC-9D60-D75EA0C50BB4}"/>
              </a:ext>
            </a:extLst>
          </p:cNvPr>
          <p:cNvSpPr>
            <a:spLocks xmlns:a="http://schemas.openxmlformats.org/drawingml/2006/main" noGrp="1"/>
          </p:cNvSpPr>
          <p:nvPr/>
        </p:nvSpPr>
        <p:spPr>
          <a:xfrm xmlns:a="http://schemas.openxmlformats.org/drawingml/2006/main">
            <a:off x="3543300" y="3581400"/>
            <a:ext cx="215265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Active low, external</a:t>
            </a:r>
          </a:p>
        </p:txBody>
      </p:sp>
      <p:sp>
        <p:nvSpPr>
          <p:cNvPr id="32" name="">
            <a:extLst xmlns:a="http://schemas.openxmlformats.org/drawingml/2006/main">
              <a:ext uri="{FF2B5EF4-FFF2-40B4-BE49-F238E27FC236}">
                <a16:creationId xmlns:a16="http://schemas.microsoft.com/office/drawing/2014/main" id="{B0548836-F483-43F6-8BD8-4EC83B7AE388}"/>
              </a:ext>
            </a:extLst>
          </p:cNvPr>
          <p:cNvSpPr>
            <a:spLocks xmlns:a="http://schemas.openxmlformats.org/drawingml/2006/main" noGrp="1"/>
          </p:cNvSpPr>
          <p:nvPr/>
        </p:nvSpPr>
        <p:spPr>
          <a:xfrm xmlns:a="http://schemas.openxmlformats.org/drawingml/2006/main">
            <a:off x="5934075" y="349567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33" name="">
            <a:extLst xmlns:a="http://schemas.openxmlformats.org/drawingml/2006/main">
              <a:ext uri="{FF2B5EF4-FFF2-40B4-BE49-F238E27FC236}">
                <a16:creationId xmlns:a16="http://schemas.microsoft.com/office/drawing/2014/main" id="{EA213766-ECDB-4CE3-A68B-C934788454BC}"/>
              </a:ext>
            </a:extLst>
          </p:cNvPr>
          <p:cNvSpPr>
            <a:spLocks xmlns:a="http://schemas.openxmlformats.org/drawingml/2006/main" noGrp="1"/>
          </p:cNvSpPr>
          <p:nvPr/>
        </p:nvSpPr>
        <p:spPr>
          <a:xfrm xmlns:a="http://schemas.openxmlformats.org/drawingml/2006/main">
            <a:off x="6362700" y="3105150"/>
            <a:ext cx="241935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A9396"/>
            </a:solidFill>
            <a:prstDash val="solid"/>
          </a:ln>
        </p:spPr>
      </p:sp>
      <p:sp>
        <p:nvSpPr>
          <p:cNvPr id="34" name="">
            <a:extLst xmlns:a="http://schemas.openxmlformats.org/drawingml/2006/main">
              <a:ext uri="{FF2B5EF4-FFF2-40B4-BE49-F238E27FC236}">
                <a16:creationId xmlns:a16="http://schemas.microsoft.com/office/drawing/2014/main" id="{CA9DB6B5-7ADB-4275-8F51-218AE40E7A29}"/>
              </a:ext>
            </a:extLst>
          </p:cNvPr>
          <p:cNvSpPr>
            <a:spLocks xmlns:a="http://schemas.openxmlformats.org/drawingml/2006/main" noGrp="1"/>
          </p:cNvSpPr>
          <p:nvPr/>
        </p:nvSpPr>
        <p:spPr>
          <a:xfrm xmlns:a="http://schemas.openxmlformats.org/drawingml/2006/main">
            <a:off x="6362700" y="3105150"/>
            <a:ext cx="2419350" cy="476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05DC9D84-E6C6-40CB-8C43-BEC879141303}"/>
              </a:ext>
            </a:extLst>
          </p:cNvPr>
          <p:cNvSpPr>
            <a:spLocks xmlns:a="http://schemas.openxmlformats.org/drawingml/2006/main" noGrp="1"/>
          </p:cNvSpPr>
          <p:nvPr/>
        </p:nvSpPr>
        <p:spPr>
          <a:xfrm xmlns:a="http://schemas.openxmlformats.org/drawingml/2006/main">
            <a:off x="6496050" y="3295650"/>
            <a:ext cx="21526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Power-on reset</a:t>
            </a:r>
          </a:p>
        </p:txBody>
      </p:sp>
      <p:sp>
        <p:nvSpPr>
          <p:cNvPr id="36" name="">
            <a:extLst xmlns:a="http://schemas.openxmlformats.org/drawingml/2006/main">
              <a:ext uri="{FF2B5EF4-FFF2-40B4-BE49-F238E27FC236}">
                <a16:creationId xmlns:a16="http://schemas.microsoft.com/office/drawing/2014/main" id="{69717F4A-DC94-4EF4-B9A7-A77FAC76569C}"/>
              </a:ext>
            </a:extLst>
          </p:cNvPr>
          <p:cNvSpPr>
            <a:spLocks xmlns:a="http://schemas.openxmlformats.org/drawingml/2006/main" noGrp="1"/>
          </p:cNvSpPr>
          <p:nvPr/>
        </p:nvSpPr>
        <p:spPr>
          <a:xfrm xmlns:a="http://schemas.openxmlformats.org/drawingml/2006/main">
            <a:off x="6496050" y="3581400"/>
            <a:ext cx="215265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From the wrapper</a:t>
            </a:r>
          </a:p>
        </p:txBody>
      </p:sp>
      <p:sp>
        <p:nvSpPr>
          <p:cNvPr id="37" name="">
            <a:extLst xmlns:a="http://schemas.openxmlformats.org/drawingml/2006/main">
              <a:ext uri="{FF2B5EF4-FFF2-40B4-BE49-F238E27FC236}">
                <a16:creationId xmlns:a16="http://schemas.microsoft.com/office/drawing/2014/main" id="{BFC812A4-0E5E-4612-99F8-BFE80CA64658}"/>
              </a:ext>
            </a:extLst>
          </p:cNvPr>
          <p:cNvSpPr>
            <a:spLocks xmlns:a="http://schemas.openxmlformats.org/drawingml/2006/main" noGrp="1"/>
          </p:cNvSpPr>
          <p:nvPr/>
        </p:nvSpPr>
        <p:spPr>
          <a:xfrm xmlns:a="http://schemas.openxmlformats.org/drawingml/2006/main">
            <a:off x="8886825" y="349567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38" name="">
            <a:extLst xmlns:a="http://schemas.openxmlformats.org/drawingml/2006/main">
              <a:ext uri="{FF2B5EF4-FFF2-40B4-BE49-F238E27FC236}">
                <a16:creationId xmlns:a16="http://schemas.microsoft.com/office/drawing/2014/main" id="{F2BFCE5C-346D-4912-9B7A-B7B08279FBBA}"/>
              </a:ext>
            </a:extLst>
          </p:cNvPr>
          <p:cNvSpPr>
            <a:spLocks xmlns:a="http://schemas.openxmlformats.org/drawingml/2006/main" noGrp="1"/>
          </p:cNvSpPr>
          <p:nvPr/>
        </p:nvSpPr>
        <p:spPr>
          <a:xfrm xmlns:a="http://schemas.openxmlformats.org/drawingml/2006/main">
            <a:off x="9315450" y="3105150"/>
            <a:ext cx="241935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0B4D8"/>
            </a:solidFill>
            <a:prstDash val="solid"/>
          </a:ln>
        </p:spPr>
      </p:sp>
      <p:sp>
        <p:nvSpPr>
          <p:cNvPr id="39" name="">
            <a:extLst xmlns:a="http://schemas.openxmlformats.org/drawingml/2006/main">
              <a:ext uri="{FF2B5EF4-FFF2-40B4-BE49-F238E27FC236}">
                <a16:creationId xmlns:a16="http://schemas.microsoft.com/office/drawing/2014/main" id="{120FFE42-20C4-47EE-829B-20FBEDFA8BD9}"/>
              </a:ext>
            </a:extLst>
          </p:cNvPr>
          <p:cNvSpPr>
            <a:spLocks xmlns:a="http://schemas.openxmlformats.org/drawingml/2006/main" noGrp="1"/>
          </p:cNvSpPr>
          <p:nvPr/>
        </p:nvSpPr>
        <p:spPr>
          <a:xfrm xmlns:a="http://schemas.openxmlformats.org/drawingml/2006/main">
            <a:off x="9315450" y="3105150"/>
            <a:ext cx="2419350" cy="4762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32EFC2E8-85EB-4B00-8537-34BE19E73BA0}"/>
              </a:ext>
            </a:extLst>
          </p:cNvPr>
          <p:cNvSpPr>
            <a:spLocks xmlns:a="http://schemas.openxmlformats.org/drawingml/2006/main" noGrp="1"/>
          </p:cNvSpPr>
          <p:nvPr/>
        </p:nvSpPr>
        <p:spPr>
          <a:xfrm xmlns:a="http://schemas.openxmlformats.org/drawingml/2006/main">
            <a:off x="9448800" y="3295650"/>
            <a:ext cx="21526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Combined on die</a:t>
            </a:r>
          </a:p>
        </p:txBody>
      </p:sp>
      <p:sp>
        <p:nvSpPr>
          <p:cNvPr id="41" name="">
            <a:extLst xmlns:a="http://schemas.openxmlformats.org/drawingml/2006/main">
              <a:ext uri="{FF2B5EF4-FFF2-40B4-BE49-F238E27FC236}">
                <a16:creationId xmlns:a16="http://schemas.microsoft.com/office/drawing/2014/main" id="{C5FFD027-F216-4FE6-B2C4-98AF7911D4C1}"/>
              </a:ext>
            </a:extLst>
          </p:cNvPr>
          <p:cNvSpPr>
            <a:spLocks xmlns:a="http://schemas.openxmlformats.org/drawingml/2006/main" noGrp="1"/>
          </p:cNvSpPr>
          <p:nvPr/>
        </p:nvSpPr>
        <p:spPr>
          <a:xfrm xmlns:a="http://schemas.openxmlformats.org/drawingml/2006/main">
            <a:off x="9448800" y="3581400"/>
            <a:ext cx="215265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Any one resets the core</a:t>
            </a:r>
          </a:p>
        </p:txBody>
      </p:sp>
      <p:sp>
        <p:nvSpPr>
          <p:cNvPr id="42" name="">
            <a:extLst xmlns:a="http://schemas.openxmlformats.org/drawingml/2006/main">
              <a:ext uri="{FF2B5EF4-FFF2-40B4-BE49-F238E27FC236}">
                <a16:creationId xmlns:a16="http://schemas.microsoft.com/office/drawing/2014/main" id="{CDF10C93-4215-47B5-8664-C8BCC9B7FD92}"/>
              </a:ext>
            </a:extLst>
          </p:cNvPr>
          <p:cNvSpPr>
            <a:spLocks xmlns:a="http://schemas.openxmlformats.org/drawingml/2006/main" noGrp="1"/>
          </p:cNvSpPr>
          <p:nvPr/>
        </p:nvSpPr>
        <p:spPr>
          <a:xfrm xmlns:a="http://schemas.openxmlformats.org/drawingml/2006/main">
            <a:off x="457200" y="4476750"/>
            <a:ext cx="550545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43" name="">
            <a:extLst xmlns:a="http://schemas.openxmlformats.org/drawingml/2006/main">
              <a:ext uri="{FF2B5EF4-FFF2-40B4-BE49-F238E27FC236}">
                <a16:creationId xmlns:a16="http://schemas.microsoft.com/office/drawing/2014/main" id="{87CF7F9C-3BEC-4018-AD08-6D2231BB5BB6}"/>
              </a:ext>
            </a:extLst>
          </p:cNvPr>
          <p:cNvSpPr>
            <a:spLocks xmlns:a="http://schemas.openxmlformats.org/drawingml/2006/main" noGrp="1"/>
          </p:cNvSpPr>
          <p:nvPr/>
        </p:nvSpPr>
        <p:spPr>
          <a:xfrm xmlns:a="http://schemas.openxmlformats.org/drawingml/2006/main">
            <a:off x="457200" y="4476750"/>
            <a:ext cx="57150" cy="124777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D7255DD6-0E5B-44F6-A976-2E2012EB8CA4}"/>
              </a:ext>
            </a:extLst>
          </p:cNvPr>
          <p:cNvSpPr>
            <a:spLocks xmlns:a="http://schemas.openxmlformats.org/drawingml/2006/main" noGrp="1"/>
          </p:cNvSpPr>
          <p:nvPr/>
        </p:nvSpPr>
        <p:spPr>
          <a:xfrm xmlns:a="http://schemas.openxmlformats.org/drawingml/2006/main">
            <a:off x="685800" y="4667250"/>
            <a:ext cx="50863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Use either reset</a:t>
            </a:r>
          </a:p>
        </p:txBody>
      </p:sp>
      <p:sp>
        <p:nvSpPr>
          <p:cNvPr id="45" name="">
            <a:extLst xmlns:a="http://schemas.openxmlformats.org/drawingml/2006/main">
              <a:ext uri="{FF2B5EF4-FFF2-40B4-BE49-F238E27FC236}">
                <a16:creationId xmlns:a16="http://schemas.microsoft.com/office/drawing/2014/main" id="{73C43059-F76B-48B7-A746-0DD78E622C80}"/>
              </a:ext>
            </a:extLst>
          </p:cNvPr>
          <p:cNvSpPr>
            <a:spLocks xmlns:a="http://schemas.openxmlformats.org/drawingml/2006/main" noGrp="1"/>
          </p:cNvSpPr>
          <p:nvPr/>
        </p:nvSpPr>
        <p:spPr>
          <a:xfrm xmlns:a="http://schemas.openxmlformats.org/drawingml/2006/main">
            <a:off x="685800" y="5029200"/>
            <a:ext cx="504825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Both are combined on the die; pull the unused input high.</a:t>
            </a:r>
          </a:p>
        </p:txBody>
      </p:sp>
      <p:sp>
        <p:nvSpPr>
          <p:cNvPr id="46" name="">
            <a:extLst xmlns:a="http://schemas.openxmlformats.org/drawingml/2006/main">
              <a:ext uri="{FF2B5EF4-FFF2-40B4-BE49-F238E27FC236}">
                <a16:creationId xmlns:a16="http://schemas.microsoft.com/office/drawing/2014/main" id="{9D7D1FC3-3C8C-4F15-ADD3-EB413E2A0E25}"/>
              </a:ext>
            </a:extLst>
          </p:cNvPr>
          <p:cNvSpPr>
            <a:spLocks xmlns:a="http://schemas.openxmlformats.org/drawingml/2006/main" noGrp="1"/>
          </p:cNvSpPr>
          <p:nvPr/>
        </p:nvSpPr>
        <p:spPr>
          <a:xfrm xmlns:a="http://schemas.openxmlformats.org/drawingml/2006/main">
            <a:off x="6229350" y="4476750"/>
            <a:ext cx="550545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47" name="">
            <a:extLst xmlns:a="http://schemas.openxmlformats.org/drawingml/2006/main">
              <a:ext uri="{FF2B5EF4-FFF2-40B4-BE49-F238E27FC236}">
                <a16:creationId xmlns:a16="http://schemas.microsoft.com/office/drawing/2014/main" id="{032DAEF9-6AC5-4A54-9646-2EF9AE699626}"/>
              </a:ext>
            </a:extLst>
          </p:cNvPr>
          <p:cNvSpPr>
            <a:spLocks xmlns:a="http://schemas.openxmlformats.org/drawingml/2006/main" noGrp="1"/>
          </p:cNvSpPr>
          <p:nvPr/>
        </p:nvSpPr>
        <p:spPr>
          <a:xfrm xmlns:a="http://schemas.openxmlformats.org/drawingml/2006/main">
            <a:off x="6229350" y="4476750"/>
            <a:ext cx="57150" cy="124777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8D1A52B3-2050-4EAB-8FB0-A6652FF5DC6B}"/>
              </a:ext>
            </a:extLst>
          </p:cNvPr>
          <p:cNvSpPr>
            <a:spLocks xmlns:a="http://schemas.openxmlformats.org/drawingml/2006/main" noGrp="1"/>
          </p:cNvSpPr>
          <p:nvPr/>
        </p:nvSpPr>
        <p:spPr>
          <a:xfrm xmlns:a="http://schemas.openxmlformats.org/drawingml/2006/main">
            <a:off x="6457950" y="4667250"/>
            <a:ext cx="50863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Measured ceiling</a:t>
            </a:r>
          </a:p>
        </p:txBody>
      </p:sp>
      <p:sp>
        <p:nvSpPr>
          <p:cNvPr id="49" name="">
            <a:extLst xmlns:a="http://schemas.openxmlformats.org/drawingml/2006/main">
              <a:ext uri="{FF2B5EF4-FFF2-40B4-BE49-F238E27FC236}">
                <a16:creationId xmlns:a16="http://schemas.microsoft.com/office/drawing/2014/main" id="{637D2881-DDD7-4005-BDD3-B126ABE2ACEE}"/>
              </a:ext>
            </a:extLst>
          </p:cNvPr>
          <p:cNvSpPr>
            <a:spLocks xmlns:a="http://schemas.openxmlformats.org/drawingml/2006/main" noGrp="1"/>
          </p:cNvSpPr>
          <p:nvPr/>
        </p:nvSpPr>
        <p:spPr>
          <a:xfrm xmlns:a="http://schemas.openxmlformats.org/drawingml/2006/main">
            <a:off x="6457950" y="5029200"/>
            <a:ext cx="504825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The lockstep core reaches ~55–62 MHz post-route, so 50 MHz is the target.</a:t>
            </a:r>
          </a:p>
        </p:txBody>
      </p:sp>
      <p:sp>
        <p:nvSpPr>
          <p:cNvPr id="50" name="">
            <a:extLst xmlns:a="http://schemas.openxmlformats.org/drawingml/2006/main">
              <a:ext uri="{FF2B5EF4-FFF2-40B4-BE49-F238E27FC236}">
                <a16:creationId xmlns:a16="http://schemas.microsoft.com/office/drawing/2014/main" id="{E9D79E40-9DD1-45DB-8774-4E76E34E13A0}"/>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6B7280"/>
                </a:solidFill>
                <a:latin typeface="Arial"/>
                <a:ea typeface="Arial"/>
                <a:cs typeface="Arial"/>
              </a:defRPr>
            </a:pPr>
            <a:r>
              <a:t>Source: DG32-LITE preliminary datasheet §6.1, §4.1.</a:t>
            </a:r>
          </a:p>
        </p:txBody>
      </p:sp>
    </p:spTree>
    <p:extLst>
      <p:ext uri="{BB962C8B-B14F-4D97-AF65-F5344CB8AC3E}">
        <p14:creationId xmlns:p14="http://schemas.microsoft.com/office/powerpoint/2010/main" val="1824674488"/>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22005EAE-8FD7-49A7-918A-85467CC4365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8D2E721-3254-4CEC-8B68-4690358DA0F8}"/>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77A3"/>
                </a:solidFill>
                <a:latin typeface="Arial"/>
                <a:ea typeface="Arial"/>
                <a:cs typeface="Arial"/>
              </a:defRPr>
            </a:pPr>
            <a:r>
              <a:t>09 · BOOT</a:t>
            </a:r>
          </a:p>
        </p:txBody>
      </p:sp>
      <p:sp>
        <p:nvSpPr>
          <p:cNvPr id="3" name="">
            <a:extLst xmlns:a="http://schemas.openxmlformats.org/drawingml/2006/main">
              <a:ext uri="{FF2B5EF4-FFF2-40B4-BE49-F238E27FC236}">
                <a16:creationId xmlns:a16="http://schemas.microsoft.com/office/drawing/2014/main" id="{41C5ED98-24D7-4D3A-BCED-CE7A6ED951E4}"/>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The ROM boots from flash or opens a monitor</a:t>
            </a:r>
          </a:p>
        </p:txBody>
      </p:sp>
      <p:sp>
        <p:nvSpPr>
          <p:cNvPr id="4" name="">
            <a:extLst xmlns:a="http://schemas.openxmlformats.org/drawingml/2006/main">
              <a:ext uri="{FF2B5EF4-FFF2-40B4-BE49-F238E27FC236}">
                <a16:creationId xmlns:a16="http://schemas.microsoft.com/office/drawing/2014/main" id="{2608C0BC-C749-4898-A21A-A10384FDB97C}"/>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Standalone boot: no management core, no external help</a:t>
            </a:r>
          </a:p>
        </p:txBody>
      </p:sp>
      <p:sp>
        <p:nvSpPr>
          <p:cNvPr id="5" name="">
            <a:extLst xmlns:a="http://schemas.openxmlformats.org/drawingml/2006/main">
              <a:ext uri="{FF2B5EF4-FFF2-40B4-BE49-F238E27FC236}">
                <a16:creationId xmlns:a16="http://schemas.microsoft.com/office/drawing/2014/main" id="{B9D94607-CA7D-4291-957A-767B44612997}"/>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9D27F4C-5A9C-43BE-8884-5969E3E0314A}"/>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17FDFEA-33A2-46C6-8B68-394AE5B4CFA5}"/>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DEEPGRID SEMI  ·  DG32-LITE PRELIMINARY DATASHEET  ·  SEPTEMBER 2026  ·  PRE-SILICON</a:t>
            </a:r>
          </a:p>
        </p:txBody>
      </p:sp>
      <p:sp>
        <p:nvSpPr>
          <p:cNvPr id="8" name="">
            <a:extLst xmlns:a="http://schemas.openxmlformats.org/drawingml/2006/main">
              <a:ext uri="{FF2B5EF4-FFF2-40B4-BE49-F238E27FC236}">
                <a16:creationId xmlns:a16="http://schemas.microsoft.com/office/drawing/2014/main" id="{5F5816B2-7347-4F7B-9F17-56C5B1B5A54B}"/>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09</a:t>
            </a:r>
          </a:p>
        </p:txBody>
      </p:sp>
      <p:sp>
        <p:nvSpPr>
          <p:cNvPr id="9" name="">
            <a:extLst xmlns:a="http://schemas.openxmlformats.org/drawingml/2006/main">
              <a:ext uri="{FF2B5EF4-FFF2-40B4-BE49-F238E27FC236}">
                <a16:creationId xmlns:a16="http://schemas.microsoft.com/office/drawing/2014/main" id="{AD0CD981-B076-4423-9307-7E73122307E4}"/>
              </a:ext>
            </a:extLst>
          </p:cNvPr>
          <p:cNvSpPr>
            <a:spLocks xmlns:a="http://schemas.openxmlformats.org/drawingml/2006/main" noGrp="1"/>
          </p:cNvSpPr>
          <p:nvPr/>
        </p:nvSpPr>
        <p:spPr>
          <a:xfrm xmlns:a="http://schemas.openxmlformats.org/drawingml/2006/main">
            <a:off x="457200" y="1695450"/>
            <a:ext cx="241935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A9396"/>
            </a:solidFill>
            <a:prstDash val="solid"/>
          </a:ln>
        </p:spPr>
      </p:sp>
      <p:sp>
        <p:nvSpPr>
          <p:cNvPr id="10" name="">
            <a:extLst xmlns:a="http://schemas.openxmlformats.org/drawingml/2006/main">
              <a:ext uri="{FF2B5EF4-FFF2-40B4-BE49-F238E27FC236}">
                <a16:creationId xmlns:a16="http://schemas.microsoft.com/office/drawing/2014/main" id="{35D014C6-2EAD-4721-B10F-394E643AF902}"/>
              </a:ext>
            </a:extLst>
          </p:cNvPr>
          <p:cNvSpPr>
            <a:spLocks xmlns:a="http://schemas.openxmlformats.org/drawingml/2006/main" noGrp="1"/>
          </p:cNvSpPr>
          <p:nvPr/>
        </p:nvSpPr>
        <p:spPr>
          <a:xfrm xmlns:a="http://schemas.openxmlformats.org/drawingml/2006/main">
            <a:off x="457200" y="1695450"/>
            <a:ext cx="2419350" cy="476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85B8835-F419-445D-AC2C-43D66800923F}"/>
              </a:ext>
            </a:extLst>
          </p:cNvPr>
          <p:cNvSpPr>
            <a:spLocks xmlns:a="http://schemas.openxmlformats.org/drawingml/2006/main" noGrp="1"/>
          </p:cNvSpPr>
          <p:nvPr/>
        </p:nvSpPr>
        <p:spPr>
          <a:xfrm xmlns:a="http://schemas.openxmlformats.org/drawingml/2006/main">
            <a:off x="590550" y="1885950"/>
            <a:ext cx="21526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Banner</a:t>
            </a:r>
          </a:p>
        </p:txBody>
      </p:sp>
      <p:sp>
        <p:nvSpPr>
          <p:cNvPr id="12" name="">
            <a:extLst xmlns:a="http://schemas.openxmlformats.org/drawingml/2006/main">
              <a:ext uri="{FF2B5EF4-FFF2-40B4-BE49-F238E27FC236}">
                <a16:creationId xmlns:a16="http://schemas.microsoft.com/office/drawing/2014/main" id="{A9C06501-3ACB-4E7E-80AB-74AB7B6856DC}"/>
              </a:ext>
            </a:extLst>
          </p:cNvPr>
          <p:cNvSpPr>
            <a:spLocks xmlns:a="http://schemas.openxmlformats.org/drawingml/2006/main" noGrp="1"/>
          </p:cNvSpPr>
          <p:nvPr/>
        </p:nvSpPr>
        <p:spPr>
          <a:xfrm xmlns:a="http://schemas.openxmlformats.org/drawingml/2006/main">
            <a:off x="590550" y="2171700"/>
            <a:ext cx="215265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UART0 at 115,200 baud, 8N1</a:t>
            </a:r>
          </a:p>
        </p:txBody>
      </p:sp>
      <p:sp>
        <p:nvSpPr>
          <p:cNvPr id="13" name="">
            <a:extLst xmlns:a="http://schemas.openxmlformats.org/drawingml/2006/main">
              <a:ext uri="{FF2B5EF4-FFF2-40B4-BE49-F238E27FC236}">
                <a16:creationId xmlns:a16="http://schemas.microsoft.com/office/drawing/2014/main" id="{434056A8-C3C9-4E98-A462-7489458FD18C}"/>
              </a:ext>
            </a:extLst>
          </p:cNvPr>
          <p:cNvSpPr>
            <a:spLocks xmlns:a="http://schemas.openxmlformats.org/drawingml/2006/main" noGrp="1"/>
          </p:cNvSpPr>
          <p:nvPr/>
        </p:nvSpPr>
        <p:spPr>
          <a:xfrm xmlns:a="http://schemas.openxmlformats.org/drawingml/2006/main">
            <a:off x="2981325" y="208597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14" name="">
            <a:extLst xmlns:a="http://schemas.openxmlformats.org/drawingml/2006/main">
              <a:ext uri="{FF2B5EF4-FFF2-40B4-BE49-F238E27FC236}">
                <a16:creationId xmlns:a16="http://schemas.microsoft.com/office/drawing/2014/main" id="{735CA769-36E8-4AAB-B255-B71C60FD7743}"/>
              </a:ext>
            </a:extLst>
          </p:cNvPr>
          <p:cNvSpPr>
            <a:spLocks xmlns:a="http://schemas.openxmlformats.org/drawingml/2006/main" noGrp="1"/>
          </p:cNvSpPr>
          <p:nvPr/>
        </p:nvSpPr>
        <p:spPr>
          <a:xfrm xmlns:a="http://schemas.openxmlformats.org/drawingml/2006/main">
            <a:off x="3409950" y="1695450"/>
            <a:ext cx="241935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A9396"/>
            </a:solidFill>
            <a:prstDash val="solid"/>
          </a:ln>
        </p:spPr>
      </p:sp>
      <p:sp>
        <p:nvSpPr>
          <p:cNvPr id="15" name="">
            <a:extLst xmlns:a="http://schemas.openxmlformats.org/drawingml/2006/main">
              <a:ext uri="{FF2B5EF4-FFF2-40B4-BE49-F238E27FC236}">
                <a16:creationId xmlns:a16="http://schemas.microsoft.com/office/drawing/2014/main" id="{A98F69D5-D1CE-481E-80A3-8DF555E97853}"/>
              </a:ext>
            </a:extLst>
          </p:cNvPr>
          <p:cNvSpPr>
            <a:spLocks xmlns:a="http://schemas.openxmlformats.org/drawingml/2006/main" noGrp="1"/>
          </p:cNvSpPr>
          <p:nvPr/>
        </p:nvSpPr>
        <p:spPr>
          <a:xfrm xmlns:a="http://schemas.openxmlformats.org/drawingml/2006/main">
            <a:off x="3409950" y="1695450"/>
            <a:ext cx="2419350" cy="476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4D0FD9C-4D00-4842-8408-07FAE1275F50}"/>
              </a:ext>
            </a:extLst>
          </p:cNvPr>
          <p:cNvSpPr>
            <a:spLocks xmlns:a="http://schemas.openxmlformats.org/drawingml/2006/main" noGrp="1"/>
          </p:cNvSpPr>
          <p:nvPr/>
        </p:nvSpPr>
        <p:spPr>
          <a:xfrm xmlns:a="http://schemas.openxmlformats.org/drawingml/2006/main">
            <a:off x="3543300" y="1885950"/>
            <a:ext cx="21526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Check header</a:t>
            </a:r>
          </a:p>
        </p:txBody>
      </p:sp>
      <p:sp>
        <p:nvSpPr>
          <p:cNvPr id="17" name="">
            <a:extLst xmlns:a="http://schemas.openxmlformats.org/drawingml/2006/main">
              <a:ext uri="{FF2B5EF4-FFF2-40B4-BE49-F238E27FC236}">
                <a16:creationId xmlns:a16="http://schemas.microsoft.com/office/drawing/2014/main" id="{913E3849-B301-4FA4-8405-104E95940E5B}"/>
              </a:ext>
            </a:extLst>
          </p:cNvPr>
          <p:cNvSpPr>
            <a:spLocks xmlns:a="http://schemas.openxmlformats.org/drawingml/2006/main" noGrp="1"/>
          </p:cNvSpPr>
          <p:nvPr/>
        </p:nvSpPr>
        <p:spPr>
          <a:xfrm xmlns:a="http://schemas.openxmlformats.org/drawingml/2006/main">
            <a:off x="3543300" y="2171700"/>
            <a:ext cx="215265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Reads the flash image header</a:t>
            </a:r>
          </a:p>
        </p:txBody>
      </p:sp>
      <p:sp>
        <p:nvSpPr>
          <p:cNvPr id="18" name="">
            <a:extLst xmlns:a="http://schemas.openxmlformats.org/drawingml/2006/main">
              <a:ext uri="{FF2B5EF4-FFF2-40B4-BE49-F238E27FC236}">
                <a16:creationId xmlns:a16="http://schemas.microsoft.com/office/drawing/2014/main" id="{68890049-6DE4-4C4E-9204-3202AED211A6}"/>
              </a:ext>
            </a:extLst>
          </p:cNvPr>
          <p:cNvSpPr>
            <a:spLocks xmlns:a="http://schemas.openxmlformats.org/drawingml/2006/main" noGrp="1"/>
          </p:cNvSpPr>
          <p:nvPr/>
        </p:nvSpPr>
        <p:spPr>
          <a:xfrm xmlns:a="http://schemas.openxmlformats.org/drawingml/2006/main">
            <a:off x="5934075" y="208597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19" name="">
            <a:extLst xmlns:a="http://schemas.openxmlformats.org/drawingml/2006/main">
              <a:ext uri="{FF2B5EF4-FFF2-40B4-BE49-F238E27FC236}">
                <a16:creationId xmlns:a16="http://schemas.microsoft.com/office/drawing/2014/main" id="{2347B7D0-A734-4E9B-BCA7-246B732DADF9}"/>
              </a:ext>
            </a:extLst>
          </p:cNvPr>
          <p:cNvSpPr>
            <a:spLocks xmlns:a="http://schemas.openxmlformats.org/drawingml/2006/main" noGrp="1"/>
          </p:cNvSpPr>
          <p:nvPr/>
        </p:nvSpPr>
        <p:spPr>
          <a:xfrm xmlns:a="http://schemas.openxmlformats.org/drawingml/2006/main">
            <a:off x="6362700" y="1695450"/>
            <a:ext cx="241935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A9396"/>
            </a:solidFill>
            <a:prstDash val="solid"/>
          </a:ln>
        </p:spPr>
      </p:sp>
      <p:sp>
        <p:nvSpPr>
          <p:cNvPr id="20" name="">
            <a:extLst xmlns:a="http://schemas.openxmlformats.org/drawingml/2006/main">
              <a:ext uri="{FF2B5EF4-FFF2-40B4-BE49-F238E27FC236}">
                <a16:creationId xmlns:a16="http://schemas.microsoft.com/office/drawing/2014/main" id="{66645966-4E7F-4715-A99D-DABD882B078A}"/>
              </a:ext>
            </a:extLst>
          </p:cNvPr>
          <p:cNvSpPr>
            <a:spLocks xmlns:a="http://schemas.openxmlformats.org/drawingml/2006/main" noGrp="1"/>
          </p:cNvSpPr>
          <p:nvPr/>
        </p:nvSpPr>
        <p:spPr>
          <a:xfrm xmlns:a="http://schemas.openxmlformats.org/drawingml/2006/main">
            <a:off x="6362700" y="1695450"/>
            <a:ext cx="2419350" cy="476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09AF9A54-3889-4310-82E9-CD8F879CAEE5}"/>
              </a:ext>
            </a:extLst>
          </p:cNvPr>
          <p:cNvSpPr>
            <a:spLocks xmlns:a="http://schemas.openxmlformats.org/drawingml/2006/main" noGrp="1"/>
          </p:cNvSpPr>
          <p:nvPr/>
        </p:nvSpPr>
        <p:spPr>
          <a:xfrm xmlns:a="http://schemas.openxmlformats.org/drawingml/2006/main">
            <a:off x="6496050" y="1885950"/>
            <a:ext cx="21526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Copy</a:t>
            </a:r>
          </a:p>
        </p:txBody>
      </p:sp>
      <p:sp>
        <p:nvSpPr>
          <p:cNvPr id="22" name="">
            <a:extLst xmlns:a="http://schemas.openxmlformats.org/drawingml/2006/main">
              <a:ext uri="{FF2B5EF4-FFF2-40B4-BE49-F238E27FC236}">
                <a16:creationId xmlns:a16="http://schemas.microsoft.com/office/drawing/2014/main" id="{126B98DA-FE74-4325-8221-B48E6A1A19D3}"/>
              </a:ext>
            </a:extLst>
          </p:cNvPr>
          <p:cNvSpPr>
            <a:spLocks xmlns:a="http://schemas.openxmlformats.org/drawingml/2006/main" noGrp="1"/>
          </p:cNvSpPr>
          <p:nvPr/>
        </p:nvSpPr>
        <p:spPr>
          <a:xfrm xmlns:a="http://schemas.openxmlformats.org/drawingml/2006/main">
            <a:off x="6496050" y="2171700"/>
            <a:ext cx="215265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Quad-SPI read into SRAM</a:t>
            </a:r>
          </a:p>
        </p:txBody>
      </p:sp>
      <p:sp>
        <p:nvSpPr>
          <p:cNvPr id="23" name="">
            <a:extLst xmlns:a="http://schemas.openxmlformats.org/drawingml/2006/main">
              <a:ext uri="{FF2B5EF4-FFF2-40B4-BE49-F238E27FC236}">
                <a16:creationId xmlns:a16="http://schemas.microsoft.com/office/drawing/2014/main" id="{9F1435FD-7290-49E6-8369-152E2A2601F2}"/>
              </a:ext>
            </a:extLst>
          </p:cNvPr>
          <p:cNvSpPr>
            <a:spLocks xmlns:a="http://schemas.openxmlformats.org/drawingml/2006/main" noGrp="1"/>
          </p:cNvSpPr>
          <p:nvPr/>
        </p:nvSpPr>
        <p:spPr>
          <a:xfrm xmlns:a="http://schemas.openxmlformats.org/drawingml/2006/main">
            <a:off x="8886825" y="208597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24" name="">
            <a:extLst xmlns:a="http://schemas.openxmlformats.org/drawingml/2006/main">
              <a:ext uri="{FF2B5EF4-FFF2-40B4-BE49-F238E27FC236}">
                <a16:creationId xmlns:a16="http://schemas.microsoft.com/office/drawing/2014/main" id="{7F9AC071-C6AE-43CA-A46B-7C8DD81913CA}"/>
              </a:ext>
            </a:extLst>
          </p:cNvPr>
          <p:cNvSpPr>
            <a:spLocks xmlns:a="http://schemas.openxmlformats.org/drawingml/2006/main" noGrp="1"/>
          </p:cNvSpPr>
          <p:nvPr/>
        </p:nvSpPr>
        <p:spPr>
          <a:xfrm xmlns:a="http://schemas.openxmlformats.org/drawingml/2006/main">
            <a:off x="9315450" y="1695450"/>
            <a:ext cx="241935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0B4D8"/>
            </a:solidFill>
            <a:prstDash val="solid"/>
          </a:ln>
        </p:spPr>
      </p:sp>
      <p:sp>
        <p:nvSpPr>
          <p:cNvPr id="25" name="">
            <a:extLst xmlns:a="http://schemas.openxmlformats.org/drawingml/2006/main">
              <a:ext uri="{FF2B5EF4-FFF2-40B4-BE49-F238E27FC236}">
                <a16:creationId xmlns:a16="http://schemas.microsoft.com/office/drawing/2014/main" id="{7470E97E-024D-4688-A212-B48DD9927C2A}"/>
              </a:ext>
            </a:extLst>
          </p:cNvPr>
          <p:cNvSpPr>
            <a:spLocks xmlns:a="http://schemas.openxmlformats.org/drawingml/2006/main" noGrp="1"/>
          </p:cNvSpPr>
          <p:nvPr/>
        </p:nvSpPr>
        <p:spPr>
          <a:xfrm xmlns:a="http://schemas.openxmlformats.org/drawingml/2006/main">
            <a:off x="9315450" y="1695450"/>
            <a:ext cx="2419350" cy="4762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E45C036C-A0E6-4FC2-BBA6-2B0E2AFCCCA7}"/>
              </a:ext>
            </a:extLst>
          </p:cNvPr>
          <p:cNvSpPr>
            <a:spLocks xmlns:a="http://schemas.openxmlformats.org/drawingml/2006/main" noGrp="1"/>
          </p:cNvSpPr>
          <p:nvPr/>
        </p:nvSpPr>
        <p:spPr>
          <a:xfrm xmlns:a="http://schemas.openxmlformats.org/drawingml/2006/main">
            <a:off x="9448800" y="1885950"/>
            <a:ext cx="21526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Run</a:t>
            </a:r>
          </a:p>
        </p:txBody>
      </p:sp>
      <p:sp>
        <p:nvSpPr>
          <p:cNvPr id="27" name="">
            <a:extLst xmlns:a="http://schemas.openxmlformats.org/drawingml/2006/main">
              <a:ext uri="{FF2B5EF4-FFF2-40B4-BE49-F238E27FC236}">
                <a16:creationId xmlns:a16="http://schemas.microsoft.com/office/drawing/2014/main" id="{20A4F1DD-2C64-498E-9E84-D692EC107759}"/>
              </a:ext>
            </a:extLst>
          </p:cNvPr>
          <p:cNvSpPr>
            <a:spLocks xmlns:a="http://schemas.openxmlformats.org/drawingml/2006/main" noGrp="1"/>
          </p:cNvSpPr>
          <p:nvPr/>
        </p:nvSpPr>
        <p:spPr>
          <a:xfrm xmlns:a="http://schemas.openxmlformats.org/drawingml/2006/main">
            <a:off x="9448800" y="2171700"/>
            <a:ext cx="215265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Jumps to the copied image</a:t>
            </a:r>
          </a:p>
        </p:txBody>
      </p:sp>
      <p:sp>
        <p:nvSpPr>
          <p:cNvPr id="28" name="">
            <a:extLst xmlns:a="http://schemas.openxmlformats.org/drawingml/2006/main">
              <a:ext uri="{FF2B5EF4-FFF2-40B4-BE49-F238E27FC236}">
                <a16:creationId xmlns:a16="http://schemas.microsoft.com/office/drawing/2014/main" id="{41D65190-1142-4A9C-9427-95FC5B1492E5}"/>
              </a:ext>
            </a:extLst>
          </p:cNvPr>
          <p:cNvSpPr>
            <a:spLocks xmlns:a="http://schemas.openxmlformats.org/drawingml/2006/main" noGrp="1"/>
          </p:cNvSpPr>
          <p:nvPr/>
        </p:nvSpPr>
        <p:spPr>
          <a:xfrm xmlns:a="http://schemas.openxmlformats.org/drawingml/2006/main">
            <a:off x="457200" y="3143250"/>
            <a:ext cx="550545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29" name="">
            <a:extLst xmlns:a="http://schemas.openxmlformats.org/drawingml/2006/main">
              <a:ext uri="{FF2B5EF4-FFF2-40B4-BE49-F238E27FC236}">
                <a16:creationId xmlns:a16="http://schemas.microsoft.com/office/drawing/2014/main" id="{6C5F8AA4-EB04-4373-ABC1-053310BA1F18}"/>
              </a:ext>
            </a:extLst>
          </p:cNvPr>
          <p:cNvSpPr>
            <a:spLocks xmlns:a="http://schemas.openxmlformats.org/drawingml/2006/main" noGrp="1"/>
          </p:cNvSpPr>
          <p:nvPr/>
        </p:nvSpPr>
        <p:spPr>
          <a:xfrm xmlns:a="http://schemas.openxmlformats.org/drawingml/2006/main">
            <a:off x="457200" y="3143250"/>
            <a:ext cx="57150" cy="1247775"/>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D8B34092-7F00-4E0C-AE63-91394F94230B}"/>
              </a:ext>
            </a:extLst>
          </p:cNvPr>
          <p:cNvSpPr>
            <a:spLocks xmlns:a="http://schemas.openxmlformats.org/drawingml/2006/main" noGrp="1"/>
          </p:cNvSpPr>
          <p:nvPr/>
        </p:nvSpPr>
        <p:spPr>
          <a:xfrm xmlns:a="http://schemas.openxmlformats.org/drawingml/2006/main">
            <a:off x="685800" y="3333750"/>
            <a:ext cx="50863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Blank flash</a:t>
            </a:r>
          </a:p>
        </p:txBody>
      </p:sp>
      <p:sp>
        <p:nvSpPr>
          <p:cNvPr id="31" name="">
            <a:extLst xmlns:a="http://schemas.openxmlformats.org/drawingml/2006/main">
              <a:ext uri="{FF2B5EF4-FFF2-40B4-BE49-F238E27FC236}">
                <a16:creationId xmlns:a16="http://schemas.microsoft.com/office/drawing/2014/main" id="{A7F5DA3E-9E52-4185-952B-7EFB035E4C6F}"/>
              </a:ext>
            </a:extLst>
          </p:cNvPr>
          <p:cNvSpPr>
            <a:spLocks xmlns:a="http://schemas.openxmlformats.org/drawingml/2006/main" noGrp="1"/>
          </p:cNvSpPr>
          <p:nvPr/>
        </p:nvSpPr>
        <p:spPr>
          <a:xfrm xmlns:a="http://schemas.openxmlformats.org/drawingml/2006/main">
            <a:off x="685800" y="3695700"/>
            <a:ext cx="504825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A UART monitor with read, write, jump and info commands starts instead.</a:t>
            </a:r>
          </a:p>
        </p:txBody>
      </p:sp>
      <p:sp>
        <p:nvSpPr>
          <p:cNvPr id="32" name="">
            <a:extLst xmlns:a="http://schemas.openxmlformats.org/drawingml/2006/main">
              <a:ext uri="{FF2B5EF4-FFF2-40B4-BE49-F238E27FC236}">
                <a16:creationId xmlns:a16="http://schemas.microsoft.com/office/drawing/2014/main" id="{0EFD1E7A-30E2-477B-A435-54DBF6E23496}"/>
              </a:ext>
            </a:extLst>
          </p:cNvPr>
          <p:cNvSpPr>
            <a:spLocks xmlns:a="http://schemas.openxmlformats.org/drawingml/2006/main" noGrp="1"/>
          </p:cNvSpPr>
          <p:nvPr/>
        </p:nvSpPr>
        <p:spPr>
          <a:xfrm xmlns:a="http://schemas.openxmlformats.org/drawingml/2006/main">
            <a:off x="6229350" y="3143250"/>
            <a:ext cx="550545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33" name="">
            <a:extLst xmlns:a="http://schemas.openxmlformats.org/drawingml/2006/main">
              <a:ext uri="{FF2B5EF4-FFF2-40B4-BE49-F238E27FC236}">
                <a16:creationId xmlns:a16="http://schemas.microsoft.com/office/drawing/2014/main" id="{78687418-AB5F-4AA1-B371-BB42ED7CF2E0}"/>
              </a:ext>
            </a:extLst>
          </p:cNvPr>
          <p:cNvSpPr>
            <a:spLocks xmlns:a="http://schemas.openxmlformats.org/drawingml/2006/main" noGrp="1"/>
          </p:cNvSpPr>
          <p:nvPr/>
        </p:nvSpPr>
        <p:spPr>
          <a:xfrm xmlns:a="http://schemas.openxmlformats.org/drawingml/2006/main">
            <a:off x="6229350" y="3143250"/>
            <a:ext cx="57150" cy="1247775"/>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14B55AD4-665D-4E79-AEAC-B5AE3A9E5839}"/>
              </a:ext>
            </a:extLst>
          </p:cNvPr>
          <p:cNvSpPr>
            <a:spLocks xmlns:a="http://schemas.openxmlformats.org/drawingml/2006/main" noGrp="1"/>
          </p:cNvSpPr>
          <p:nvPr/>
        </p:nvSpPr>
        <p:spPr>
          <a:xfrm xmlns:a="http://schemas.openxmlformats.org/drawingml/2006/main">
            <a:off x="6457950" y="3333750"/>
            <a:ext cx="50863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Code runs from SRAM</a:t>
            </a:r>
          </a:p>
        </p:txBody>
      </p:sp>
      <p:sp>
        <p:nvSpPr>
          <p:cNvPr id="35" name="">
            <a:extLst xmlns:a="http://schemas.openxmlformats.org/drawingml/2006/main">
              <a:ext uri="{FF2B5EF4-FFF2-40B4-BE49-F238E27FC236}">
                <a16:creationId xmlns:a16="http://schemas.microsoft.com/office/drawing/2014/main" id="{C5A604FB-8B8A-4084-A11D-A80E2F887EE4}"/>
              </a:ext>
            </a:extLst>
          </p:cNvPr>
          <p:cNvSpPr>
            <a:spLocks xmlns:a="http://schemas.openxmlformats.org/drawingml/2006/main" noGrp="1"/>
          </p:cNvSpPr>
          <p:nvPr/>
        </p:nvSpPr>
        <p:spPr>
          <a:xfrm xmlns:a="http://schemas.openxmlformats.org/drawingml/2006/main">
            <a:off x="6457950" y="3695700"/>
            <a:ext cx="504825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Nothing executes in place from external flash; executable code belongs in SRAM.</a:t>
            </a:r>
          </a:p>
        </p:txBody>
      </p:sp>
      <p:sp>
        <p:nvSpPr>
          <p:cNvPr id="36" name="">
            <a:extLst xmlns:a="http://schemas.openxmlformats.org/drawingml/2006/main">
              <a:ext uri="{FF2B5EF4-FFF2-40B4-BE49-F238E27FC236}">
                <a16:creationId xmlns:a16="http://schemas.microsoft.com/office/drawing/2014/main" id="{2855494B-755C-41C0-89DB-44877B2BC3FA}"/>
              </a:ext>
            </a:extLst>
          </p:cNvPr>
          <p:cNvSpPr>
            <a:spLocks xmlns:a="http://schemas.openxmlformats.org/drawingml/2006/main" noGrp="1"/>
          </p:cNvSpPr>
          <p:nvPr/>
        </p:nvSpPr>
        <p:spPr>
          <a:xfrm xmlns:a="http://schemas.openxmlformats.org/drawingml/2006/main">
            <a:off x="457200" y="4705350"/>
            <a:ext cx="3581400" cy="1390650"/>
          </a:xfrm>
          <a:prstGeom xmlns:a="http://schemas.openxmlformats.org/drawingml/2006/main" prst="roundRect">
            <a:avLst>
              <a:gd name="adj" fmla="val 5479"/>
            </a:avLst>
          </a:prstGeom>
          <a:solidFill xmlns:a="http://schemas.openxmlformats.org/drawingml/2006/main">
            <a:srgbClr val="F8FAFC"/>
          </a:solidFill>
          <a:ln xmlns:a="http://schemas.openxmlformats.org/drawingml/2006/main" w="9525">
            <a:solidFill>
              <a:srgbClr val="E2E8F0"/>
            </a:solidFill>
            <a:prstDash val="solid"/>
          </a:ln>
        </p:spPr>
      </p:sp>
      <p:sp>
        <p:nvSpPr>
          <p:cNvPr id="37" name="">
            <a:extLst xmlns:a="http://schemas.openxmlformats.org/drawingml/2006/main">
              <a:ext uri="{FF2B5EF4-FFF2-40B4-BE49-F238E27FC236}">
                <a16:creationId xmlns:a16="http://schemas.microsoft.com/office/drawing/2014/main" id="{03E19882-8286-4B4C-B877-7B0B3A6B9D94}"/>
              </a:ext>
            </a:extLst>
          </p:cNvPr>
          <p:cNvSpPr>
            <a:spLocks xmlns:a="http://schemas.openxmlformats.org/drawingml/2006/main" noGrp="1"/>
          </p:cNvSpPr>
          <p:nvPr/>
        </p:nvSpPr>
        <p:spPr>
          <a:xfrm xmlns:a="http://schemas.openxmlformats.org/drawingml/2006/main">
            <a:off x="571500" y="4857750"/>
            <a:ext cx="3352800" cy="466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625" b="1">
                <a:solidFill>
                  <a:srgbClr val="0077A3"/>
                </a:solidFill>
                <a:latin typeface="Georgia"/>
                <a:ea typeface="Georgia"/>
                <a:cs typeface="Georgia"/>
              </a:defRPr>
            </a:pPr>
            <a:r>
              <a:t>64 KB</a:t>
            </a:r>
          </a:p>
        </p:txBody>
      </p:sp>
      <p:sp>
        <p:nvSpPr>
          <p:cNvPr id="38" name="">
            <a:extLst xmlns:a="http://schemas.openxmlformats.org/drawingml/2006/main">
              <a:ext uri="{FF2B5EF4-FFF2-40B4-BE49-F238E27FC236}">
                <a16:creationId xmlns:a16="http://schemas.microsoft.com/office/drawing/2014/main" id="{C4183B1B-203D-491A-A869-B9A58AF8ECFE}"/>
              </a:ext>
            </a:extLst>
          </p:cNvPr>
          <p:cNvSpPr>
            <a:spLocks xmlns:a="http://schemas.openxmlformats.org/drawingml/2006/main" noGrp="1"/>
          </p:cNvSpPr>
          <p:nvPr/>
        </p:nvSpPr>
        <p:spPr>
          <a:xfrm xmlns:a="http://schemas.openxmlformats.org/drawingml/2006/main">
            <a:off x="571500" y="5343525"/>
            <a:ext cx="33528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BOOT ROM</a:t>
            </a:r>
          </a:p>
        </p:txBody>
      </p:sp>
      <p:sp>
        <p:nvSpPr>
          <p:cNvPr id="39" name="">
            <a:extLst xmlns:a="http://schemas.openxmlformats.org/drawingml/2006/main">
              <a:ext uri="{FF2B5EF4-FFF2-40B4-BE49-F238E27FC236}">
                <a16:creationId xmlns:a16="http://schemas.microsoft.com/office/drawing/2014/main" id="{7233346B-8DA7-4548-8D53-FC62FBA462E0}"/>
              </a:ext>
            </a:extLst>
          </p:cNvPr>
          <p:cNvSpPr>
            <a:spLocks xmlns:a="http://schemas.openxmlformats.org/drawingml/2006/main" noGrp="1"/>
          </p:cNvSpPr>
          <p:nvPr/>
        </p:nvSpPr>
        <p:spPr>
          <a:xfrm xmlns:a="http://schemas.openxmlformats.org/drawingml/2006/main">
            <a:off x="590550" y="5591175"/>
            <a:ext cx="3314700" cy="4476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Runs with no external help</a:t>
            </a:r>
          </a:p>
        </p:txBody>
      </p:sp>
      <p:sp>
        <p:nvSpPr>
          <p:cNvPr id="40" name="">
            <a:extLst xmlns:a="http://schemas.openxmlformats.org/drawingml/2006/main">
              <a:ext uri="{FF2B5EF4-FFF2-40B4-BE49-F238E27FC236}">
                <a16:creationId xmlns:a16="http://schemas.microsoft.com/office/drawing/2014/main" id="{0D78E727-885B-4E40-B4AE-1A09CB8D0B35}"/>
              </a:ext>
            </a:extLst>
          </p:cNvPr>
          <p:cNvSpPr>
            <a:spLocks xmlns:a="http://schemas.openxmlformats.org/drawingml/2006/main" noGrp="1"/>
          </p:cNvSpPr>
          <p:nvPr/>
        </p:nvSpPr>
        <p:spPr>
          <a:xfrm xmlns:a="http://schemas.openxmlformats.org/drawingml/2006/main">
            <a:off x="4305300" y="4705350"/>
            <a:ext cx="3581400" cy="1390650"/>
          </a:xfrm>
          <a:prstGeom xmlns:a="http://schemas.openxmlformats.org/drawingml/2006/main" prst="roundRect">
            <a:avLst>
              <a:gd name="adj" fmla="val 5479"/>
            </a:avLst>
          </a:prstGeom>
          <a:solidFill xmlns:a="http://schemas.openxmlformats.org/drawingml/2006/main">
            <a:srgbClr val="F8FAFC"/>
          </a:solidFill>
          <a:ln xmlns:a="http://schemas.openxmlformats.org/drawingml/2006/main" w="9525">
            <a:solidFill>
              <a:srgbClr val="E2E8F0"/>
            </a:solidFill>
            <a:prstDash val="solid"/>
          </a:ln>
        </p:spPr>
      </p:sp>
      <p:sp>
        <p:nvSpPr>
          <p:cNvPr id="41" name="">
            <a:extLst xmlns:a="http://schemas.openxmlformats.org/drawingml/2006/main">
              <a:ext uri="{FF2B5EF4-FFF2-40B4-BE49-F238E27FC236}">
                <a16:creationId xmlns:a16="http://schemas.microsoft.com/office/drawing/2014/main" id="{85CD4CE6-D101-4417-9018-8D95A659C3E1}"/>
              </a:ext>
            </a:extLst>
          </p:cNvPr>
          <p:cNvSpPr>
            <a:spLocks xmlns:a="http://schemas.openxmlformats.org/drawingml/2006/main" noGrp="1"/>
          </p:cNvSpPr>
          <p:nvPr/>
        </p:nvSpPr>
        <p:spPr>
          <a:xfrm xmlns:a="http://schemas.openxmlformats.org/drawingml/2006/main">
            <a:off x="4419600" y="4857750"/>
            <a:ext cx="3352800" cy="466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625" b="1">
                <a:solidFill>
                  <a:srgbClr val="07686A"/>
                </a:solidFill>
                <a:latin typeface="Georgia"/>
                <a:ea typeface="Georgia"/>
                <a:cs typeface="Georgia"/>
              </a:defRPr>
            </a:pPr>
            <a:r>
              <a:t>115,200</a:t>
            </a:r>
          </a:p>
        </p:txBody>
      </p:sp>
      <p:sp>
        <p:nvSpPr>
          <p:cNvPr id="42" name="">
            <a:extLst xmlns:a="http://schemas.openxmlformats.org/drawingml/2006/main">
              <a:ext uri="{FF2B5EF4-FFF2-40B4-BE49-F238E27FC236}">
                <a16:creationId xmlns:a16="http://schemas.microsoft.com/office/drawing/2014/main" id="{9BCA2F5A-1FD6-4DEE-AD46-CA799FBAA91B}"/>
              </a:ext>
            </a:extLst>
          </p:cNvPr>
          <p:cNvSpPr>
            <a:spLocks xmlns:a="http://schemas.openxmlformats.org/drawingml/2006/main" noGrp="1"/>
          </p:cNvSpPr>
          <p:nvPr/>
        </p:nvSpPr>
        <p:spPr>
          <a:xfrm xmlns:a="http://schemas.openxmlformats.org/drawingml/2006/main">
            <a:off x="4419600" y="5343525"/>
            <a:ext cx="33528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CONSOLE BAUD</a:t>
            </a:r>
          </a:p>
        </p:txBody>
      </p:sp>
      <p:sp>
        <p:nvSpPr>
          <p:cNvPr id="43" name="">
            <a:extLst xmlns:a="http://schemas.openxmlformats.org/drawingml/2006/main">
              <a:ext uri="{FF2B5EF4-FFF2-40B4-BE49-F238E27FC236}">
                <a16:creationId xmlns:a16="http://schemas.microsoft.com/office/drawing/2014/main" id="{0EC92EB4-8F96-4200-8938-93761F3EB1BB}"/>
              </a:ext>
            </a:extLst>
          </p:cNvPr>
          <p:cNvSpPr>
            <a:spLocks xmlns:a="http://schemas.openxmlformats.org/drawingml/2006/main" noGrp="1"/>
          </p:cNvSpPr>
          <p:nvPr/>
        </p:nvSpPr>
        <p:spPr>
          <a:xfrm xmlns:a="http://schemas.openxmlformats.org/drawingml/2006/main">
            <a:off x="4438650" y="5591175"/>
            <a:ext cx="3314700" cy="4476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Divider fixed for 50 MHz</a:t>
            </a:r>
          </a:p>
        </p:txBody>
      </p:sp>
      <p:sp>
        <p:nvSpPr>
          <p:cNvPr id="44" name="">
            <a:extLst xmlns:a="http://schemas.openxmlformats.org/drawingml/2006/main">
              <a:ext uri="{FF2B5EF4-FFF2-40B4-BE49-F238E27FC236}">
                <a16:creationId xmlns:a16="http://schemas.microsoft.com/office/drawing/2014/main" id="{F6C5802B-75D6-42D4-93EE-17EFDDB3DA4D}"/>
              </a:ext>
            </a:extLst>
          </p:cNvPr>
          <p:cNvSpPr>
            <a:spLocks xmlns:a="http://schemas.openxmlformats.org/drawingml/2006/main" noGrp="1"/>
          </p:cNvSpPr>
          <p:nvPr/>
        </p:nvSpPr>
        <p:spPr>
          <a:xfrm xmlns:a="http://schemas.openxmlformats.org/drawingml/2006/main">
            <a:off x="8153400" y="4705350"/>
            <a:ext cx="3581400" cy="1390650"/>
          </a:xfrm>
          <a:prstGeom xmlns:a="http://schemas.openxmlformats.org/drawingml/2006/main" prst="roundRect">
            <a:avLst>
              <a:gd name="adj" fmla="val 5479"/>
            </a:avLst>
          </a:prstGeom>
          <a:solidFill xmlns:a="http://schemas.openxmlformats.org/drawingml/2006/main">
            <a:srgbClr val="F8FAFC"/>
          </a:solidFill>
          <a:ln xmlns:a="http://schemas.openxmlformats.org/drawingml/2006/main" w="9525">
            <a:solidFill>
              <a:srgbClr val="E2E8F0"/>
            </a:solidFill>
            <a:prstDash val="solid"/>
          </a:ln>
        </p:spPr>
      </p:sp>
      <p:sp>
        <p:nvSpPr>
          <p:cNvPr id="45" name="">
            <a:extLst xmlns:a="http://schemas.openxmlformats.org/drawingml/2006/main">
              <a:ext uri="{FF2B5EF4-FFF2-40B4-BE49-F238E27FC236}">
                <a16:creationId xmlns:a16="http://schemas.microsoft.com/office/drawing/2014/main" id="{5AE01A30-E88A-4045-8399-9326E5F96144}"/>
              </a:ext>
            </a:extLst>
          </p:cNvPr>
          <p:cNvSpPr>
            <a:spLocks xmlns:a="http://schemas.openxmlformats.org/drawingml/2006/main" noGrp="1"/>
          </p:cNvSpPr>
          <p:nvPr/>
        </p:nvSpPr>
        <p:spPr>
          <a:xfrm xmlns:a="http://schemas.openxmlformats.org/drawingml/2006/main">
            <a:off x="8267700" y="4857750"/>
            <a:ext cx="3352800" cy="466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625" b="1">
                <a:solidFill>
                  <a:srgbClr val="07686A"/>
                </a:solidFill>
                <a:latin typeface="Georgia"/>
                <a:ea typeface="Georgia"/>
                <a:cs typeface="Georgia"/>
              </a:defRPr>
            </a:pPr>
            <a:r>
              <a:t>Quad SPI</a:t>
            </a:r>
          </a:p>
        </p:txBody>
      </p:sp>
      <p:sp>
        <p:nvSpPr>
          <p:cNvPr id="46" name="">
            <a:extLst xmlns:a="http://schemas.openxmlformats.org/drawingml/2006/main">
              <a:ext uri="{FF2B5EF4-FFF2-40B4-BE49-F238E27FC236}">
                <a16:creationId xmlns:a16="http://schemas.microsoft.com/office/drawing/2014/main" id="{88821643-FAD3-42A8-BD5F-12D28110531E}"/>
              </a:ext>
            </a:extLst>
          </p:cNvPr>
          <p:cNvSpPr>
            <a:spLocks xmlns:a="http://schemas.openxmlformats.org/drawingml/2006/main" noGrp="1"/>
          </p:cNvSpPr>
          <p:nvPr/>
        </p:nvSpPr>
        <p:spPr>
          <a:xfrm xmlns:a="http://schemas.openxmlformats.org/drawingml/2006/main">
            <a:off x="8267700" y="5343525"/>
            <a:ext cx="33528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FLASH READ</a:t>
            </a:r>
          </a:p>
        </p:txBody>
      </p:sp>
      <p:sp>
        <p:nvSpPr>
          <p:cNvPr id="47" name="">
            <a:extLst xmlns:a="http://schemas.openxmlformats.org/drawingml/2006/main">
              <a:ext uri="{FF2B5EF4-FFF2-40B4-BE49-F238E27FC236}">
                <a16:creationId xmlns:a16="http://schemas.microsoft.com/office/drawing/2014/main" id="{ACA9D76E-BC7F-4DBE-9E1B-5D539A0761C0}"/>
              </a:ext>
            </a:extLst>
          </p:cNvPr>
          <p:cNvSpPr>
            <a:spLocks xmlns:a="http://schemas.openxmlformats.org/drawingml/2006/main" noGrp="1"/>
          </p:cNvSpPr>
          <p:nvPr/>
        </p:nvSpPr>
        <p:spPr>
          <a:xfrm xmlns:a="http://schemas.openxmlformats.org/drawingml/2006/main">
            <a:off x="8286750" y="5591175"/>
            <a:ext cx="3314700" cy="4476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Image copied into SRAM</a:t>
            </a:r>
          </a:p>
        </p:txBody>
      </p:sp>
      <p:sp>
        <p:nvSpPr>
          <p:cNvPr id="48" name="">
            <a:extLst xmlns:a="http://schemas.openxmlformats.org/drawingml/2006/main">
              <a:ext uri="{FF2B5EF4-FFF2-40B4-BE49-F238E27FC236}">
                <a16:creationId xmlns:a16="http://schemas.microsoft.com/office/drawing/2014/main" id="{67B3ED85-624A-4219-85C3-D1F1A53855DD}"/>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6B7280"/>
                </a:solidFill>
                <a:latin typeface="Arial"/>
                <a:ea typeface="Arial"/>
                <a:cs typeface="Arial"/>
              </a:defRPr>
            </a:pPr>
            <a:r>
              <a:t>Source: DG32-LITE preliminary datasheet §6.2 boot flow.</a:t>
            </a:r>
          </a:p>
        </p:txBody>
      </p:sp>
    </p:spTree>
    <p:extLst>
      <p:ext uri="{BB962C8B-B14F-4D97-AF65-F5344CB8AC3E}">
        <p14:creationId xmlns:p14="http://schemas.microsoft.com/office/powerpoint/2010/main" val="9698254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8487CE21-69DE-42EE-BD8F-1C4C2FBB37B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B3540B6-FBA0-4DB1-ADC9-3C4C52A675A1}"/>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77A3"/>
                </a:solidFill>
                <a:latin typeface="Arial"/>
                <a:ea typeface="Arial"/>
                <a:cs typeface="Arial"/>
              </a:defRPr>
            </a:pPr>
            <a:r>
              <a:t>10 · PERIPHERALS</a:t>
            </a:r>
          </a:p>
        </p:txBody>
      </p:sp>
      <p:sp>
        <p:nvSpPr>
          <p:cNvPr id="3" name="">
            <a:extLst xmlns:a="http://schemas.openxmlformats.org/drawingml/2006/main">
              <a:ext uri="{FF2B5EF4-FFF2-40B4-BE49-F238E27FC236}">
                <a16:creationId xmlns:a16="http://schemas.microsoft.com/office/drawing/2014/main" id="{B7B6491B-CFFE-41A3-A355-DB63F98BAF1B}"/>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Peripheral limits a firmware plan can rely on</a:t>
            </a:r>
          </a:p>
        </p:txBody>
      </p:sp>
      <p:sp>
        <p:nvSpPr>
          <p:cNvPr id="4" name="">
            <a:extLst xmlns:a="http://schemas.openxmlformats.org/drawingml/2006/main">
              <a:ext uri="{FF2B5EF4-FFF2-40B4-BE49-F238E27FC236}">
                <a16:creationId xmlns:a16="http://schemas.microsoft.com/office/drawing/2014/main" id="{3F4F74DD-02D2-4CB4-BEBB-B1D49EBE65A7}"/>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Capability and timing per block, from the datasheet’s block notes</a:t>
            </a:r>
          </a:p>
        </p:txBody>
      </p:sp>
      <p:sp>
        <p:nvSpPr>
          <p:cNvPr id="5" name="">
            <a:extLst xmlns:a="http://schemas.openxmlformats.org/drawingml/2006/main">
              <a:ext uri="{FF2B5EF4-FFF2-40B4-BE49-F238E27FC236}">
                <a16:creationId xmlns:a16="http://schemas.microsoft.com/office/drawing/2014/main" id="{9AD77DCA-3969-4513-B958-BD005BBCD6AE}"/>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F268BB7-4E7D-4C7A-9D2D-DBC7EB872E22}"/>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369BEBC-43F3-461D-86B7-49D95ED5A55A}"/>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DEEPGRID SEMI  ·  DG32-LITE PRELIMINARY DATASHEET  ·  SEPTEMBER 2026  ·  PRE-SILICON</a:t>
            </a:r>
          </a:p>
        </p:txBody>
      </p:sp>
      <p:sp>
        <p:nvSpPr>
          <p:cNvPr id="8" name="">
            <a:extLst xmlns:a="http://schemas.openxmlformats.org/drawingml/2006/main">
              <a:ext uri="{FF2B5EF4-FFF2-40B4-BE49-F238E27FC236}">
                <a16:creationId xmlns:a16="http://schemas.microsoft.com/office/drawing/2014/main" id="{4B10CC7F-B1B5-45F2-8F74-E53F015891CD}"/>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10</a:t>
            </a:r>
          </a:p>
        </p:txBody>
      </p:sp>
      <p:sp>
        <p:nvSpPr>
          <p:cNvPr id="9" name="">
            <a:extLst xmlns:a="http://schemas.openxmlformats.org/drawingml/2006/main">
              <a:ext uri="{FF2B5EF4-FFF2-40B4-BE49-F238E27FC236}">
                <a16:creationId xmlns:a16="http://schemas.microsoft.com/office/drawing/2014/main" id="{42A53752-7135-4523-BE2F-63339D59BEB5}"/>
              </a:ext>
            </a:extLst>
          </p:cNvPr>
          <p:cNvSpPr>
            <a:spLocks xmlns:a="http://schemas.openxmlformats.org/drawingml/2006/main" noGrp="1"/>
          </p:cNvSpPr>
          <p:nvPr/>
        </p:nvSpPr>
        <p:spPr>
          <a:xfrm xmlns:a="http://schemas.openxmlformats.org/drawingml/2006/main">
            <a:off x="457200" y="1619250"/>
            <a:ext cx="11277600" cy="36195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66E63A3-C719-44CA-BE57-BE1B9AAADB2C}"/>
              </a:ext>
            </a:extLst>
          </p:cNvPr>
          <p:cNvSpPr>
            <a:spLocks xmlns:a="http://schemas.openxmlformats.org/drawingml/2006/main" noGrp="1"/>
          </p:cNvSpPr>
          <p:nvPr/>
        </p:nvSpPr>
        <p:spPr>
          <a:xfrm xmlns:a="http://schemas.openxmlformats.org/drawingml/2006/main">
            <a:off x="590550" y="1733550"/>
            <a:ext cx="18097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BLOCK</a:t>
            </a:r>
          </a:p>
        </p:txBody>
      </p:sp>
      <p:sp>
        <p:nvSpPr>
          <p:cNvPr id="11" name="">
            <a:extLst xmlns:a="http://schemas.openxmlformats.org/drawingml/2006/main">
              <a:ext uri="{FF2B5EF4-FFF2-40B4-BE49-F238E27FC236}">
                <a16:creationId xmlns:a16="http://schemas.microsoft.com/office/drawing/2014/main" id="{E7BB0F22-9C08-4335-85EE-BFEE6DCF673A}"/>
              </a:ext>
            </a:extLst>
          </p:cNvPr>
          <p:cNvSpPr>
            <a:spLocks xmlns:a="http://schemas.openxmlformats.org/drawingml/2006/main" noGrp="1"/>
          </p:cNvSpPr>
          <p:nvPr/>
        </p:nvSpPr>
        <p:spPr>
          <a:xfrm xmlns:a="http://schemas.openxmlformats.org/drawingml/2006/main">
            <a:off x="2590800" y="1733550"/>
            <a:ext cx="36195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LIMIT</a:t>
            </a:r>
          </a:p>
        </p:txBody>
      </p:sp>
      <p:sp>
        <p:nvSpPr>
          <p:cNvPr id="12" name="">
            <a:extLst xmlns:a="http://schemas.openxmlformats.org/drawingml/2006/main">
              <a:ext uri="{FF2B5EF4-FFF2-40B4-BE49-F238E27FC236}">
                <a16:creationId xmlns:a16="http://schemas.microsoft.com/office/drawing/2014/main" id="{5A0A764E-BEAE-4446-B5E3-456FBB326CCD}"/>
              </a:ext>
            </a:extLst>
          </p:cNvPr>
          <p:cNvSpPr>
            <a:spLocks xmlns:a="http://schemas.openxmlformats.org/drawingml/2006/main" noGrp="1"/>
          </p:cNvSpPr>
          <p:nvPr/>
        </p:nvSpPr>
        <p:spPr>
          <a:xfrm xmlns:a="http://schemas.openxmlformats.org/drawingml/2006/main">
            <a:off x="6400800" y="1733550"/>
            <a:ext cx="52768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NOTE</a:t>
            </a:r>
          </a:p>
        </p:txBody>
      </p:sp>
      <p:sp>
        <p:nvSpPr>
          <p:cNvPr id="13" name="">
            <a:extLst xmlns:a="http://schemas.openxmlformats.org/drawingml/2006/main">
              <a:ext uri="{FF2B5EF4-FFF2-40B4-BE49-F238E27FC236}">
                <a16:creationId xmlns:a16="http://schemas.microsoft.com/office/drawing/2014/main" id="{66221AE9-9867-424B-847D-C3EEC597A423}"/>
              </a:ext>
            </a:extLst>
          </p:cNvPr>
          <p:cNvSpPr>
            <a:spLocks xmlns:a="http://schemas.openxmlformats.org/drawingml/2006/main" noGrp="1"/>
          </p:cNvSpPr>
          <p:nvPr/>
        </p:nvSpPr>
        <p:spPr>
          <a:xfrm xmlns:a="http://schemas.openxmlformats.org/drawingml/2006/main">
            <a:off x="457200" y="1981200"/>
            <a:ext cx="1127760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14" name="">
            <a:extLst xmlns:a="http://schemas.openxmlformats.org/drawingml/2006/main">
              <a:ext uri="{FF2B5EF4-FFF2-40B4-BE49-F238E27FC236}">
                <a16:creationId xmlns:a16="http://schemas.microsoft.com/office/drawing/2014/main" id="{6C54A4D4-ED61-4706-89C5-9F098F3E8E69}"/>
              </a:ext>
            </a:extLst>
          </p:cNvPr>
          <p:cNvSpPr>
            <a:spLocks xmlns:a="http://schemas.openxmlformats.org/drawingml/2006/main" noGrp="1"/>
          </p:cNvSpPr>
          <p:nvPr/>
        </p:nvSpPr>
        <p:spPr>
          <a:xfrm xmlns:a="http://schemas.openxmlformats.org/drawingml/2006/main">
            <a:off x="590550" y="2085975"/>
            <a:ext cx="17907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UART × 2</a:t>
            </a:r>
          </a:p>
        </p:txBody>
      </p:sp>
      <p:sp>
        <p:nvSpPr>
          <p:cNvPr id="15" name="">
            <a:extLst xmlns:a="http://schemas.openxmlformats.org/drawingml/2006/main">
              <a:ext uri="{FF2B5EF4-FFF2-40B4-BE49-F238E27FC236}">
                <a16:creationId xmlns:a16="http://schemas.microsoft.com/office/drawing/2014/main" id="{C87230BF-81A9-4593-A37E-35B519275D7C}"/>
              </a:ext>
            </a:extLst>
          </p:cNvPr>
          <p:cNvSpPr>
            <a:spLocks xmlns:a="http://schemas.openxmlformats.org/drawingml/2006/main" noGrp="1"/>
          </p:cNvSpPr>
          <p:nvPr/>
        </p:nvSpPr>
        <p:spPr>
          <a:xfrm xmlns:a="http://schemas.openxmlformats.org/drawingml/2006/main">
            <a:off x="2590800" y="2085975"/>
            <a:ext cx="36004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115,200 baud, 8N1 at 50 MHz</a:t>
            </a:r>
          </a:p>
        </p:txBody>
      </p:sp>
      <p:sp>
        <p:nvSpPr>
          <p:cNvPr id="16" name="">
            <a:extLst xmlns:a="http://schemas.openxmlformats.org/drawingml/2006/main">
              <a:ext uri="{FF2B5EF4-FFF2-40B4-BE49-F238E27FC236}">
                <a16:creationId xmlns:a16="http://schemas.microsoft.com/office/drawing/2014/main" id="{9992179F-4640-44C8-A8E9-8520F1E75050}"/>
              </a:ext>
            </a:extLst>
          </p:cNvPr>
          <p:cNvSpPr>
            <a:spLocks xmlns:a="http://schemas.openxmlformats.org/drawingml/2006/main" noGrp="1"/>
          </p:cNvSpPr>
          <p:nvPr/>
        </p:nvSpPr>
        <p:spPr>
          <a:xfrm xmlns:a="http://schemas.openxmlformats.org/drawingml/2006/main">
            <a:off x="6400800" y="2085975"/>
            <a:ext cx="52578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Writes wait while busy; a byte is never dropped</a:t>
            </a:r>
          </a:p>
        </p:txBody>
      </p:sp>
      <p:sp>
        <p:nvSpPr>
          <p:cNvPr id="17" name="">
            <a:extLst xmlns:a="http://schemas.openxmlformats.org/drawingml/2006/main">
              <a:ext uri="{FF2B5EF4-FFF2-40B4-BE49-F238E27FC236}">
                <a16:creationId xmlns:a16="http://schemas.microsoft.com/office/drawing/2014/main" id="{C0F2D176-5ACA-460E-9264-39C2A044D470}"/>
              </a:ext>
            </a:extLst>
          </p:cNvPr>
          <p:cNvSpPr>
            <a:spLocks xmlns:a="http://schemas.openxmlformats.org/drawingml/2006/main" noGrp="1"/>
          </p:cNvSpPr>
          <p:nvPr/>
        </p:nvSpPr>
        <p:spPr>
          <a:xfrm xmlns:a="http://schemas.openxmlformats.org/drawingml/2006/main">
            <a:off x="457200" y="2400300"/>
            <a:ext cx="11277600" cy="41910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18" name="">
            <a:extLst xmlns:a="http://schemas.openxmlformats.org/drawingml/2006/main">
              <a:ext uri="{FF2B5EF4-FFF2-40B4-BE49-F238E27FC236}">
                <a16:creationId xmlns:a16="http://schemas.microsoft.com/office/drawing/2014/main" id="{59DD4C58-F08D-4BEC-B64C-1FBC4CA2A7AD}"/>
              </a:ext>
            </a:extLst>
          </p:cNvPr>
          <p:cNvSpPr>
            <a:spLocks xmlns:a="http://schemas.openxmlformats.org/drawingml/2006/main" noGrp="1"/>
          </p:cNvSpPr>
          <p:nvPr/>
        </p:nvSpPr>
        <p:spPr>
          <a:xfrm xmlns:a="http://schemas.openxmlformats.org/drawingml/2006/main">
            <a:off x="590550" y="2505075"/>
            <a:ext cx="17907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SPI master</a:t>
            </a:r>
          </a:p>
        </p:txBody>
      </p:sp>
      <p:sp>
        <p:nvSpPr>
          <p:cNvPr id="19" name="">
            <a:extLst xmlns:a="http://schemas.openxmlformats.org/drawingml/2006/main">
              <a:ext uri="{FF2B5EF4-FFF2-40B4-BE49-F238E27FC236}">
                <a16:creationId xmlns:a16="http://schemas.microsoft.com/office/drawing/2014/main" id="{1C7A37A7-19D5-4A83-BBF0-CC0DB4AFD65C}"/>
              </a:ext>
            </a:extLst>
          </p:cNvPr>
          <p:cNvSpPr>
            <a:spLocks xmlns:a="http://schemas.openxmlformats.org/drawingml/2006/main" noGrp="1"/>
          </p:cNvSpPr>
          <p:nvPr/>
        </p:nvSpPr>
        <p:spPr>
          <a:xfrm xmlns:a="http://schemas.openxmlformats.org/drawingml/2006/main">
            <a:off x="2590800" y="2505075"/>
            <a:ext cx="36004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Up to 25 MHz</a:t>
            </a:r>
          </a:p>
        </p:txBody>
      </p:sp>
      <p:sp>
        <p:nvSpPr>
          <p:cNvPr id="20" name="">
            <a:extLst xmlns:a="http://schemas.openxmlformats.org/drawingml/2006/main">
              <a:ext uri="{FF2B5EF4-FFF2-40B4-BE49-F238E27FC236}">
                <a16:creationId xmlns:a16="http://schemas.microsoft.com/office/drawing/2014/main" id="{F6EFDDBA-05B7-41D2-83D5-E91139CDDB9C}"/>
              </a:ext>
            </a:extLst>
          </p:cNvPr>
          <p:cNvSpPr>
            <a:spLocks xmlns:a="http://schemas.openxmlformats.org/drawingml/2006/main" noGrp="1"/>
          </p:cNvSpPr>
          <p:nvPr/>
        </p:nvSpPr>
        <p:spPr>
          <a:xfrm xmlns:a="http://schemas.openxmlformats.org/drawingml/2006/main">
            <a:off x="6400800" y="2505075"/>
            <a:ext cx="52578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0.64 µs per 16-bit word</a:t>
            </a:r>
          </a:p>
        </p:txBody>
      </p:sp>
      <p:sp>
        <p:nvSpPr>
          <p:cNvPr id="21" name="">
            <a:extLst xmlns:a="http://schemas.openxmlformats.org/drawingml/2006/main">
              <a:ext uri="{FF2B5EF4-FFF2-40B4-BE49-F238E27FC236}">
                <a16:creationId xmlns:a16="http://schemas.microsoft.com/office/drawing/2014/main" id="{715E9D22-2A6D-4838-B53D-69C9F2E47C78}"/>
              </a:ext>
            </a:extLst>
          </p:cNvPr>
          <p:cNvSpPr>
            <a:spLocks xmlns:a="http://schemas.openxmlformats.org/drawingml/2006/main" noGrp="1"/>
          </p:cNvSpPr>
          <p:nvPr/>
        </p:nvSpPr>
        <p:spPr>
          <a:xfrm xmlns:a="http://schemas.openxmlformats.org/drawingml/2006/main">
            <a:off x="457200" y="2819400"/>
            <a:ext cx="1127760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22" name="">
            <a:extLst xmlns:a="http://schemas.openxmlformats.org/drawingml/2006/main">
              <a:ext uri="{FF2B5EF4-FFF2-40B4-BE49-F238E27FC236}">
                <a16:creationId xmlns:a16="http://schemas.microsoft.com/office/drawing/2014/main" id="{EFBADA57-A710-4463-AEF8-DF2708C21C1C}"/>
              </a:ext>
            </a:extLst>
          </p:cNvPr>
          <p:cNvSpPr>
            <a:spLocks xmlns:a="http://schemas.openxmlformats.org/drawingml/2006/main" noGrp="1"/>
          </p:cNvSpPr>
          <p:nvPr/>
        </p:nvSpPr>
        <p:spPr>
          <a:xfrm xmlns:a="http://schemas.openxmlformats.org/drawingml/2006/main">
            <a:off x="590550" y="2924175"/>
            <a:ext cx="17907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I²C master</a:t>
            </a:r>
          </a:p>
        </p:txBody>
      </p:sp>
      <p:sp>
        <p:nvSpPr>
          <p:cNvPr id="23" name="">
            <a:extLst xmlns:a="http://schemas.openxmlformats.org/drawingml/2006/main">
              <a:ext uri="{FF2B5EF4-FFF2-40B4-BE49-F238E27FC236}">
                <a16:creationId xmlns:a16="http://schemas.microsoft.com/office/drawing/2014/main" id="{566DAE42-3BC8-4986-9E2C-1DCE908543A0}"/>
              </a:ext>
            </a:extLst>
          </p:cNvPr>
          <p:cNvSpPr>
            <a:spLocks xmlns:a="http://schemas.openxmlformats.org/drawingml/2006/main" noGrp="1"/>
          </p:cNvSpPr>
          <p:nvPr/>
        </p:nvSpPr>
        <p:spPr>
          <a:xfrm xmlns:a="http://schemas.openxmlformats.org/drawingml/2006/main">
            <a:off x="2590800" y="2924175"/>
            <a:ext cx="36004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100 / 400 kHz, 7-bit addressing</a:t>
            </a:r>
          </a:p>
        </p:txBody>
      </p:sp>
      <p:sp>
        <p:nvSpPr>
          <p:cNvPr id="24" name="">
            <a:extLst xmlns:a="http://schemas.openxmlformats.org/drawingml/2006/main">
              <a:ext uri="{FF2B5EF4-FFF2-40B4-BE49-F238E27FC236}">
                <a16:creationId xmlns:a16="http://schemas.microsoft.com/office/drawing/2014/main" id="{3FA66478-B5B2-491E-BA52-505A35C4FB6D}"/>
              </a:ext>
            </a:extLst>
          </p:cNvPr>
          <p:cNvSpPr>
            <a:spLocks xmlns:a="http://schemas.openxmlformats.org/drawingml/2006/main" noGrp="1"/>
          </p:cNvSpPr>
          <p:nvPr/>
        </p:nvSpPr>
        <p:spPr>
          <a:xfrm xmlns:a="http://schemas.openxmlformats.org/drawingml/2006/main">
            <a:off x="6400800" y="2924175"/>
            <a:ext cx="52578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Clock stretching; a 2-byte read takes ~72 µs at 400 kHz</a:t>
            </a:r>
          </a:p>
        </p:txBody>
      </p:sp>
      <p:sp>
        <p:nvSpPr>
          <p:cNvPr id="25" name="">
            <a:extLst xmlns:a="http://schemas.openxmlformats.org/drawingml/2006/main">
              <a:ext uri="{FF2B5EF4-FFF2-40B4-BE49-F238E27FC236}">
                <a16:creationId xmlns:a16="http://schemas.microsoft.com/office/drawing/2014/main" id="{1D9E6EB6-3B75-44F3-9F4F-6B084875B5EB}"/>
              </a:ext>
            </a:extLst>
          </p:cNvPr>
          <p:cNvSpPr>
            <a:spLocks xmlns:a="http://schemas.openxmlformats.org/drawingml/2006/main" noGrp="1"/>
          </p:cNvSpPr>
          <p:nvPr/>
        </p:nvSpPr>
        <p:spPr>
          <a:xfrm xmlns:a="http://schemas.openxmlformats.org/drawingml/2006/main">
            <a:off x="457200" y="3238500"/>
            <a:ext cx="11277600" cy="41910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26" name="">
            <a:extLst xmlns:a="http://schemas.openxmlformats.org/drawingml/2006/main">
              <a:ext uri="{FF2B5EF4-FFF2-40B4-BE49-F238E27FC236}">
                <a16:creationId xmlns:a16="http://schemas.microsoft.com/office/drawing/2014/main" id="{1D523F9E-FD2F-47C7-B87D-670304CBA216}"/>
              </a:ext>
            </a:extLst>
          </p:cNvPr>
          <p:cNvSpPr>
            <a:spLocks xmlns:a="http://schemas.openxmlformats.org/drawingml/2006/main" noGrp="1"/>
          </p:cNvSpPr>
          <p:nvPr/>
        </p:nvSpPr>
        <p:spPr>
          <a:xfrm xmlns:a="http://schemas.openxmlformats.org/drawingml/2006/main">
            <a:off x="590550" y="3343275"/>
            <a:ext cx="17907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3-phase PWM</a:t>
            </a:r>
          </a:p>
        </p:txBody>
      </p:sp>
      <p:sp>
        <p:nvSpPr>
          <p:cNvPr id="27" name="">
            <a:extLst xmlns:a="http://schemas.openxmlformats.org/drawingml/2006/main">
              <a:ext uri="{FF2B5EF4-FFF2-40B4-BE49-F238E27FC236}">
                <a16:creationId xmlns:a16="http://schemas.microsoft.com/office/drawing/2014/main" id="{E067AFFE-5089-41AD-ACC5-93A0A08B00EB}"/>
              </a:ext>
            </a:extLst>
          </p:cNvPr>
          <p:cNvSpPr>
            <a:spLocks xmlns:a="http://schemas.openxmlformats.org/drawingml/2006/main" noGrp="1"/>
          </p:cNvSpPr>
          <p:nvPr/>
        </p:nvSpPr>
        <p:spPr>
          <a:xfrm xmlns:a="http://schemas.openxmlformats.org/drawingml/2006/main">
            <a:off x="2590800" y="3343275"/>
            <a:ext cx="36004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Dead-time up to 5.1 µs at 50 MHz</a:t>
            </a:r>
          </a:p>
        </p:txBody>
      </p:sp>
      <p:sp>
        <p:nvSpPr>
          <p:cNvPr id="28" name="">
            <a:extLst xmlns:a="http://schemas.openxmlformats.org/drawingml/2006/main">
              <a:ext uri="{FF2B5EF4-FFF2-40B4-BE49-F238E27FC236}">
                <a16:creationId xmlns:a16="http://schemas.microsoft.com/office/drawing/2014/main" id="{A8364D40-A107-40C6-81BA-17B52A79335D}"/>
              </a:ext>
            </a:extLst>
          </p:cNvPr>
          <p:cNvSpPr>
            <a:spLocks xmlns:a="http://schemas.openxmlformats.org/drawingml/2006/main" noGrp="1"/>
          </p:cNvSpPr>
          <p:nvPr/>
        </p:nvSpPr>
        <p:spPr>
          <a:xfrm xmlns:a="http://schemas.openxmlformats.org/drawingml/2006/main">
            <a:off x="6400800" y="3343275"/>
            <a:ext cx="52578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Hardware brake forces all six outputs off in ≤ 2 cycles</a:t>
            </a:r>
          </a:p>
        </p:txBody>
      </p:sp>
      <p:sp>
        <p:nvSpPr>
          <p:cNvPr id="29" name="">
            <a:extLst xmlns:a="http://schemas.openxmlformats.org/drawingml/2006/main">
              <a:ext uri="{FF2B5EF4-FFF2-40B4-BE49-F238E27FC236}">
                <a16:creationId xmlns:a16="http://schemas.microsoft.com/office/drawing/2014/main" id="{032DCDF8-F780-4DC3-B3C6-FB36A880F05A}"/>
              </a:ext>
            </a:extLst>
          </p:cNvPr>
          <p:cNvSpPr>
            <a:spLocks xmlns:a="http://schemas.openxmlformats.org/drawingml/2006/main" noGrp="1"/>
          </p:cNvSpPr>
          <p:nvPr/>
        </p:nvSpPr>
        <p:spPr>
          <a:xfrm xmlns:a="http://schemas.openxmlformats.org/drawingml/2006/main">
            <a:off x="457200" y="3657600"/>
            <a:ext cx="1127760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30" name="">
            <a:extLst xmlns:a="http://schemas.openxmlformats.org/drawingml/2006/main">
              <a:ext uri="{FF2B5EF4-FFF2-40B4-BE49-F238E27FC236}">
                <a16:creationId xmlns:a16="http://schemas.microsoft.com/office/drawing/2014/main" id="{FDACF8AA-C076-4FD5-A3D7-048325B212D6}"/>
              </a:ext>
            </a:extLst>
          </p:cNvPr>
          <p:cNvSpPr>
            <a:spLocks xmlns:a="http://schemas.openxmlformats.org/drawingml/2006/main" noGrp="1"/>
          </p:cNvSpPr>
          <p:nvPr/>
        </p:nvSpPr>
        <p:spPr>
          <a:xfrm xmlns:a="http://schemas.openxmlformats.org/drawingml/2006/main">
            <a:off x="590550" y="3762375"/>
            <a:ext cx="17907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DShot × 4</a:t>
            </a:r>
          </a:p>
        </p:txBody>
      </p:sp>
      <p:sp>
        <p:nvSpPr>
          <p:cNvPr id="31" name="">
            <a:extLst xmlns:a="http://schemas.openxmlformats.org/drawingml/2006/main">
              <a:ext uri="{FF2B5EF4-FFF2-40B4-BE49-F238E27FC236}">
                <a16:creationId xmlns:a16="http://schemas.microsoft.com/office/drawing/2014/main" id="{DFD299AA-6355-46BC-9437-0A1C5861C6B7}"/>
              </a:ext>
            </a:extLst>
          </p:cNvPr>
          <p:cNvSpPr>
            <a:spLocks xmlns:a="http://schemas.openxmlformats.org/drawingml/2006/main" noGrp="1"/>
          </p:cNvSpPr>
          <p:nvPr/>
        </p:nvSpPr>
        <p:spPr>
          <a:xfrm xmlns:a="http://schemas.openxmlformats.org/drawingml/2006/main">
            <a:off x="2590800" y="3762375"/>
            <a:ext cx="36004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16-bit frames with CRC4</a:t>
            </a:r>
          </a:p>
        </p:txBody>
      </p:sp>
      <p:sp>
        <p:nvSpPr>
          <p:cNvPr id="32" name="">
            <a:extLst xmlns:a="http://schemas.openxmlformats.org/drawingml/2006/main">
              <a:ext uri="{FF2B5EF4-FFF2-40B4-BE49-F238E27FC236}">
                <a16:creationId xmlns:a16="http://schemas.microsoft.com/office/drawing/2014/main" id="{25AF22E9-B8F5-4DFA-A044-8DEC1F074B50}"/>
              </a:ext>
            </a:extLst>
          </p:cNvPr>
          <p:cNvSpPr>
            <a:spLocks xmlns:a="http://schemas.openxmlformats.org/drawingml/2006/main" noGrp="1"/>
          </p:cNvSpPr>
          <p:nvPr/>
        </p:nvSpPr>
        <p:spPr>
          <a:xfrm xmlns:a="http://schemas.openxmlformats.org/drawingml/2006/main">
            <a:off x="6400800" y="3762375"/>
            <a:ext cx="52578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All four channels share one bit-time counter</a:t>
            </a:r>
          </a:p>
        </p:txBody>
      </p:sp>
      <p:sp>
        <p:nvSpPr>
          <p:cNvPr id="33" name="">
            <a:extLst xmlns:a="http://schemas.openxmlformats.org/drawingml/2006/main">
              <a:ext uri="{FF2B5EF4-FFF2-40B4-BE49-F238E27FC236}">
                <a16:creationId xmlns:a16="http://schemas.microsoft.com/office/drawing/2014/main" id="{F6D6BF80-74F7-4743-BB69-84C12F65F1CF}"/>
              </a:ext>
            </a:extLst>
          </p:cNvPr>
          <p:cNvSpPr>
            <a:spLocks xmlns:a="http://schemas.openxmlformats.org/drawingml/2006/main" noGrp="1"/>
          </p:cNvSpPr>
          <p:nvPr/>
        </p:nvSpPr>
        <p:spPr>
          <a:xfrm xmlns:a="http://schemas.openxmlformats.org/drawingml/2006/main">
            <a:off x="457200" y="4076700"/>
            <a:ext cx="11277600" cy="41910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34" name="">
            <a:extLst xmlns:a="http://schemas.openxmlformats.org/drawingml/2006/main">
              <a:ext uri="{FF2B5EF4-FFF2-40B4-BE49-F238E27FC236}">
                <a16:creationId xmlns:a16="http://schemas.microsoft.com/office/drawing/2014/main" id="{90ED5A66-23CF-407B-8B1A-78B92F756344}"/>
              </a:ext>
            </a:extLst>
          </p:cNvPr>
          <p:cNvSpPr>
            <a:spLocks xmlns:a="http://schemas.openxmlformats.org/drawingml/2006/main" noGrp="1"/>
          </p:cNvSpPr>
          <p:nvPr/>
        </p:nvSpPr>
        <p:spPr>
          <a:xfrm xmlns:a="http://schemas.openxmlformats.org/drawingml/2006/main">
            <a:off x="590550" y="4181475"/>
            <a:ext cx="17907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Encoder + Hall</a:t>
            </a:r>
          </a:p>
        </p:txBody>
      </p:sp>
      <p:sp>
        <p:nvSpPr>
          <p:cNvPr id="35" name="">
            <a:extLst xmlns:a="http://schemas.openxmlformats.org/drawingml/2006/main">
              <a:ext uri="{FF2B5EF4-FFF2-40B4-BE49-F238E27FC236}">
                <a16:creationId xmlns:a16="http://schemas.microsoft.com/office/drawing/2014/main" id="{6822B5F2-1278-4343-8373-C7BEEBBA266C}"/>
              </a:ext>
            </a:extLst>
          </p:cNvPr>
          <p:cNvSpPr>
            <a:spLocks xmlns:a="http://schemas.openxmlformats.org/drawingml/2006/main" noGrp="1"/>
          </p:cNvSpPr>
          <p:nvPr/>
        </p:nvSpPr>
        <p:spPr>
          <a:xfrm xmlns:a="http://schemas.openxmlformats.org/drawingml/2006/main">
            <a:off x="2590800" y="4181475"/>
            <a:ext cx="36004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4× quadrature, index, 3 Hall inputs</a:t>
            </a:r>
          </a:p>
        </p:txBody>
      </p:sp>
      <p:sp>
        <p:nvSpPr>
          <p:cNvPr id="36" name="">
            <a:extLst xmlns:a="http://schemas.openxmlformats.org/drawingml/2006/main">
              <a:ext uri="{FF2B5EF4-FFF2-40B4-BE49-F238E27FC236}">
                <a16:creationId xmlns:a16="http://schemas.microsoft.com/office/drawing/2014/main" id="{8DEB6BB9-43DB-418F-8225-E54062CD5DF5}"/>
              </a:ext>
            </a:extLst>
          </p:cNvPr>
          <p:cNvSpPr>
            <a:spLocks xmlns:a="http://schemas.openxmlformats.org/drawingml/2006/main" noGrp="1"/>
          </p:cNvSpPr>
          <p:nvPr/>
        </p:nvSpPr>
        <p:spPr>
          <a:xfrm xmlns:a="http://schemas.openxmlformats.org/drawingml/2006/main">
            <a:off x="6400800" y="4181475"/>
            <a:ext cx="52578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Edge timestamps give velocity at low speed</a:t>
            </a:r>
          </a:p>
        </p:txBody>
      </p:sp>
      <p:sp>
        <p:nvSpPr>
          <p:cNvPr id="37" name="">
            <a:extLst xmlns:a="http://schemas.openxmlformats.org/drawingml/2006/main">
              <a:ext uri="{FF2B5EF4-FFF2-40B4-BE49-F238E27FC236}">
                <a16:creationId xmlns:a16="http://schemas.microsoft.com/office/drawing/2014/main" id="{0BDDDA2C-A535-4E69-A2AB-9FBFA60B268A}"/>
              </a:ext>
            </a:extLst>
          </p:cNvPr>
          <p:cNvSpPr>
            <a:spLocks xmlns:a="http://schemas.openxmlformats.org/drawingml/2006/main" noGrp="1"/>
          </p:cNvSpPr>
          <p:nvPr/>
        </p:nvSpPr>
        <p:spPr>
          <a:xfrm xmlns:a="http://schemas.openxmlformats.org/drawingml/2006/main">
            <a:off x="457200" y="4495800"/>
            <a:ext cx="11277600" cy="419100"/>
          </a:xfrm>
          <a:prstGeom xmlns:a="http://schemas.openxmlformats.org/drawingml/2006/main" prst="rect">
            <a:avLst/>
          </a:prstGeom>
          <a:solidFill xmlns:a="http://schemas.openxmlformats.org/drawingml/2006/main">
            <a:srgbClr val="E8F8FC"/>
          </a:solidFill>
          <a:ln xmlns:a="http://schemas.openxmlformats.org/drawingml/2006/main" w="9525">
            <a:solidFill>
              <a:srgbClr val="E2E8F0"/>
            </a:solidFill>
            <a:prstDash val="solid"/>
          </a:ln>
        </p:spPr>
      </p:sp>
      <p:sp>
        <p:nvSpPr>
          <p:cNvPr id="38" name="">
            <a:extLst xmlns:a="http://schemas.openxmlformats.org/drawingml/2006/main">
              <a:ext uri="{FF2B5EF4-FFF2-40B4-BE49-F238E27FC236}">
                <a16:creationId xmlns:a16="http://schemas.microsoft.com/office/drawing/2014/main" id="{94A1B4DD-4A1C-47A1-AA85-4BA0819AF73B}"/>
              </a:ext>
            </a:extLst>
          </p:cNvPr>
          <p:cNvSpPr>
            <a:spLocks xmlns:a="http://schemas.openxmlformats.org/drawingml/2006/main" noGrp="1"/>
          </p:cNvSpPr>
          <p:nvPr/>
        </p:nvSpPr>
        <p:spPr>
          <a:xfrm xmlns:a="http://schemas.openxmlformats.org/drawingml/2006/main">
            <a:off x="457200" y="4495800"/>
            <a:ext cx="47625" cy="419100"/>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9A638FBA-EFE5-4561-AFE6-D2211281FACE}"/>
              </a:ext>
            </a:extLst>
          </p:cNvPr>
          <p:cNvSpPr>
            <a:spLocks xmlns:a="http://schemas.openxmlformats.org/drawingml/2006/main" noGrp="1"/>
          </p:cNvSpPr>
          <p:nvPr/>
        </p:nvSpPr>
        <p:spPr>
          <a:xfrm xmlns:a="http://schemas.openxmlformats.org/drawingml/2006/main">
            <a:off x="590550" y="4600575"/>
            <a:ext cx="17907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SAR ADC</a:t>
            </a:r>
          </a:p>
        </p:txBody>
      </p:sp>
      <p:sp>
        <p:nvSpPr>
          <p:cNvPr id="40" name="">
            <a:extLst xmlns:a="http://schemas.openxmlformats.org/drawingml/2006/main">
              <a:ext uri="{FF2B5EF4-FFF2-40B4-BE49-F238E27FC236}">
                <a16:creationId xmlns:a16="http://schemas.microsoft.com/office/drawing/2014/main" id="{62F1BB5F-3469-42C9-97C7-AC0C5718BE1E}"/>
              </a:ext>
            </a:extLst>
          </p:cNvPr>
          <p:cNvSpPr>
            <a:spLocks xmlns:a="http://schemas.openxmlformats.org/drawingml/2006/main" noGrp="1"/>
          </p:cNvSpPr>
          <p:nvPr/>
        </p:nvSpPr>
        <p:spPr>
          <a:xfrm xmlns:a="http://schemas.openxmlformats.org/drawingml/2006/main">
            <a:off x="2590800" y="4600575"/>
            <a:ext cx="36004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8-bit differential, ~200 kSa/s</a:t>
            </a:r>
          </a:p>
        </p:txBody>
      </p:sp>
      <p:sp>
        <p:nvSpPr>
          <p:cNvPr id="41" name="">
            <a:extLst xmlns:a="http://schemas.openxmlformats.org/drawingml/2006/main">
              <a:ext uri="{FF2B5EF4-FFF2-40B4-BE49-F238E27FC236}">
                <a16:creationId xmlns:a16="http://schemas.microsoft.com/office/drawing/2014/main" id="{5F9241F8-C1EF-4C02-BC1A-46C47DD830E3}"/>
              </a:ext>
            </a:extLst>
          </p:cNvPr>
          <p:cNvSpPr>
            <a:spLocks xmlns:a="http://schemas.openxmlformats.org/drawingml/2006/main" noGrp="1"/>
          </p:cNvSpPr>
          <p:nvPr/>
        </p:nvSpPr>
        <p:spPr>
          <a:xfrm xmlns:a="http://schemas.openxmlformats.org/drawingml/2006/main">
            <a:off x="6400800" y="4600575"/>
            <a:ext cx="52578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Trim taps unrouted: runs untrimmed on this silicon</a:t>
            </a:r>
          </a:p>
        </p:txBody>
      </p:sp>
      <p:sp>
        <p:nvSpPr>
          <p:cNvPr id="42" name="">
            <a:extLst xmlns:a="http://schemas.openxmlformats.org/drawingml/2006/main">
              <a:ext uri="{FF2B5EF4-FFF2-40B4-BE49-F238E27FC236}">
                <a16:creationId xmlns:a16="http://schemas.microsoft.com/office/drawing/2014/main" id="{A151F758-D7E7-4BCF-B950-5B034865C3BA}"/>
              </a:ext>
            </a:extLst>
          </p:cNvPr>
          <p:cNvSpPr>
            <a:spLocks xmlns:a="http://schemas.openxmlformats.org/drawingml/2006/main" noGrp="1"/>
          </p:cNvSpPr>
          <p:nvPr/>
        </p:nvSpPr>
        <p:spPr>
          <a:xfrm xmlns:a="http://schemas.openxmlformats.org/drawingml/2006/main">
            <a:off x="457200" y="4914900"/>
            <a:ext cx="11277600" cy="41910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43" name="">
            <a:extLst xmlns:a="http://schemas.openxmlformats.org/drawingml/2006/main">
              <a:ext uri="{FF2B5EF4-FFF2-40B4-BE49-F238E27FC236}">
                <a16:creationId xmlns:a16="http://schemas.microsoft.com/office/drawing/2014/main" id="{4A3B33E3-848B-40C3-A776-77FF5C2DFEDA}"/>
              </a:ext>
            </a:extLst>
          </p:cNvPr>
          <p:cNvSpPr>
            <a:spLocks xmlns:a="http://schemas.openxmlformats.org/drawingml/2006/main" noGrp="1"/>
          </p:cNvSpPr>
          <p:nvPr/>
        </p:nvSpPr>
        <p:spPr>
          <a:xfrm xmlns:a="http://schemas.openxmlformats.org/drawingml/2006/main">
            <a:off x="590550" y="5019675"/>
            <a:ext cx="17907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CORDIC</a:t>
            </a:r>
          </a:p>
        </p:txBody>
      </p:sp>
      <p:sp>
        <p:nvSpPr>
          <p:cNvPr id="44" name="">
            <a:extLst xmlns:a="http://schemas.openxmlformats.org/drawingml/2006/main">
              <a:ext uri="{FF2B5EF4-FFF2-40B4-BE49-F238E27FC236}">
                <a16:creationId xmlns:a16="http://schemas.microsoft.com/office/drawing/2014/main" id="{D0544574-E42A-4DCF-B1DD-582489A3D7F7}"/>
              </a:ext>
            </a:extLst>
          </p:cNvPr>
          <p:cNvSpPr>
            <a:spLocks xmlns:a="http://schemas.openxmlformats.org/drawingml/2006/main" noGrp="1"/>
          </p:cNvSpPr>
          <p:nvPr/>
        </p:nvSpPr>
        <p:spPr>
          <a:xfrm xmlns:a="http://schemas.openxmlformats.org/drawingml/2006/main">
            <a:off x="2590800" y="5019675"/>
            <a:ext cx="36004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sin, cos, atan2, magnitude</a:t>
            </a:r>
          </a:p>
        </p:txBody>
      </p:sp>
      <p:sp>
        <p:nvSpPr>
          <p:cNvPr id="45" name="">
            <a:extLst xmlns:a="http://schemas.openxmlformats.org/drawingml/2006/main">
              <a:ext uri="{FF2B5EF4-FFF2-40B4-BE49-F238E27FC236}">
                <a16:creationId xmlns:a16="http://schemas.microsoft.com/office/drawing/2014/main" id="{8C410BE7-3C7C-411A-A186-EE93B3D6ED22}"/>
              </a:ext>
            </a:extLst>
          </p:cNvPr>
          <p:cNvSpPr>
            <a:spLocks xmlns:a="http://schemas.openxmlformats.org/drawingml/2006/main" noGrp="1"/>
          </p:cNvSpPr>
          <p:nvPr/>
        </p:nvSpPr>
        <p:spPr>
          <a:xfrm xmlns:a="http://schemas.openxmlformats.org/drawingml/2006/main">
            <a:off x="6400800" y="5019675"/>
            <a:ext cx="52578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20 iterations, ~53–58 cycles per operation</a:t>
            </a:r>
          </a:p>
        </p:txBody>
      </p:sp>
      <p:sp>
        <p:nvSpPr>
          <p:cNvPr id="46" name="">
            <a:extLst xmlns:a="http://schemas.openxmlformats.org/drawingml/2006/main">
              <a:ext uri="{FF2B5EF4-FFF2-40B4-BE49-F238E27FC236}">
                <a16:creationId xmlns:a16="http://schemas.microsoft.com/office/drawing/2014/main" id="{6682DFDE-7B64-4120-B22C-17D8A6A0F979}"/>
              </a:ext>
            </a:extLst>
          </p:cNvPr>
          <p:cNvSpPr>
            <a:spLocks xmlns:a="http://schemas.openxmlformats.org/drawingml/2006/main" noGrp="1"/>
          </p:cNvSpPr>
          <p:nvPr/>
        </p:nvSpPr>
        <p:spPr>
          <a:xfrm xmlns:a="http://schemas.openxmlformats.org/drawingml/2006/main">
            <a:off x="457200" y="5334000"/>
            <a:ext cx="1127760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47" name="">
            <a:extLst xmlns:a="http://schemas.openxmlformats.org/drawingml/2006/main">
              <a:ext uri="{FF2B5EF4-FFF2-40B4-BE49-F238E27FC236}">
                <a16:creationId xmlns:a16="http://schemas.microsoft.com/office/drawing/2014/main" id="{292ACB92-4EF0-4777-899E-1E7B709AC99C}"/>
              </a:ext>
            </a:extLst>
          </p:cNvPr>
          <p:cNvSpPr>
            <a:spLocks xmlns:a="http://schemas.openxmlformats.org/drawingml/2006/main" noGrp="1"/>
          </p:cNvSpPr>
          <p:nvPr/>
        </p:nvSpPr>
        <p:spPr>
          <a:xfrm xmlns:a="http://schemas.openxmlformats.org/drawingml/2006/main">
            <a:off x="590550" y="5438775"/>
            <a:ext cx="17907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DMA</a:t>
            </a:r>
          </a:p>
        </p:txBody>
      </p:sp>
      <p:sp>
        <p:nvSpPr>
          <p:cNvPr id="48" name="">
            <a:extLst xmlns:a="http://schemas.openxmlformats.org/drawingml/2006/main">
              <a:ext uri="{FF2B5EF4-FFF2-40B4-BE49-F238E27FC236}">
                <a16:creationId xmlns:a16="http://schemas.microsoft.com/office/drawing/2014/main" id="{251AB79D-46D1-4411-860B-AF1AFB854C7F}"/>
              </a:ext>
            </a:extLst>
          </p:cNvPr>
          <p:cNvSpPr>
            <a:spLocks xmlns:a="http://schemas.openxmlformats.org/drawingml/2006/main" noGrp="1"/>
          </p:cNvSpPr>
          <p:nvPr/>
        </p:nvSpPr>
        <p:spPr>
          <a:xfrm xmlns:a="http://schemas.openxmlformats.org/drawingml/2006/main">
            <a:off x="2590800" y="5438775"/>
            <a:ext cx="36004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~7.1 cycles per word moved</a:t>
            </a:r>
          </a:p>
        </p:txBody>
      </p:sp>
      <p:sp>
        <p:nvSpPr>
          <p:cNvPr id="49" name="">
            <a:extLst xmlns:a="http://schemas.openxmlformats.org/drawingml/2006/main">
              <a:ext uri="{FF2B5EF4-FFF2-40B4-BE49-F238E27FC236}">
                <a16:creationId xmlns:a16="http://schemas.microsoft.com/office/drawing/2014/main" id="{5C4714BF-6FC1-4038-88DF-584065B45104}"/>
              </a:ext>
            </a:extLst>
          </p:cNvPr>
          <p:cNvSpPr>
            <a:spLocks xmlns:a="http://schemas.openxmlformats.org/drawingml/2006/main" noGrp="1"/>
          </p:cNvSpPr>
          <p:nvPr/>
        </p:nvSpPr>
        <p:spPr>
          <a:xfrm xmlns:a="http://schemas.openxmlformats.org/drawingml/2006/main">
            <a:off x="6400800" y="5438775"/>
            <a:ext cx="52578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The CPU keeps bus priority</a:t>
            </a:r>
          </a:p>
        </p:txBody>
      </p:sp>
      <p:sp>
        <p:nvSpPr>
          <p:cNvPr id="50" name="">
            <a:extLst xmlns:a="http://schemas.openxmlformats.org/drawingml/2006/main">
              <a:ext uri="{FF2B5EF4-FFF2-40B4-BE49-F238E27FC236}">
                <a16:creationId xmlns:a16="http://schemas.microsoft.com/office/drawing/2014/main" id="{8A5E502C-1FB9-4B9C-AAB7-520002011D3F}"/>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6B7280"/>
                </a:solidFill>
                <a:latin typeface="Arial"/>
                <a:ea typeface="Arial"/>
                <a:cs typeface="Arial"/>
              </a:defRPr>
            </a:pPr>
            <a:r>
              <a:t>Source: DG32-LITE preliminary datasheet §1 and §8 block notes (capabilities only, no register detail).</a:t>
            </a:r>
          </a:p>
        </p:txBody>
      </p:sp>
    </p:spTree>
    <p:extLst>
      <p:ext uri="{BB962C8B-B14F-4D97-AF65-F5344CB8AC3E}">
        <p14:creationId xmlns:p14="http://schemas.microsoft.com/office/powerpoint/2010/main" val="2025288994"/>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934069F0-793F-456B-9D34-01898BD1B0B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CEE3242-2912-4037-A53A-46FFC401B4D8}"/>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77A3"/>
                </a:solidFill>
                <a:latin typeface="Arial"/>
                <a:ea typeface="Arial"/>
                <a:cs typeface="Arial"/>
              </a:defRPr>
            </a:pPr>
            <a:r>
              <a:t>11 · PACKAGE AND STATUS</a:t>
            </a:r>
          </a:p>
        </p:txBody>
      </p:sp>
      <p:sp>
        <p:nvSpPr>
          <p:cNvPr id="3" name="">
            <a:extLst xmlns:a="http://schemas.openxmlformats.org/drawingml/2006/main">
              <a:ext uri="{FF2B5EF4-FFF2-40B4-BE49-F238E27FC236}">
                <a16:creationId xmlns:a16="http://schemas.microsoft.com/office/drawing/2014/main" id="{4C159BDF-EE1D-49F3-9481-E70FAD071FB7}"/>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The package is final; the pin map is preliminary</a:t>
            </a:r>
          </a:p>
        </p:txBody>
      </p:sp>
      <p:sp>
        <p:nvSpPr>
          <p:cNvPr id="4" name="">
            <a:extLst xmlns:a="http://schemas.openxmlformats.org/drawingml/2006/main">
              <a:ext uri="{FF2B5EF4-FFF2-40B4-BE49-F238E27FC236}">
                <a16:creationId xmlns:a16="http://schemas.microsoft.com/office/drawing/2014/main" id="{A4138CB4-3805-45E8-98A4-760E8C811769}"/>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What a design can lock now, and what waits for first silicon</a:t>
            </a:r>
          </a:p>
        </p:txBody>
      </p:sp>
      <p:sp>
        <p:nvSpPr>
          <p:cNvPr id="5" name="">
            <a:extLst xmlns:a="http://schemas.openxmlformats.org/drawingml/2006/main">
              <a:ext uri="{FF2B5EF4-FFF2-40B4-BE49-F238E27FC236}">
                <a16:creationId xmlns:a16="http://schemas.microsoft.com/office/drawing/2014/main" id="{379FA6AA-AEF7-46C5-A06F-81A4364C84F8}"/>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099D4EC-E44F-42CF-967D-24A49A167EE8}"/>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CF61CD4-A375-41C8-BCFF-9EF509F61D90}"/>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DEEPGRID SEMI  ·  DG32-LITE PRELIMINARY DATASHEET  ·  SEPTEMBER 2026  ·  PRE-SILICON</a:t>
            </a:r>
          </a:p>
        </p:txBody>
      </p:sp>
      <p:sp>
        <p:nvSpPr>
          <p:cNvPr id="8" name="">
            <a:extLst xmlns:a="http://schemas.openxmlformats.org/drawingml/2006/main">
              <a:ext uri="{FF2B5EF4-FFF2-40B4-BE49-F238E27FC236}">
                <a16:creationId xmlns:a16="http://schemas.microsoft.com/office/drawing/2014/main" id="{158E3B6B-3E57-49CE-8394-7BC4364335DE}"/>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11</a:t>
            </a:r>
          </a:p>
        </p:txBody>
      </p:sp>
      <p:sp>
        <p:nvSpPr>
          <p:cNvPr id="9" name="">
            <a:extLst xmlns:a="http://schemas.openxmlformats.org/drawingml/2006/main">
              <a:ext uri="{FF2B5EF4-FFF2-40B4-BE49-F238E27FC236}">
                <a16:creationId xmlns:a16="http://schemas.microsoft.com/office/drawing/2014/main" id="{45FE3CAB-2121-4BE2-8F95-323D98469AE2}"/>
              </a:ext>
            </a:extLst>
          </p:cNvPr>
          <p:cNvSpPr>
            <a:spLocks xmlns:a="http://schemas.openxmlformats.org/drawingml/2006/main" noGrp="1"/>
          </p:cNvSpPr>
          <p:nvPr/>
        </p:nvSpPr>
        <p:spPr>
          <a:xfrm xmlns:a="http://schemas.openxmlformats.org/drawingml/2006/main">
            <a:off x="457200" y="1638300"/>
            <a:ext cx="2686050" cy="1524000"/>
          </a:xfrm>
          <a:prstGeom xmlns:a="http://schemas.openxmlformats.org/drawingml/2006/main" prst="roundRect">
            <a:avLst>
              <a:gd name="adj" fmla="val 5000"/>
            </a:avLst>
          </a:prstGeom>
          <a:solidFill xmlns:a="http://schemas.openxmlformats.org/drawingml/2006/main">
            <a:srgbClr val="F8FAFC"/>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F68D5495-14C3-4DDC-B4A4-4906A040A741}"/>
              </a:ext>
            </a:extLst>
          </p:cNvPr>
          <p:cNvSpPr>
            <a:spLocks xmlns:a="http://schemas.openxmlformats.org/drawingml/2006/main" noGrp="1"/>
          </p:cNvSpPr>
          <p:nvPr/>
        </p:nvSpPr>
        <p:spPr>
          <a:xfrm xmlns:a="http://schemas.openxmlformats.org/drawingml/2006/main">
            <a:off x="571500" y="1790700"/>
            <a:ext cx="2457450" cy="466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625" b="1">
                <a:solidFill>
                  <a:srgbClr val="0077A3"/>
                </a:solidFill>
                <a:latin typeface="Georgia"/>
                <a:ea typeface="Georgia"/>
                <a:cs typeface="Georgia"/>
              </a:defRPr>
            </a:pPr>
            <a:r>
              <a:t>9 × 9 mm</a:t>
            </a:r>
          </a:p>
        </p:txBody>
      </p:sp>
      <p:sp>
        <p:nvSpPr>
          <p:cNvPr id="11" name="">
            <a:extLst xmlns:a="http://schemas.openxmlformats.org/drawingml/2006/main">
              <a:ext uri="{FF2B5EF4-FFF2-40B4-BE49-F238E27FC236}">
                <a16:creationId xmlns:a16="http://schemas.microsoft.com/office/drawing/2014/main" id="{FD597E17-ABA9-4821-B9DC-3A4EFAB8CAF6}"/>
              </a:ext>
            </a:extLst>
          </p:cNvPr>
          <p:cNvSpPr>
            <a:spLocks xmlns:a="http://schemas.openxmlformats.org/drawingml/2006/main" noGrp="1"/>
          </p:cNvSpPr>
          <p:nvPr/>
        </p:nvSpPr>
        <p:spPr>
          <a:xfrm xmlns:a="http://schemas.openxmlformats.org/drawingml/2006/main">
            <a:off x="571500" y="2276475"/>
            <a:ext cx="24574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QFN-64 BODY</a:t>
            </a:r>
          </a:p>
        </p:txBody>
      </p:sp>
      <p:sp>
        <p:nvSpPr>
          <p:cNvPr id="12" name="">
            <a:extLst xmlns:a="http://schemas.openxmlformats.org/drawingml/2006/main">
              <a:ext uri="{FF2B5EF4-FFF2-40B4-BE49-F238E27FC236}">
                <a16:creationId xmlns:a16="http://schemas.microsoft.com/office/drawing/2014/main" id="{423F9AEB-C93B-40D1-BF2D-BFA022B04802}"/>
              </a:ext>
            </a:extLst>
          </p:cNvPr>
          <p:cNvSpPr>
            <a:spLocks xmlns:a="http://schemas.openxmlformats.org/drawingml/2006/main" noGrp="1"/>
          </p:cNvSpPr>
          <p:nvPr/>
        </p:nvSpPr>
        <p:spPr>
          <a:xfrm xmlns:a="http://schemas.openxmlformats.org/drawingml/2006/main">
            <a:off x="590550" y="2524125"/>
            <a:ext cx="2419350" cy="5810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64 pins</a:t>
            </a:r>
          </a:p>
        </p:txBody>
      </p:sp>
      <p:sp>
        <p:nvSpPr>
          <p:cNvPr id="13" name="">
            <a:extLst xmlns:a="http://schemas.openxmlformats.org/drawingml/2006/main">
              <a:ext uri="{FF2B5EF4-FFF2-40B4-BE49-F238E27FC236}">
                <a16:creationId xmlns:a16="http://schemas.microsoft.com/office/drawing/2014/main" id="{223BFCF7-DE26-4210-895C-D5F14BF76728}"/>
              </a:ext>
            </a:extLst>
          </p:cNvPr>
          <p:cNvSpPr>
            <a:spLocks xmlns:a="http://schemas.openxmlformats.org/drawingml/2006/main" noGrp="1"/>
          </p:cNvSpPr>
          <p:nvPr/>
        </p:nvSpPr>
        <p:spPr>
          <a:xfrm xmlns:a="http://schemas.openxmlformats.org/drawingml/2006/main">
            <a:off x="3371850" y="1638300"/>
            <a:ext cx="2686050" cy="1524000"/>
          </a:xfrm>
          <a:prstGeom xmlns:a="http://schemas.openxmlformats.org/drawingml/2006/main" prst="roundRect">
            <a:avLst>
              <a:gd name="adj" fmla="val 5000"/>
            </a:avLst>
          </a:prstGeom>
          <a:solidFill xmlns:a="http://schemas.openxmlformats.org/drawingml/2006/main">
            <a:srgbClr val="F8FAFC"/>
          </a:solidFill>
          <a:ln xmlns:a="http://schemas.openxmlformats.org/drawingml/2006/main" w="9525">
            <a:solidFill>
              <a:srgbClr val="E2E8F0"/>
            </a:solidFill>
            <a:prstDash val="solid"/>
          </a:ln>
        </p:spPr>
      </p:sp>
      <p:sp>
        <p:nvSpPr>
          <p:cNvPr id="14" name="">
            <a:extLst xmlns:a="http://schemas.openxmlformats.org/drawingml/2006/main">
              <a:ext uri="{FF2B5EF4-FFF2-40B4-BE49-F238E27FC236}">
                <a16:creationId xmlns:a16="http://schemas.microsoft.com/office/drawing/2014/main" id="{17846102-95EE-4252-B4A7-221ACDFEC427}"/>
              </a:ext>
            </a:extLst>
          </p:cNvPr>
          <p:cNvSpPr>
            <a:spLocks xmlns:a="http://schemas.openxmlformats.org/drawingml/2006/main" noGrp="1"/>
          </p:cNvSpPr>
          <p:nvPr/>
        </p:nvSpPr>
        <p:spPr>
          <a:xfrm xmlns:a="http://schemas.openxmlformats.org/drawingml/2006/main">
            <a:off x="3486150" y="1790700"/>
            <a:ext cx="2457450" cy="466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625" b="1">
                <a:solidFill>
                  <a:srgbClr val="07686A"/>
                </a:solidFill>
                <a:latin typeface="Georgia"/>
                <a:ea typeface="Georgia"/>
                <a:cs typeface="Georgia"/>
              </a:defRPr>
            </a:pPr>
            <a:r>
              <a:t>0.5 mm</a:t>
            </a:r>
          </a:p>
        </p:txBody>
      </p:sp>
      <p:sp>
        <p:nvSpPr>
          <p:cNvPr id="15" name="">
            <a:extLst xmlns:a="http://schemas.openxmlformats.org/drawingml/2006/main">
              <a:ext uri="{FF2B5EF4-FFF2-40B4-BE49-F238E27FC236}">
                <a16:creationId xmlns:a16="http://schemas.microsoft.com/office/drawing/2014/main" id="{7D4018AD-63F5-4336-9463-25BDC1EA2A0B}"/>
              </a:ext>
            </a:extLst>
          </p:cNvPr>
          <p:cNvSpPr>
            <a:spLocks xmlns:a="http://schemas.openxmlformats.org/drawingml/2006/main" noGrp="1"/>
          </p:cNvSpPr>
          <p:nvPr/>
        </p:nvSpPr>
        <p:spPr>
          <a:xfrm xmlns:a="http://schemas.openxmlformats.org/drawingml/2006/main">
            <a:off x="3486150" y="2276475"/>
            <a:ext cx="24574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PITCH</a:t>
            </a:r>
          </a:p>
        </p:txBody>
      </p:sp>
      <p:sp>
        <p:nvSpPr>
          <p:cNvPr id="16" name="">
            <a:extLst xmlns:a="http://schemas.openxmlformats.org/drawingml/2006/main">
              <a:ext uri="{FF2B5EF4-FFF2-40B4-BE49-F238E27FC236}">
                <a16:creationId xmlns:a16="http://schemas.microsoft.com/office/drawing/2014/main" id="{FAF7F852-2A50-4A65-8DC3-28AC0CE42BFB}"/>
              </a:ext>
            </a:extLst>
          </p:cNvPr>
          <p:cNvSpPr>
            <a:spLocks xmlns:a="http://schemas.openxmlformats.org/drawingml/2006/main" noGrp="1"/>
          </p:cNvSpPr>
          <p:nvPr/>
        </p:nvSpPr>
        <p:spPr>
          <a:xfrm xmlns:a="http://schemas.openxmlformats.org/drawingml/2006/main">
            <a:off x="3505200" y="2524125"/>
            <a:ext cx="2419350" cy="5810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Standard QFN lead pitch</a:t>
            </a:r>
          </a:p>
        </p:txBody>
      </p:sp>
      <p:sp>
        <p:nvSpPr>
          <p:cNvPr id="17" name="">
            <a:extLst xmlns:a="http://schemas.openxmlformats.org/drawingml/2006/main">
              <a:ext uri="{FF2B5EF4-FFF2-40B4-BE49-F238E27FC236}">
                <a16:creationId xmlns:a16="http://schemas.microsoft.com/office/drawing/2014/main" id="{54A0CA18-440C-482C-9202-E4DD47DE0CB4}"/>
              </a:ext>
            </a:extLst>
          </p:cNvPr>
          <p:cNvSpPr>
            <a:spLocks xmlns:a="http://schemas.openxmlformats.org/drawingml/2006/main" noGrp="1"/>
          </p:cNvSpPr>
          <p:nvPr/>
        </p:nvSpPr>
        <p:spPr>
          <a:xfrm xmlns:a="http://schemas.openxmlformats.org/drawingml/2006/main">
            <a:off x="457200" y="3352800"/>
            <a:ext cx="2686050" cy="1524000"/>
          </a:xfrm>
          <a:prstGeom xmlns:a="http://schemas.openxmlformats.org/drawingml/2006/main" prst="roundRect">
            <a:avLst>
              <a:gd name="adj" fmla="val 5000"/>
            </a:avLst>
          </a:prstGeom>
          <a:solidFill xmlns:a="http://schemas.openxmlformats.org/drawingml/2006/main">
            <a:srgbClr val="F8FAFC"/>
          </a:solidFill>
          <a:ln xmlns:a="http://schemas.openxmlformats.org/drawingml/2006/main" w="9525">
            <a:solidFill>
              <a:srgbClr val="E2E8F0"/>
            </a:solidFill>
            <a:prstDash val="solid"/>
          </a:ln>
        </p:spPr>
      </p:sp>
      <p:sp>
        <p:nvSpPr>
          <p:cNvPr id="18" name="">
            <a:extLst xmlns:a="http://schemas.openxmlformats.org/drawingml/2006/main">
              <a:ext uri="{FF2B5EF4-FFF2-40B4-BE49-F238E27FC236}">
                <a16:creationId xmlns:a16="http://schemas.microsoft.com/office/drawing/2014/main" id="{43A3653E-8643-485E-A11B-93BD93DB1DCC}"/>
              </a:ext>
            </a:extLst>
          </p:cNvPr>
          <p:cNvSpPr>
            <a:spLocks xmlns:a="http://schemas.openxmlformats.org/drawingml/2006/main" noGrp="1"/>
          </p:cNvSpPr>
          <p:nvPr/>
        </p:nvSpPr>
        <p:spPr>
          <a:xfrm xmlns:a="http://schemas.openxmlformats.org/drawingml/2006/main">
            <a:off x="571500" y="3505200"/>
            <a:ext cx="2457450" cy="466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625" b="1">
                <a:solidFill>
                  <a:srgbClr val="07686A"/>
                </a:solidFill>
                <a:latin typeface="Georgia"/>
                <a:ea typeface="Georgia"/>
                <a:cs typeface="Georgia"/>
              </a:defRPr>
            </a:pPr>
            <a:r>
              <a:t>Ground</a:t>
            </a:r>
          </a:p>
        </p:txBody>
      </p:sp>
      <p:sp>
        <p:nvSpPr>
          <p:cNvPr id="19" name="">
            <a:extLst xmlns:a="http://schemas.openxmlformats.org/drawingml/2006/main">
              <a:ext uri="{FF2B5EF4-FFF2-40B4-BE49-F238E27FC236}">
                <a16:creationId xmlns:a16="http://schemas.microsoft.com/office/drawing/2014/main" id="{3CA332D8-F1BE-42C7-A65A-A44E92F26643}"/>
              </a:ext>
            </a:extLst>
          </p:cNvPr>
          <p:cNvSpPr>
            <a:spLocks xmlns:a="http://schemas.openxmlformats.org/drawingml/2006/main" noGrp="1"/>
          </p:cNvSpPr>
          <p:nvPr/>
        </p:nvSpPr>
        <p:spPr>
          <a:xfrm xmlns:a="http://schemas.openxmlformats.org/drawingml/2006/main">
            <a:off x="571500" y="3990975"/>
            <a:ext cx="24574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EXPOSED PADDLE</a:t>
            </a:r>
          </a:p>
        </p:txBody>
      </p:sp>
      <p:sp>
        <p:nvSpPr>
          <p:cNvPr id="20" name="">
            <a:extLst xmlns:a="http://schemas.openxmlformats.org/drawingml/2006/main">
              <a:ext uri="{FF2B5EF4-FFF2-40B4-BE49-F238E27FC236}">
                <a16:creationId xmlns:a16="http://schemas.microsoft.com/office/drawing/2014/main" id="{15E8744F-E8B8-4A7F-B697-EF99E97DAE3B}"/>
              </a:ext>
            </a:extLst>
          </p:cNvPr>
          <p:cNvSpPr>
            <a:spLocks xmlns:a="http://schemas.openxmlformats.org/drawingml/2006/main" noGrp="1"/>
          </p:cNvSpPr>
          <p:nvPr/>
        </p:nvSpPr>
        <p:spPr>
          <a:xfrm xmlns:a="http://schemas.openxmlformats.org/drawingml/2006/main">
            <a:off x="590550" y="4238625"/>
            <a:ext cx="2419350" cy="5810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Solder to the ground plane</a:t>
            </a:r>
          </a:p>
        </p:txBody>
      </p:sp>
      <p:sp>
        <p:nvSpPr>
          <p:cNvPr id="21" name="">
            <a:extLst xmlns:a="http://schemas.openxmlformats.org/drawingml/2006/main">
              <a:ext uri="{FF2B5EF4-FFF2-40B4-BE49-F238E27FC236}">
                <a16:creationId xmlns:a16="http://schemas.microsoft.com/office/drawing/2014/main" id="{0B727499-CD48-4CEA-9B7F-1C8E59C8A43F}"/>
              </a:ext>
            </a:extLst>
          </p:cNvPr>
          <p:cNvSpPr>
            <a:spLocks xmlns:a="http://schemas.openxmlformats.org/drawingml/2006/main" noGrp="1"/>
          </p:cNvSpPr>
          <p:nvPr/>
        </p:nvSpPr>
        <p:spPr>
          <a:xfrm xmlns:a="http://schemas.openxmlformats.org/drawingml/2006/main">
            <a:off x="3371850" y="3352800"/>
            <a:ext cx="2686050" cy="1524000"/>
          </a:xfrm>
          <a:prstGeom xmlns:a="http://schemas.openxmlformats.org/drawingml/2006/main" prst="roundRect">
            <a:avLst>
              <a:gd name="adj" fmla="val 5000"/>
            </a:avLst>
          </a:prstGeom>
          <a:solidFill xmlns:a="http://schemas.openxmlformats.org/drawingml/2006/main">
            <a:srgbClr val="F8FAFC"/>
          </a:solidFill>
          <a:ln xmlns:a="http://schemas.openxmlformats.org/drawingml/2006/main" w="9525">
            <a:solidFill>
              <a:srgbClr val="E2E8F0"/>
            </a:solidFill>
            <a:prstDash val="solid"/>
          </a:ln>
        </p:spPr>
      </p:sp>
      <p:sp>
        <p:nvSpPr>
          <p:cNvPr id="22" name="">
            <a:extLst xmlns:a="http://schemas.openxmlformats.org/drawingml/2006/main">
              <a:ext uri="{FF2B5EF4-FFF2-40B4-BE49-F238E27FC236}">
                <a16:creationId xmlns:a16="http://schemas.microsoft.com/office/drawing/2014/main" id="{45F0E12A-99CF-4DDD-88DF-C90A8D8FCEA3}"/>
              </a:ext>
            </a:extLst>
          </p:cNvPr>
          <p:cNvSpPr>
            <a:spLocks xmlns:a="http://schemas.openxmlformats.org/drawingml/2006/main" noGrp="1"/>
          </p:cNvSpPr>
          <p:nvPr/>
        </p:nvSpPr>
        <p:spPr>
          <a:xfrm xmlns:a="http://schemas.openxmlformats.org/drawingml/2006/main">
            <a:off x="3486150" y="3505200"/>
            <a:ext cx="2457450" cy="466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625" b="1">
                <a:solidFill>
                  <a:srgbClr val="07686A"/>
                </a:solidFill>
                <a:latin typeface="Georgia"/>
                <a:ea typeface="Georgia"/>
                <a:cs typeface="Georgia"/>
              </a:defRPr>
            </a:pPr>
            <a:r>
              <a:t>Pin 1</a:t>
            </a:r>
          </a:p>
        </p:txBody>
      </p:sp>
      <p:sp>
        <p:nvSpPr>
          <p:cNvPr id="23" name="">
            <a:extLst xmlns:a="http://schemas.openxmlformats.org/drawingml/2006/main">
              <a:ext uri="{FF2B5EF4-FFF2-40B4-BE49-F238E27FC236}">
                <a16:creationId xmlns:a16="http://schemas.microsoft.com/office/drawing/2014/main" id="{9AAD623E-8589-414C-B9A5-F39218527636}"/>
              </a:ext>
            </a:extLst>
          </p:cNvPr>
          <p:cNvSpPr>
            <a:spLocks xmlns:a="http://schemas.openxmlformats.org/drawingml/2006/main" noGrp="1"/>
          </p:cNvSpPr>
          <p:nvPr/>
        </p:nvSpPr>
        <p:spPr>
          <a:xfrm xmlns:a="http://schemas.openxmlformats.org/drawingml/2006/main">
            <a:off x="3486150" y="3990975"/>
            <a:ext cx="24574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UPPER LEFT</a:t>
            </a:r>
          </a:p>
        </p:txBody>
      </p:sp>
      <p:sp>
        <p:nvSpPr>
          <p:cNvPr id="24" name="">
            <a:extLst xmlns:a="http://schemas.openxmlformats.org/drawingml/2006/main">
              <a:ext uri="{FF2B5EF4-FFF2-40B4-BE49-F238E27FC236}">
                <a16:creationId xmlns:a16="http://schemas.microsoft.com/office/drawing/2014/main" id="{DBA525DA-EE4C-4B5F-A758-F5A878640B3D}"/>
              </a:ext>
            </a:extLst>
          </p:cNvPr>
          <p:cNvSpPr>
            <a:spLocks xmlns:a="http://schemas.openxmlformats.org/drawingml/2006/main" noGrp="1"/>
          </p:cNvSpPr>
          <p:nvPr/>
        </p:nvSpPr>
        <p:spPr>
          <a:xfrm xmlns:a="http://schemas.openxmlformats.org/drawingml/2006/main">
            <a:off x="3505200" y="4238625"/>
            <a:ext cx="2419350" cy="5810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Numbered counter-clockwise</a:t>
            </a:r>
          </a:p>
        </p:txBody>
      </p:sp>
      <p:sp>
        <p:nvSpPr>
          <p:cNvPr id="25" name="">
            <a:extLst xmlns:a="http://schemas.openxmlformats.org/drawingml/2006/main">
              <a:ext uri="{FF2B5EF4-FFF2-40B4-BE49-F238E27FC236}">
                <a16:creationId xmlns:a16="http://schemas.microsoft.com/office/drawing/2014/main" id="{2009DAA7-A032-4EDD-8F5C-51E849B770B8}"/>
              </a:ext>
            </a:extLst>
          </p:cNvPr>
          <p:cNvSpPr>
            <a:spLocks xmlns:a="http://schemas.openxmlformats.org/drawingml/2006/main" noGrp="1"/>
          </p:cNvSpPr>
          <p:nvPr/>
        </p:nvSpPr>
        <p:spPr>
          <a:xfrm xmlns:a="http://schemas.openxmlformats.org/drawingml/2006/main">
            <a:off x="6343650" y="1638300"/>
            <a:ext cx="5391150" cy="1009650"/>
          </a:xfrm>
          <a:prstGeom xmlns:a="http://schemas.openxmlformats.org/drawingml/2006/main" prst="roundRect">
            <a:avLst>
              <a:gd name="adj" fmla="val 7547"/>
            </a:avLst>
          </a:prstGeom>
          <a:solidFill xmlns:a="http://schemas.openxmlformats.org/drawingml/2006/main">
            <a:srgbClr val="FFFFFF"/>
          </a:solidFill>
          <a:ln xmlns:a="http://schemas.openxmlformats.org/drawingml/2006/main" w="9525">
            <a:solidFill>
              <a:srgbClr val="E2E8F0"/>
            </a:solidFill>
            <a:prstDash val="solid"/>
          </a:ln>
        </p:spPr>
      </p:sp>
      <p:sp>
        <p:nvSpPr>
          <p:cNvPr id="26" name="">
            <a:extLst xmlns:a="http://schemas.openxmlformats.org/drawingml/2006/main">
              <a:ext uri="{FF2B5EF4-FFF2-40B4-BE49-F238E27FC236}">
                <a16:creationId xmlns:a16="http://schemas.microsoft.com/office/drawing/2014/main" id="{19CB86B0-033C-4CE6-91C2-96AD3CB17DAB}"/>
              </a:ext>
            </a:extLst>
          </p:cNvPr>
          <p:cNvSpPr>
            <a:spLocks xmlns:a="http://schemas.openxmlformats.org/drawingml/2006/main" noGrp="1"/>
          </p:cNvSpPr>
          <p:nvPr/>
        </p:nvSpPr>
        <p:spPr>
          <a:xfrm xmlns:a="http://schemas.openxmlformats.org/drawingml/2006/main">
            <a:off x="6343650" y="1638300"/>
            <a:ext cx="57150" cy="1009650"/>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DC6BC2C0-DD15-4424-8027-F86839281565}"/>
              </a:ext>
            </a:extLst>
          </p:cNvPr>
          <p:cNvSpPr>
            <a:spLocks xmlns:a="http://schemas.openxmlformats.org/drawingml/2006/main" noGrp="1"/>
          </p:cNvSpPr>
          <p:nvPr/>
        </p:nvSpPr>
        <p:spPr>
          <a:xfrm xmlns:a="http://schemas.openxmlformats.org/drawingml/2006/main">
            <a:off x="6572250" y="1828800"/>
            <a:ext cx="4972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Preliminary: pin map</a:t>
            </a:r>
          </a:p>
        </p:txBody>
      </p:sp>
      <p:sp>
        <p:nvSpPr>
          <p:cNvPr id="28" name="">
            <a:extLst xmlns:a="http://schemas.openxmlformats.org/drawingml/2006/main">
              <a:ext uri="{FF2B5EF4-FFF2-40B4-BE49-F238E27FC236}">
                <a16:creationId xmlns:a16="http://schemas.microsoft.com/office/drawing/2014/main" id="{3973006D-F3A5-4D5B-B7B1-0C77EB8AE6A4}"/>
              </a:ext>
            </a:extLst>
          </p:cNvPr>
          <p:cNvSpPr>
            <a:spLocks xmlns:a="http://schemas.openxmlformats.org/drawingml/2006/main" noGrp="1"/>
          </p:cNvSpPr>
          <p:nvPr/>
        </p:nvSpPr>
        <p:spPr>
          <a:xfrm xmlns:a="http://schemas.openxmlformats.org/drawingml/2006/main">
            <a:off x="6572250" y="2190750"/>
            <a:ext cx="493395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Awaiting the foundry’s bond-diagram confirmation.</a:t>
            </a:r>
          </a:p>
        </p:txBody>
      </p:sp>
      <p:sp>
        <p:nvSpPr>
          <p:cNvPr id="29" name="">
            <a:extLst xmlns:a="http://schemas.openxmlformats.org/drawingml/2006/main">
              <a:ext uri="{FF2B5EF4-FFF2-40B4-BE49-F238E27FC236}">
                <a16:creationId xmlns:a16="http://schemas.microsoft.com/office/drawing/2014/main" id="{9BC1DB2D-356D-480C-960A-93E995F9D7FE}"/>
              </a:ext>
            </a:extLst>
          </p:cNvPr>
          <p:cNvSpPr>
            <a:spLocks xmlns:a="http://schemas.openxmlformats.org/drawingml/2006/main" noGrp="1"/>
          </p:cNvSpPr>
          <p:nvPr/>
        </p:nvSpPr>
        <p:spPr>
          <a:xfrm xmlns:a="http://schemas.openxmlformats.org/drawingml/2006/main">
            <a:off x="6343650" y="2781300"/>
            <a:ext cx="539115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30" name="">
            <a:extLst xmlns:a="http://schemas.openxmlformats.org/drawingml/2006/main">
              <a:ext uri="{FF2B5EF4-FFF2-40B4-BE49-F238E27FC236}">
                <a16:creationId xmlns:a16="http://schemas.microsoft.com/office/drawing/2014/main" id="{C594D6B4-AA05-49F4-A08E-2AFB5B20979D}"/>
              </a:ext>
            </a:extLst>
          </p:cNvPr>
          <p:cNvSpPr>
            <a:spLocks xmlns:a="http://schemas.openxmlformats.org/drawingml/2006/main" noGrp="1"/>
          </p:cNvSpPr>
          <p:nvPr/>
        </p:nvSpPr>
        <p:spPr>
          <a:xfrm xmlns:a="http://schemas.openxmlformats.org/drawingml/2006/main">
            <a:off x="6343650" y="2781300"/>
            <a:ext cx="57150" cy="1247775"/>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B4A4FCB6-E1CA-4803-903D-E89EA5A71366}"/>
              </a:ext>
            </a:extLst>
          </p:cNvPr>
          <p:cNvSpPr>
            <a:spLocks xmlns:a="http://schemas.openxmlformats.org/drawingml/2006/main" noGrp="1"/>
          </p:cNvSpPr>
          <p:nvPr/>
        </p:nvSpPr>
        <p:spPr>
          <a:xfrm xmlns:a="http://schemas.openxmlformats.org/drawingml/2006/main">
            <a:off x="6572250" y="2971800"/>
            <a:ext cx="4972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Preliminary: electrical limits</a:t>
            </a:r>
          </a:p>
        </p:txBody>
      </p:sp>
      <p:sp>
        <p:nvSpPr>
          <p:cNvPr id="32" name="">
            <a:extLst xmlns:a="http://schemas.openxmlformats.org/drawingml/2006/main">
              <a:ext uri="{FF2B5EF4-FFF2-40B4-BE49-F238E27FC236}">
                <a16:creationId xmlns:a16="http://schemas.microsoft.com/office/drawing/2014/main" id="{2D189CEA-6012-4CC7-ADD1-913BFB7F2B2B}"/>
              </a:ext>
            </a:extLst>
          </p:cNvPr>
          <p:cNvSpPr>
            <a:spLocks xmlns:a="http://schemas.openxmlformats.org/drawingml/2006/main" noGrp="1"/>
          </p:cNvSpPr>
          <p:nvPr/>
        </p:nvSpPr>
        <p:spPr>
          <a:xfrm xmlns:a="http://schemas.openxmlformats.org/drawingml/2006/main">
            <a:off x="6572250" y="3333750"/>
            <a:ext cx="493395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Process nominals until first-silicon characterisation.</a:t>
            </a:r>
          </a:p>
        </p:txBody>
      </p:sp>
      <p:sp>
        <p:nvSpPr>
          <p:cNvPr id="33" name="">
            <a:extLst xmlns:a="http://schemas.openxmlformats.org/drawingml/2006/main">
              <a:ext uri="{FF2B5EF4-FFF2-40B4-BE49-F238E27FC236}">
                <a16:creationId xmlns:a16="http://schemas.microsoft.com/office/drawing/2014/main" id="{D7009B84-77E7-49C3-A820-81E4CD013B19}"/>
              </a:ext>
            </a:extLst>
          </p:cNvPr>
          <p:cNvSpPr>
            <a:spLocks xmlns:a="http://schemas.openxmlformats.org/drawingml/2006/main" noGrp="1"/>
          </p:cNvSpPr>
          <p:nvPr/>
        </p:nvSpPr>
        <p:spPr>
          <a:xfrm xmlns:a="http://schemas.openxmlformats.org/drawingml/2006/main">
            <a:off x="6343650" y="4162425"/>
            <a:ext cx="5391150" cy="1009650"/>
          </a:xfrm>
          <a:prstGeom xmlns:a="http://schemas.openxmlformats.org/drawingml/2006/main" prst="roundRect">
            <a:avLst>
              <a:gd name="adj" fmla="val 7547"/>
            </a:avLst>
          </a:prstGeom>
          <a:solidFill xmlns:a="http://schemas.openxmlformats.org/drawingml/2006/main">
            <a:srgbClr val="FFFFFF"/>
          </a:solidFill>
          <a:ln xmlns:a="http://schemas.openxmlformats.org/drawingml/2006/main" w="9525">
            <a:solidFill>
              <a:srgbClr val="E2E8F0"/>
            </a:solidFill>
            <a:prstDash val="solid"/>
          </a:ln>
        </p:spPr>
      </p:sp>
      <p:sp>
        <p:nvSpPr>
          <p:cNvPr id="34" name="">
            <a:extLst xmlns:a="http://schemas.openxmlformats.org/drawingml/2006/main">
              <a:ext uri="{FF2B5EF4-FFF2-40B4-BE49-F238E27FC236}">
                <a16:creationId xmlns:a16="http://schemas.microsoft.com/office/drawing/2014/main" id="{A210D46D-009A-4C13-84BE-B698EB7CD389}"/>
              </a:ext>
            </a:extLst>
          </p:cNvPr>
          <p:cNvSpPr>
            <a:spLocks xmlns:a="http://schemas.openxmlformats.org/drawingml/2006/main" noGrp="1"/>
          </p:cNvSpPr>
          <p:nvPr/>
        </p:nvSpPr>
        <p:spPr>
          <a:xfrm xmlns:a="http://schemas.openxmlformats.org/drawingml/2006/main">
            <a:off x="6343650" y="4162425"/>
            <a:ext cx="57150" cy="1009650"/>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B25095F1-3E83-4E25-96DC-39D04B72BDA8}"/>
              </a:ext>
            </a:extLst>
          </p:cNvPr>
          <p:cNvSpPr>
            <a:spLocks xmlns:a="http://schemas.openxmlformats.org/drawingml/2006/main" noGrp="1"/>
          </p:cNvSpPr>
          <p:nvPr/>
        </p:nvSpPr>
        <p:spPr>
          <a:xfrm xmlns:a="http://schemas.openxmlformats.org/drawingml/2006/main">
            <a:off x="6572250" y="4352925"/>
            <a:ext cx="4972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Frozen: the control core</a:t>
            </a:r>
          </a:p>
        </p:txBody>
      </p:sp>
      <p:sp>
        <p:nvSpPr>
          <p:cNvPr id="36" name="">
            <a:extLst xmlns:a="http://schemas.openxmlformats.org/drawingml/2006/main">
              <a:ext uri="{FF2B5EF4-FFF2-40B4-BE49-F238E27FC236}">
                <a16:creationId xmlns:a16="http://schemas.microsoft.com/office/drawing/2014/main" id="{F8DDF5FB-7177-4B70-95FD-84421266D080}"/>
              </a:ext>
            </a:extLst>
          </p:cNvPr>
          <p:cNvSpPr>
            <a:spLocks xmlns:a="http://schemas.openxmlformats.org/drawingml/2006/main" noGrp="1"/>
          </p:cNvSpPr>
          <p:nvPr/>
        </p:nvSpPr>
        <p:spPr>
          <a:xfrm xmlns:a="http://schemas.openxmlformats.org/drawingml/2006/main">
            <a:off x="6572250" y="4714875"/>
            <a:ext cx="493395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Closed for feature work until silicon test.</a:t>
            </a:r>
          </a:p>
        </p:txBody>
      </p:sp>
      <p:sp>
        <p:nvSpPr>
          <p:cNvPr id="37" name="">
            <a:extLst xmlns:a="http://schemas.openxmlformats.org/drawingml/2006/main">
              <a:ext uri="{FF2B5EF4-FFF2-40B4-BE49-F238E27FC236}">
                <a16:creationId xmlns:a16="http://schemas.microsoft.com/office/drawing/2014/main" id="{BFA79C0F-38B9-4774-AB71-1CE4A0A17C46}"/>
              </a:ext>
            </a:extLst>
          </p:cNvPr>
          <p:cNvSpPr>
            <a:spLocks xmlns:a="http://schemas.openxmlformats.org/drawingml/2006/main" noGrp="1"/>
          </p:cNvSpPr>
          <p:nvPr/>
        </p:nvSpPr>
        <p:spPr>
          <a:xfrm xmlns:a="http://schemas.openxmlformats.org/drawingml/2006/main">
            <a:off x="457200" y="5219700"/>
            <a:ext cx="112776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1E293B"/>
                </a:solidFill>
                <a:latin typeface="Arial"/>
                <a:ea typeface="Arial"/>
                <a:cs typeface="Arial"/>
              </a:defRPr>
            </a:pPr>
            <a:r>
              <a:t>130 nm CMOS  ·  QFN-64  ·  first silicon on the September 2026 multi-project shuttle</a:t>
            </a:r>
          </a:p>
        </p:txBody>
      </p:sp>
      <p:sp>
        <p:nvSpPr>
          <p:cNvPr id="38" name="">
            <a:extLst xmlns:a="http://schemas.openxmlformats.org/drawingml/2006/main">
              <a:ext uri="{FF2B5EF4-FFF2-40B4-BE49-F238E27FC236}">
                <a16:creationId xmlns:a16="http://schemas.microsoft.com/office/drawing/2014/main" id="{DA38BADE-DC83-4237-9E26-AB7291013A0C}"/>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6B7280"/>
                </a:solidFill>
                <a:latin typeface="Arial"/>
                <a:ea typeface="Arial"/>
                <a:cs typeface="Arial"/>
              </a:defRPr>
            </a:pPr>
            <a:r>
              <a:t>Source: DG32-LITE preliminary datasheet §10 package and header notes.</a:t>
            </a:r>
          </a:p>
        </p:txBody>
      </p:sp>
    </p:spTree>
    <p:extLst>
      <p:ext uri="{BB962C8B-B14F-4D97-AF65-F5344CB8AC3E}">
        <p14:creationId xmlns:p14="http://schemas.microsoft.com/office/powerpoint/2010/main" val="1398286171"/>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D9B907F3-9823-41AF-95BF-B08CF8C4562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489ED78-BE55-45D7-A6E2-FC7FD963D360}"/>
              </a:ext>
            </a:extLst>
          </p:cNvPr>
          <p:cNvSpPr>
            <a:spLocks xmlns:a="http://schemas.openxmlformats.org/drawingml/2006/main" noGrp="1"/>
          </p:cNvSpPr>
          <p:nvPr/>
        </p:nvSpPr>
        <p:spPr>
          <a:xfrm xmlns:a="http://schemas.openxmlformats.org/drawingml/2006/main">
            <a:off x="0" y="0"/>
            <a:ext cx="4876800" cy="685800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445DC3B-5260-4C0F-B5D9-5CF35DD72B33}"/>
              </a:ext>
            </a:extLst>
          </p:cNvPr>
          <p:cNvSpPr>
            <a:spLocks xmlns:a="http://schemas.openxmlformats.org/drawingml/2006/main" noGrp="1"/>
          </p:cNvSpPr>
          <p:nvPr/>
        </p:nvSpPr>
        <p:spPr>
          <a:xfrm xmlns:a="http://schemas.openxmlformats.org/drawingml/2006/main">
            <a:off x="457200" y="609600"/>
            <a:ext cx="381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B4D8"/>
                </a:solidFill>
                <a:latin typeface="Arial"/>
                <a:ea typeface="Arial"/>
                <a:cs typeface="Arial"/>
              </a:defRPr>
            </a:pPr>
            <a:r>
              <a:t>12 · CLOSE</a:t>
            </a:r>
          </a:p>
        </p:txBody>
      </p:sp>
      <p:sp>
        <p:nvSpPr>
          <p:cNvPr id="4" name="">
            <a:extLst xmlns:a="http://schemas.openxmlformats.org/drawingml/2006/main">
              <a:ext uri="{FF2B5EF4-FFF2-40B4-BE49-F238E27FC236}">
                <a16:creationId xmlns:a16="http://schemas.microsoft.com/office/drawing/2014/main" id="{77256D5B-ACC9-4D58-BA16-EF16DB7CC334}"/>
              </a:ext>
            </a:extLst>
          </p:cNvPr>
          <p:cNvSpPr>
            <a:spLocks xmlns:a="http://schemas.openxmlformats.org/drawingml/2006/main" noGrp="1"/>
          </p:cNvSpPr>
          <p:nvPr/>
        </p:nvSpPr>
        <p:spPr>
          <a:xfrm xmlns:a="http://schemas.openxmlformats.org/drawingml/2006/main">
            <a:off x="457200" y="990600"/>
            <a:ext cx="4000500" cy="1905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375" b="1">
                <a:solidFill>
                  <a:srgbClr val="FFFFFF"/>
                </a:solidFill>
                <a:latin typeface="Georgia"/>
                <a:ea typeface="Georgia"/>
                <a:cs typeface="Georgia"/>
              </a:defRPr>
            </a:pPr>
            <a:r>
              <a:t>Fixed now. Measured at first silicon.</a:t>
            </a:r>
          </a:p>
        </p:txBody>
      </p:sp>
      <p:sp>
        <p:nvSpPr>
          <p:cNvPr id="5" name="">
            <a:extLst xmlns:a="http://schemas.openxmlformats.org/drawingml/2006/main">
              <a:ext uri="{FF2B5EF4-FFF2-40B4-BE49-F238E27FC236}">
                <a16:creationId xmlns:a16="http://schemas.microsoft.com/office/drawing/2014/main" id="{FB7067A6-4817-46EE-8774-CB55782B7CCB}"/>
              </a:ext>
            </a:extLst>
          </p:cNvPr>
          <p:cNvSpPr>
            <a:spLocks xmlns:a="http://schemas.openxmlformats.org/drawingml/2006/main" noGrp="1"/>
          </p:cNvSpPr>
          <p:nvPr/>
        </p:nvSpPr>
        <p:spPr>
          <a:xfrm xmlns:a="http://schemas.openxmlformats.org/drawingml/2006/main">
            <a:off x="457200" y="3028950"/>
            <a:ext cx="1143000" cy="38100"/>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AE7677B-C9CF-4F3B-83F6-21A6F58B2E7A}"/>
              </a:ext>
            </a:extLst>
          </p:cNvPr>
          <p:cNvSpPr>
            <a:spLocks xmlns:a="http://schemas.openxmlformats.org/drawingml/2006/main" noGrp="1"/>
          </p:cNvSpPr>
          <p:nvPr/>
        </p:nvSpPr>
        <p:spPr>
          <a:xfrm xmlns:a="http://schemas.openxmlformats.org/drawingml/2006/main">
            <a:off x="457200" y="3276600"/>
            <a:ext cx="4000500" cy="1428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A9BACD"/>
                </a:solidFill>
                <a:latin typeface="Arial"/>
                <a:ea typeface="Arial"/>
                <a:cs typeface="Arial"/>
              </a:defRPr>
            </a:pPr>
            <a:r>
              <a:t>Register maps, the memory map and board-level rules live in the engineering datasheet, not in this overview.</a:t>
            </a:r>
          </a:p>
        </p:txBody>
      </p:sp>
      <p:sp>
        <p:nvSpPr>
          <p:cNvPr id="7" name="">
            <a:extLst xmlns:a="http://schemas.openxmlformats.org/drawingml/2006/main">
              <a:ext uri="{FF2B5EF4-FFF2-40B4-BE49-F238E27FC236}">
                <a16:creationId xmlns:a16="http://schemas.microsoft.com/office/drawing/2014/main" id="{FDA9EC0D-4561-4331-81E0-271F55B70957}"/>
              </a:ext>
            </a:extLst>
          </p:cNvPr>
          <p:cNvSpPr>
            <a:spLocks xmlns:a="http://schemas.openxmlformats.org/drawingml/2006/main" noGrp="1"/>
          </p:cNvSpPr>
          <p:nvPr/>
        </p:nvSpPr>
        <p:spPr>
          <a:xfrm xmlns:a="http://schemas.openxmlformats.org/drawingml/2006/main">
            <a:off x="5334000" y="609600"/>
            <a:ext cx="64008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1E293B"/>
                </a:solidFill>
                <a:latin typeface="Arial"/>
                <a:ea typeface="Arial"/>
                <a:cs typeface="Arial"/>
              </a:defRPr>
            </a:pPr>
            <a:r>
              <a:t>THREE THINGS TO REMEMBER</a:t>
            </a:r>
          </a:p>
        </p:txBody>
      </p:sp>
      <p:sp>
        <p:nvSpPr>
          <p:cNvPr id="8" name="">
            <a:extLst xmlns:a="http://schemas.openxmlformats.org/drawingml/2006/main">
              <a:ext uri="{FF2B5EF4-FFF2-40B4-BE49-F238E27FC236}">
                <a16:creationId xmlns:a16="http://schemas.microsoft.com/office/drawing/2014/main" id="{EA10C8C7-C6F0-4353-B603-3FC1A61645B9}"/>
              </a:ext>
            </a:extLst>
          </p:cNvPr>
          <p:cNvSpPr>
            <a:spLocks xmlns:a="http://schemas.openxmlformats.org/drawingml/2006/main" noGrp="1"/>
          </p:cNvSpPr>
          <p:nvPr/>
        </p:nvSpPr>
        <p:spPr>
          <a:xfrm xmlns:a="http://schemas.openxmlformats.org/drawingml/2006/main">
            <a:off x="5334000" y="1028700"/>
            <a:ext cx="64008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9" name="">
            <a:extLst xmlns:a="http://schemas.openxmlformats.org/drawingml/2006/main">
              <a:ext uri="{FF2B5EF4-FFF2-40B4-BE49-F238E27FC236}">
                <a16:creationId xmlns:a16="http://schemas.microsoft.com/office/drawing/2014/main" id="{6C78D86E-F68E-404A-BA39-B0BE9CF5407E}"/>
              </a:ext>
            </a:extLst>
          </p:cNvPr>
          <p:cNvSpPr>
            <a:spLocks xmlns:a="http://schemas.openxmlformats.org/drawingml/2006/main" noGrp="1"/>
          </p:cNvSpPr>
          <p:nvPr/>
        </p:nvSpPr>
        <p:spPr>
          <a:xfrm xmlns:a="http://schemas.openxmlformats.org/drawingml/2006/main">
            <a:off x="5334000" y="1028700"/>
            <a:ext cx="57150" cy="124777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D3F3EF1-4B37-4347-A9F0-FD1CE06D1866}"/>
              </a:ext>
            </a:extLst>
          </p:cNvPr>
          <p:cNvSpPr>
            <a:spLocks xmlns:a="http://schemas.openxmlformats.org/drawingml/2006/main" noGrp="1"/>
          </p:cNvSpPr>
          <p:nvPr/>
        </p:nvSpPr>
        <p:spPr>
          <a:xfrm xmlns:a="http://schemas.openxmlformats.org/drawingml/2006/main">
            <a:off x="5562600" y="1219200"/>
            <a:ext cx="59817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1 · Fixed: package and pins</a:t>
            </a:r>
          </a:p>
        </p:txBody>
      </p:sp>
      <p:sp>
        <p:nvSpPr>
          <p:cNvPr id="11" name="">
            <a:extLst xmlns:a="http://schemas.openxmlformats.org/drawingml/2006/main">
              <a:ext uri="{FF2B5EF4-FFF2-40B4-BE49-F238E27FC236}">
                <a16:creationId xmlns:a16="http://schemas.microsoft.com/office/drawing/2014/main" id="{34641C96-5F33-4D6A-AC5A-F1A15DA4B99D}"/>
              </a:ext>
            </a:extLst>
          </p:cNvPr>
          <p:cNvSpPr>
            <a:spLocks xmlns:a="http://schemas.openxmlformats.org/drawingml/2006/main" noGrp="1"/>
          </p:cNvSpPr>
          <p:nvPr/>
        </p:nvSpPr>
        <p:spPr>
          <a:xfrm xmlns:a="http://schemas.openxmlformats.org/drawingml/2006/main">
            <a:off x="5562600" y="1581150"/>
            <a:ext cx="59436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QFN-64, 9 × 9 mm, with 44 signals in eleven groups and pin 1 upper left.</a:t>
            </a:r>
          </a:p>
        </p:txBody>
      </p:sp>
      <p:sp>
        <p:nvSpPr>
          <p:cNvPr id="12" name="">
            <a:extLst xmlns:a="http://schemas.openxmlformats.org/drawingml/2006/main">
              <a:ext uri="{FF2B5EF4-FFF2-40B4-BE49-F238E27FC236}">
                <a16:creationId xmlns:a16="http://schemas.microsoft.com/office/drawing/2014/main" id="{6885998F-5FE2-48BD-8587-0855BD4ABB35}"/>
              </a:ext>
            </a:extLst>
          </p:cNvPr>
          <p:cNvSpPr>
            <a:spLocks xmlns:a="http://schemas.openxmlformats.org/drawingml/2006/main" noGrp="1"/>
          </p:cNvSpPr>
          <p:nvPr/>
        </p:nvSpPr>
        <p:spPr>
          <a:xfrm xmlns:a="http://schemas.openxmlformats.org/drawingml/2006/main">
            <a:off x="5334000" y="2428875"/>
            <a:ext cx="64008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13" name="">
            <a:extLst xmlns:a="http://schemas.openxmlformats.org/drawingml/2006/main">
              <a:ext uri="{FF2B5EF4-FFF2-40B4-BE49-F238E27FC236}">
                <a16:creationId xmlns:a16="http://schemas.microsoft.com/office/drawing/2014/main" id="{3EF89972-6C13-4C20-9E9F-6447C9985FE0}"/>
              </a:ext>
            </a:extLst>
          </p:cNvPr>
          <p:cNvSpPr>
            <a:spLocks xmlns:a="http://schemas.openxmlformats.org/drawingml/2006/main" noGrp="1"/>
          </p:cNvSpPr>
          <p:nvPr/>
        </p:nvSpPr>
        <p:spPr>
          <a:xfrm xmlns:a="http://schemas.openxmlformats.org/drawingml/2006/main">
            <a:off x="5334000" y="2428875"/>
            <a:ext cx="57150" cy="124777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A9997A3-5649-4F55-87E4-22DE52D8A6D3}"/>
              </a:ext>
            </a:extLst>
          </p:cNvPr>
          <p:cNvSpPr>
            <a:spLocks xmlns:a="http://schemas.openxmlformats.org/drawingml/2006/main" noGrp="1"/>
          </p:cNvSpPr>
          <p:nvPr/>
        </p:nvSpPr>
        <p:spPr>
          <a:xfrm xmlns:a="http://schemas.openxmlformats.org/drawingml/2006/main">
            <a:off x="5562600" y="2619375"/>
            <a:ext cx="59817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2 · Fixed: rails, clock, boot</a:t>
            </a:r>
          </a:p>
        </p:txBody>
      </p:sp>
      <p:sp>
        <p:nvSpPr>
          <p:cNvPr id="15" name="">
            <a:extLst xmlns:a="http://schemas.openxmlformats.org/drawingml/2006/main">
              <a:ext uri="{FF2B5EF4-FFF2-40B4-BE49-F238E27FC236}">
                <a16:creationId xmlns:a16="http://schemas.microsoft.com/office/drawing/2014/main" id="{A83A2C11-188E-443F-B707-E3A4223547D3}"/>
              </a:ext>
            </a:extLst>
          </p:cNvPr>
          <p:cNvSpPr>
            <a:spLocks xmlns:a="http://schemas.openxmlformats.org/drawingml/2006/main" noGrp="1"/>
          </p:cNvSpPr>
          <p:nvPr/>
        </p:nvSpPr>
        <p:spPr>
          <a:xfrm xmlns:a="http://schemas.openxmlformats.org/drawingml/2006/main">
            <a:off x="5562600" y="2981325"/>
            <a:ext cx="59436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A 1.8 V core, a 3.3 V I/O ring, one 50 MHz clock and self-boot from flash.</a:t>
            </a:r>
          </a:p>
        </p:txBody>
      </p:sp>
      <p:sp>
        <p:nvSpPr>
          <p:cNvPr id="16" name="">
            <a:extLst xmlns:a="http://schemas.openxmlformats.org/drawingml/2006/main">
              <a:ext uri="{FF2B5EF4-FFF2-40B4-BE49-F238E27FC236}">
                <a16:creationId xmlns:a16="http://schemas.microsoft.com/office/drawing/2014/main" id="{62F7011D-CEDD-4EB0-9EA1-266EA0E63DA2}"/>
              </a:ext>
            </a:extLst>
          </p:cNvPr>
          <p:cNvSpPr>
            <a:spLocks xmlns:a="http://schemas.openxmlformats.org/drawingml/2006/main" noGrp="1"/>
          </p:cNvSpPr>
          <p:nvPr/>
        </p:nvSpPr>
        <p:spPr>
          <a:xfrm xmlns:a="http://schemas.openxmlformats.org/drawingml/2006/main">
            <a:off x="5334000" y="3829050"/>
            <a:ext cx="64008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17" name="">
            <a:extLst xmlns:a="http://schemas.openxmlformats.org/drawingml/2006/main">
              <a:ext uri="{FF2B5EF4-FFF2-40B4-BE49-F238E27FC236}">
                <a16:creationId xmlns:a16="http://schemas.microsoft.com/office/drawing/2014/main" id="{6374EAE0-967B-4F1A-8F65-8F248A26F183}"/>
              </a:ext>
            </a:extLst>
          </p:cNvPr>
          <p:cNvSpPr>
            <a:spLocks xmlns:a="http://schemas.openxmlformats.org/drawingml/2006/main" noGrp="1"/>
          </p:cNvSpPr>
          <p:nvPr/>
        </p:nvSpPr>
        <p:spPr>
          <a:xfrm xmlns:a="http://schemas.openxmlformats.org/drawingml/2006/main">
            <a:off x="5334000" y="3829050"/>
            <a:ext cx="57150" cy="124777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ECC58F4-C90C-4952-8139-230812D2FE3E}"/>
              </a:ext>
            </a:extLst>
          </p:cNvPr>
          <p:cNvSpPr>
            <a:spLocks xmlns:a="http://schemas.openxmlformats.org/drawingml/2006/main" noGrp="1"/>
          </p:cNvSpPr>
          <p:nvPr/>
        </p:nvSpPr>
        <p:spPr>
          <a:xfrm xmlns:a="http://schemas.openxmlformats.org/drawingml/2006/main">
            <a:off x="5562600" y="4019550"/>
            <a:ext cx="59817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3 · Measured next</a:t>
            </a:r>
          </a:p>
        </p:txBody>
      </p:sp>
      <p:sp>
        <p:nvSpPr>
          <p:cNvPr id="19" name="">
            <a:extLst xmlns:a="http://schemas.openxmlformats.org/drawingml/2006/main">
              <a:ext uri="{FF2B5EF4-FFF2-40B4-BE49-F238E27FC236}">
                <a16:creationId xmlns:a16="http://schemas.microsoft.com/office/drawing/2014/main" id="{82A040A3-531B-45ED-AE68-1F6114D678AA}"/>
              </a:ext>
            </a:extLst>
          </p:cNvPr>
          <p:cNvSpPr>
            <a:spLocks xmlns:a="http://schemas.openxmlformats.org/drawingml/2006/main" noGrp="1"/>
          </p:cNvSpPr>
          <p:nvPr/>
        </p:nvSpPr>
        <p:spPr>
          <a:xfrm xmlns:a="http://schemas.openxmlformats.org/drawingml/2006/main">
            <a:off x="5562600" y="4381500"/>
            <a:ext cx="59436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Every electrical limit, and the final pin map, at first-silicon characterisation.</a:t>
            </a:r>
          </a:p>
        </p:txBody>
      </p:sp>
      <p:sp>
        <p:nvSpPr>
          <p:cNvPr id="20" name="">
            <a:extLst xmlns:a="http://schemas.openxmlformats.org/drawingml/2006/main">
              <a:ext uri="{FF2B5EF4-FFF2-40B4-BE49-F238E27FC236}">
                <a16:creationId xmlns:a16="http://schemas.microsoft.com/office/drawing/2014/main" id="{3C014B81-90DD-4665-A1E0-BECBD0715881}"/>
              </a:ext>
            </a:extLst>
          </p:cNvPr>
          <p:cNvSpPr>
            <a:spLocks xmlns:a="http://schemas.openxmlformats.org/drawingml/2006/main" noGrp="1"/>
          </p:cNvSpPr>
          <p:nvPr/>
        </p:nvSpPr>
        <p:spPr>
          <a:xfrm xmlns:a="http://schemas.openxmlformats.org/drawingml/2006/main">
            <a:off x="457200" y="6486525"/>
            <a:ext cx="4000500" cy="9525"/>
          </a:xfrm>
          <a:prstGeom xmlns:a="http://schemas.openxmlformats.org/drawingml/2006/main" prst="rect">
            <a:avLst/>
          </a:prstGeom>
          <a:solidFill xmlns:a="http://schemas.openxmlformats.org/drawingml/2006/main">
            <a:srgbClr val="23364C"/>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33C47323-AF55-4778-B59B-3817DC4B42BD}"/>
              </a:ext>
            </a:extLst>
          </p:cNvPr>
          <p:cNvSpPr>
            <a:spLocks xmlns:a="http://schemas.openxmlformats.org/drawingml/2006/main" noGrp="1"/>
          </p:cNvSpPr>
          <p:nvPr/>
        </p:nvSpPr>
        <p:spPr>
          <a:xfrm xmlns:a="http://schemas.openxmlformats.org/drawingml/2006/main">
            <a:off x="5334000" y="6486525"/>
            <a:ext cx="64008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2A664881-534A-4F92-9438-E4BF083FEEEA}"/>
              </a:ext>
            </a:extLst>
          </p:cNvPr>
          <p:cNvSpPr>
            <a:spLocks xmlns:a="http://schemas.openxmlformats.org/drawingml/2006/main" noGrp="1"/>
          </p:cNvSpPr>
          <p:nvPr/>
        </p:nvSpPr>
        <p:spPr>
          <a:xfrm xmlns:a="http://schemas.openxmlformats.org/drawingml/2006/main">
            <a:off x="457200" y="6572250"/>
            <a:ext cx="4191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8FA2B7"/>
                </a:solidFill>
                <a:latin typeface="Arial"/>
                <a:ea typeface="Arial"/>
                <a:cs typeface="Arial"/>
              </a:defRPr>
            </a:pPr>
            <a:r>
              <a:t>DEEPGRID SEMI  ·  DG32-LITE PRELIMINARY DATASHEET</a:t>
            </a:r>
          </a:p>
        </p:txBody>
      </p:sp>
      <p:sp>
        <p:nvSpPr>
          <p:cNvPr id="23" name="">
            <a:extLst xmlns:a="http://schemas.openxmlformats.org/drawingml/2006/main">
              <a:ext uri="{FF2B5EF4-FFF2-40B4-BE49-F238E27FC236}">
                <a16:creationId xmlns:a16="http://schemas.microsoft.com/office/drawing/2014/main" id="{D46BE6DE-B987-4D4B-99A9-CA9E65D92EBB}"/>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12</a:t>
            </a:r>
          </a:p>
        </p:txBody>
      </p:sp>
    </p:spTree>
    <p:extLst>
      <p:ext uri="{BB962C8B-B14F-4D97-AF65-F5344CB8AC3E}">
        <p14:creationId xmlns:p14="http://schemas.microsoft.com/office/powerpoint/2010/main" val="20175983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2026-09-13T12:30:36.9070000Z</dcterms:created>
  <dcterms:modified xsi:type="dcterms:W3CDTF">2026-09-13T12:30:36.9080000Z</dcterms:modified>
</coreProperties>
</file>